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6b3fd76d6842c9" /><Relationship Type="http://schemas.openxmlformats.org/officeDocument/2006/relationships/extended-properties" Target="/docProps/app.xml" Id="R196d4e6f1f534fae" /><Relationship Type="http://schemas.openxmlformats.org/officeDocument/2006/relationships/officeDocument" Target="/ppt/presentation.xml" Id="R38ca55737839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3595de02e54760"/>
  </p:sldMasterIdLst>
  <p:notesMasterIdLst>
    <p:notesMasterId xmlns:r="http://schemas.openxmlformats.org/officeDocument/2006/relationships" r:id="R8e43938a8b8f4dbc"/>
  </p:notesMasterIdLst>
  <p:sldIdLst>
    <p:sldId xmlns:r="http://schemas.openxmlformats.org/officeDocument/2006/relationships" id="256" r:id="Rf48522a939d542f8"/>
  </p:sldIdLst>
  <p:sldSz cx="13335000" cy="75009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3b61b61404610" /><Relationship Type="http://schemas.openxmlformats.org/officeDocument/2006/relationships/slideMaster" Target="/ppt/slideMasters/slideMaster1.xml" Id="R1b3595de02e54760" /><Relationship Type="http://schemas.openxmlformats.org/officeDocument/2006/relationships/notesMaster" Target="/ppt/notesMasters/notesMaster1.xml" Id="R8e43938a8b8f4dbc" /><Relationship Type="http://schemas.openxmlformats.org/officeDocument/2006/relationships/presProps" Target="/ppt/presProps.xml" Id="R04fea3df3cef4e6f" /><Relationship Type="http://schemas.openxmlformats.org/officeDocument/2006/relationships/tableStyles" Target="/ppt/tableStyles.xml" Id="R8bf102f16a6644d5" /><Relationship Type="http://schemas.openxmlformats.org/officeDocument/2006/relationships/slide" Target="/ppt/slides/slide1.xml" Id="Rf48522a939d5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b69fcf6bcd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ce13a66ff5494d" /><Relationship Type="http://schemas.openxmlformats.org/officeDocument/2006/relationships/notesMaster" Target="/ppt/notesMasters/notesMaster1.xml" Id="R83d6720efa2346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【本页介绍，约 60 秒】</a:t>
            </a:r>
          </a:p>
          <a:p xmlns:a="http://schemas.openxmlformats.org/drawingml/2006/main">
            <a:r>
              <a:t>本周我们把设备布局扩展为全厂物流与多工序加工模型。模型沿用 SMAT2022 原始参考布局，包含 43 个 Bay，其中 40 个生产 Bay 和 3 个公共运输区域；有 1,068 台生产设备、48 个固定物流设施和 500 辆 OHT。物料采用 SMT2020 LVHM 的 10 类产品及 2,156 条初始 WIP，从各自 CURSTEP 开始推进后续工艺。运行窗口为 12 小时，另按常规订单 0.25 倍速率生成 10 批新物料。</a:t>
            </a:r>
          </a:p>
          <a:p xmlns:a="http://schemas.openxmlformats.org/drawingml/2006/main">
            <a:r>
              <a:t>物料请求搬运后，空车先到来源端口接货，装载后沿有向轨道运输，到达目标后卸载。若设备忙碌，物料在设备前排队；加工完成后触发下一道工序的运输。车辆在加工期间释放，可服务其他物料。产品使用共享设备网络，同一种工艺会在路线中反复出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【调度与加工规则】</a:t>
            </a:r>
          </a:p>
          <a:p xmlns:a="http://schemas.openxmlformats.org/drawingml/2006/main">
            <a:r>
              <a:t>搬运请求按全局先到先服务，选择沿有向轨道接货距离最近的空闲车。单车同时服务一批。设备必须满足工艺组兼容性，再根据未完成工作量和预计运输时间选择目标设备。物料实际到达后按先到先服务加工，单台机器同时加工一批。设备进出缓存假设无限，加工完成不因等候出站车而阻塞机器。</a:t>
            </a:r>
          </a:p>
          <a:p xmlns:a="http://schemas.openxmlformats.org/drawingml/2006/main">
            <a:r>
              <a:t>假设坐标单位为毫米，以恒速 1,500 mm/s 换算仿真时间，装载与卸载各 15 秒。每片加工按 25 片/lot 换算，批加工按代表批量折算为等效单 lot 机时，再除以 0.85。没有显式组批，Delay 步骤单独计时，不占用机器。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【点击链接后，按 HTML 演示，约 3 分钟】</a:t>
            </a:r>
          </a:p>
          <a:p xmlns:a="http://schemas.openxmlformats.org/drawingml/2006/main">
            <a:r>
              <a:t>先点“全厂运行”，按设备种类认识布局，再切运行状态看加工和队列。点“产品工艺”，单独看 part_5；粗紫线是截至当前时刻已派车任务的载货规划路线，重合路段合并，可取消“显示产品路线”。这不是产品独占的实体流水线，也没有凭空连接未来工序。</a:t>
            </a:r>
          </a:p>
          <a:p xmlns:a="http://schemas.openxmlformats.org/drawingml/2006/main">
            <a:r>
              <a:t>点“干刻资源”查看同类设备分布、精确设备组和共享队列。颜色相同只表示设备种类相同，不能据此任意替换加工设备。</a:t>
            </a:r>
          </a:p>
          <a:p xmlns:a="http://schemas.openxmlformats.org/drawingml/2006/main">
            <a:r>
              <a:t>点“回流批次”跟踪 Init_Lot_5_20：第 210 步在 A3 的 ECH0165 干刻，第 211 步到 B16 的 ECH0525 湿刻，第 212 步返回 A2 的 ECH0128 干刻。先用路径全景说明起终点，再用跟随镜头观察运输。</a:t>
            </a:r>
          </a:p>
          <a:p xmlns:a="http://schemas.openxmlformats.org/drawingml/2006/main">
            <a:r>
              <a:t>点“排队特写”查看 Init_Lot_5_12 第 213 步：约 160.22 min 到达 B15 的 ECH0499，约 177.03 min 才开始加工，等待约 16.81 min。使用设备特写先暂停讲解，再播放观察开始加工。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【当前结果及口径】</a:t>
            </a:r>
          </a:p>
          <a:p xmlns:a="http://schemas.openxmlformats.org/drawingml/2006/main">
            <a:r>
              <a:t>12 小时窗口内共完成 11,373 次搬运交付、9,333 次加工工序，11 批走完各自剩余路线并到达 COMPLETE。500 辆车全部参与过调度，实际开始过加工的设备为 1,061 台，不能把设备总数 1,068 写成全部都加工过。窗口结束时其他物料仍可能等待、运输或加工。这些是当前假设下的参考场景运行结果，不是 MILP 重排收益。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【模型边界】</a:t>
            </a:r>
          </a:p>
          <a:p xmlns:a="http://schemas.openxmlformats.org/drawingml/2006/main">
            <a:r>
              <a:t>WIP 没有提供具体初始设备和剩余加工时间，按上一道工序的兼容设备端口重建初始位置，会产生集中搬运波峰。原坐标单位和速度换算未现场校准。尚未模拟避碰、轨道互斥、ZCU、加减速、随机故障、维护、返工或抽检，因此资源等待不能解释为真实交通拥堵。本周定位为运行模型与交互观察环境，下一步将 A2/A3 的 MILP 重排位置接入同一套任务、车辆和调度规则，评价运输与排队变化。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【链接使用】</a:t>
            </a:r>
          </a:p>
          <a:p xmlns:a="http://schemas.openxmlformats.org/drawingml/2006/main">
            <a:r>
              <a:t>本 PPTX 与“全厂制造仿真.html”保存在 week7 同一目录。放映时点击紫色下划线链接，编辑时可 Ctrl+单击。移动或合并 PPT 后请保留同目录关系或重新设置链接。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</a:t>
            </a:r>
          </a:p>
          <a:p xmlns:a="http://schemas.openxmlformats.org/drawingml/2006/main">
            <a:r>
              <a:t>week7/factory/model.py；week7/factory/factory-data.json（config、metrics、recipes、lots、visits）；week7/README.md；week7/汇报演示建议.md。模板沿用 week6/汇报成稿/两Bay局部优化验证_收益解释版.pptx。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3f52849a146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dfc257eaf45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86385cf8445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d93ec792442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30296b83e47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b1cb6e4a8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86B47-121E-44CD-97CB-F14656BD7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DE515B-C255-4FAE-9DA6-671849976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305CF3-F02A-4AE6-B290-9FC1D0DB5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819787-22D2-4159-BFCA-C790D1F29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B24046-02F0-4449-95CC-273919C84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9A8D22-357C-433A-BB4A-40401A094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F58B64-5DFF-4F02-BD73-ACDFB0B29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AF54A3-4ABA-4BAE-8BEF-9EDB4D1570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469B0A-B2D6-4DFC-A589-CA1E4665C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C36383-98CA-4B3B-894C-81A2D6DE5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933d3345504446" /><Relationship Type="http://schemas.openxmlformats.org/officeDocument/2006/relationships/slideLayout" Target="/ppt/slideLayouts/slideLayout1.xml" Id="Rd9e23cdabe7244f4" /><Relationship Type="http://schemas.openxmlformats.org/officeDocument/2006/relationships/slideLayout" Target="/ppt/slideLayouts/slideLayout2.xml" Id="R90637326257d424d" /><Relationship Type="http://schemas.openxmlformats.org/officeDocument/2006/relationships/slideLayout" Target="/ppt/slideLayouts/slideLayout3.xml" Id="R54108b1ff6e34744" /><Relationship Type="http://schemas.openxmlformats.org/officeDocument/2006/relationships/slideLayout" Target="/ppt/slideLayouts/slideLayout4.xml" Id="R607e68bb278d422b" /><Relationship Type="http://schemas.openxmlformats.org/officeDocument/2006/relationships/slideLayout" Target="/ppt/slideLayouts/slideLayout5.xml" Id="Rca2b4261fdce4d07" /><Relationship Type="http://schemas.openxmlformats.org/officeDocument/2006/relationships/slideLayout" Target="/ppt/slideLayouts/slideLayout6.xml" Id="Rb0cf28a1579843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23cdabe7244f4"/>
    <p:sldLayoutId xmlns:r="http://schemas.openxmlformats.org/officeDocument/2006/relationships" id="2147483650" r:id="R90637326257d424d"/>
    <p:sldLayoutId xmlns:r="http://schemas.openxmlformats.org/officeDocument/2006/relationships" id="2147483651" r:id="R54108b1ff6e34744"/>
    <p:sldLayoutId xmlns:r="http://schemas.openxmlformats.org/officeDocument/2006/relationships" id="2147483652" r:id="R607e68bb278d422b"/>
    <p:sldLayoutId xmlns:r="http://schemas.openxmlformats.org/officeDocument/2006/relationships" id="2147483653" r:id="Rca2b4261fdce4d07"/>
    <p:sldLayoutId xmlns:r="http://schemas.openxmlformats.org/officeDocument/2006/relationships" id="2147483654" r:id="Rb0cf28a1579843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99e4d87d9b249d9" /><ns0:Relationship Type="http://schemas.openxmlformats.org/officeDocument/2006/relationships/hyperlink" Target="&#20840;&#21378;&#21046;&#36896;&#20223;&#30495;.html" TargetMode="External" Id="R27301508640c41db" /><ns0:Relationship Type="http://schemas.openxmlformats.org/officeDocument/2006/relationships/notesSlide" Target="/ppt/notesSlides/notesSlide1.xml" Id="R591fa16816b64a9b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slide-title">
            <a:extLst>
              <a:ext uri="{FF2B5EF4-FFF2-40B4-BE49-F238E27FC236}">
                <ns2:creationId id="{D81A9E51-5512-4302-8026-0A6498177C82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22301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全厂物流与加工仿真</a:t>
            </a:r>
          </a:p>
        </p:txBody>
      </p:sp>
      <p:sp>
        <p:nvSpPr>
          <p:cNvPr id="3" name="framing">
            <a:extLst>
              <a:ext uri="{FF2B5EF4-FFF2-40B4-BE49-F238E27FC236}">
                <ns2:creationId id="{4EBA062E-1824-4645-BFFE-23FB0EC9A936}"/>
              </a:ext>
            </a:extLst>
          </p:cNvPr>
          <p:cNvSpPr>
            <a:spLocks noGrp="1"/>
          </p:cNvSpPr>
          <p:nvPr/>
        </p:nvSpPr>
        <p:spPr>
          <a:xfrm>
            <a:off x="552450" y="1400175"/>
            <a:ext cx="12230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建立全厂物流与多工序加工模型，支持从总览逐级查看运输与排队。</a:t>
            </a:r>
          </a:p>
        </p:txBody>
      </p:sp>
      <p:sp>
        <p:nvSpPr>
          <p:cNvPr id="4" name="scope-heading">
            <a:extLst>
              <a:ext uri="{FF2B5EF4-FFF2-40B4-BE49-F238E27FC236}">
                <ns2:creationId id="{D8F12A94-588C-4DCA-AB85-8981CBDB52E5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仿真范围</a:t>
            </a:r>
          </a:p>
        </p:txBody>
      </p:sp>
      <p:sp>
        <p:nvSpPr>
          <p:cNvPr id="5" name="scope-body">
            <a:extLst>
              <a:ext uri="{FF2B5EF4-FFF2-40B4-BE49-F238E27FC236}">
                <ns2:creationId id="{48C1A769-78D2-47FC-A695-C5A793F83B47}"/>
              </a:ext>
            </a:extLst>
          </p:cNvPr>
          <p:cNvSpPr>
            <a:spLocks noGrp="1"/>
          </p:cNvSpPr>
          <p:nvPr/>
        </p:nvSpPr>
        <p:spPr>
          <a:xfrm>
            <a:off x="552450" y="2657475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43 个 Bay、1,068 台生产设备、500 辆 OHT。</a:t>
            </a:r>
          </a:p>
        </p:txBody>
      </p:sp>
      <p:sp>
        <p:nvSpPr>
          <p:cNvPr id="6" name="scope-operations">
            <a:extLst>
              <a:ext uri="{FF2B5EF4-FFF2-40B4-BE49-F238E27FC236}">
                <ns2:creationId id="{632C49BA-7957-4AC9-BBDC-7E5C8DD7A89E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10 类产品、2,156 批初始在制品，运行 12 h。</a:t>
            </a:r>
          </a:p>
        </p:txBody>
      </p:sp>
      <p:sp>
        <p:nvSpPr>
          <p:cNvPr id="7" name="optimization-body">
            <a:extLst>
              <a:ext uri="{FF2B5EF4-FFF2-40B4-BE49-F238E27FC236}">
                <ns2:creationId id="{24D141CD-D41C-457F-AEED-69F0747AFD45}"/>
              </a:ext>
            </a:extLst>
          </p:cNvPr>
          <p:cNvSpPr>
            <a:spLocks noGrp="1"/>
          </p:cNvSpPr>
          <p:nvPr/>
        </p:nvSpPr>
        <p:spPr>
          <a:xfrm>
            <a:off x="552450" y="3552825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采用原始轨道、端口和产品工艺路线。</a:t>
            </a:r>
          </a:p>
        </p:txBody>
      </p:sp>
      <p:sp>
        <p:nvSpPr>
          <p:cNvPr id="8" name="verification-heading">
            <a:extLst>
              <a:ext uri="{FF2B5EF4-FFF2-40B4-BE49-F238E27FC236}">
                <ns2:creationId id="{ADFFEDCF-48ED-4688-8DE6-7A32B962AD5D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调度与加工规则</a:t>
            </a:r>
          </a:p>
        </p:txBody>
      </p:sp>
      <p:sp>
        <p:nvSpPr>
          <p:cNvPr id="9" name="verification-gap">
            <a:extLst>
              <a:ext uri="{FF2B5EF4-FFF2-40B4-BE49-F238E27FC236}">
                <ns2:creationId id="{32CC9798-CC3D-4903-B3F3-F345C7576261}"/>
              </a:ext>
            </a:extLst>
          </p:cNvPr>
          <p:cNvSpPr>
            <a:spLocks noGrp="1"/>
          </p:cNvSpPr>
          <p:nvPr/>
        </p:nvSpPr>
        <p:spPr>
          <a:xfrm>
            <a:off x="552450" y="4772025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搬运请求先到先服务，最近空闲车接货。</a:t>
            </a:r>
          </a:p>
        </p:txBody>
      </p:sp>
      <p:sp>
        <p:nvSpPr>
          <p:cNvPr id="10" name="verification-checks">
            <a:extLst>
              <a:ext uri="{FF2B5EF4-FFF2-40B4-BE49-F238E27FC236}">
                <ns2:creationId id="{9DF56492-65A7-4451-AB0B-598618E01572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按设备组匹配资源，到达设备后排队加工。</a:t>
            </a:r>
          </a:p>
        </p:txBody>
      </p:sp>
      <p:sp>
        <p:nvSpPr>
          <p:cNvPr id="11" name="benefit-heading">
            <a:extLst>
              <a:ext uri="{FF2B5EF4-FFF2-40B4-BE49-F238E27FC236}">
                <ns2:creationId id="{10AE25C2-CCA5-401F-98D3-3954D4349156}"/>
              </a:ext>
            </a:extLst>
          </p:cNvPr>
          <p:cNvSpPr>
            <a:spLocks noGrp="1"/>
          </p:cNvSpPr>
          <p:nvPr/>
        </p:nvSpPr>
        <p:spPr>
          <a:xfrm>
            <a:off x="7038975" y="2152650"/>
            <a:ext cx="581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仿真运行过程</a:t>
            </a:r>
          </a:p>
        </p:txBody>
      </p:sp>
      <p:sp>
        <p:nvSpPr>
          <p:cNvPr id="12" name="benefit-scope">
            <a:extLst>
              <a:ext uri="{FF2B5EF4-FFF2-40B4-BE49-F238E27FC236}">
                <ns2:creationId id="{BDB37586-E32A-4FED-8041-E671E9092273}"/>
              </a:ext>
            </a:extLst>
          </p:cNvPr>
          <p:cNvSpPr>
            <a:spLocks noGrp="1"/>
          </p:cNvSpPr>
          <p:nvPr/>
        </p:nvSpPr>
        <p:spPr>
          <a:xfrm>
            <a:off x="7038975" y="2657475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请求搬运后，空车接货并装载运输。</a:t>
            </a:r>
          </a:p>
        </p:txBody>
      </p:sp>
      <p:sp>
        <p:nvSpPr>
          <p:cNvPr id="13" name="benefit-rate">
            <a:extLst>
              <a:ext uri="{FF2B5EF4-FFF2-40B4-BE49-F238E27FC236}">
                <ns2:creationId id="{FBC33AC8-D243-4609-8D76-F769BAD7F09A}"/>
              </a:ext>
            </a:extLst>
          </p:cNvPr>
          <p:cNvSpPr>
            <a:spLocks noGrp="1"/>
          </p:cNvSpPr>
          <p:nvPr/>
        </p:nvSpPr>
        <p:spPr>
          <a:xfrm>
            <a:off x="7038975" y="304800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到达后卸载、排队，按工艺顺序加工。</a:t>
            </a:r>
          </a:p>
        </p:txBody>
      </p:sp>
      <p:sp>
        <p:nvSpPr>
          <p:cNvPr id="14" name="benefit-share">
            <a:extLst>
              <a:ext uri="{FF2B5EF4-FFF2-40B4-BE49-F238E27FC236}">
                <ns2:creationId id="{09013A93-7844-4E46-96FF-33878D05FC59}"/>
              </a:ext>
            </a:extLst>
          </p:cNvPr>
          <p:cNvSpPr>
            <a:spLocks noGrp="1"/>
          </p:cNvSpPr>
          <p:nvPr/>
        </p:nvSpPr>
        <p:spPr>
          <a:xfrm>
            <a:off x="7038975" y="3552825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加工完成后触发下一道工序的搬运。</a:t>
            </a:r>
          </a:p>
        </p:txBody>
      </p:sp>
      <p:sp>
        <p:nvSpPr>
          <p:cNvPr id="15" name="overall-heading">
            <a:extLst>
              <a:ext uri="{FF2B5EF4-FFF2-40B4-BE49-F238E27FC236}">
                <ns2:creationId id="{FB20F42F-B8EA-4F7F-B518-73DC9C9BC410}"/>
              </a:ext>
            </a:extLst>
          </p:cNvPr>
          <p:cNvSpPr>
            <a:spLocks noGrp="1"/>
          </p:cNvSpPr>
          <p:nvPr/>
        </p:nvSpPr>
        <p:spPr>
          <a:xfrm>
            <a:off x="7038975" y="4286250"/>
            <a:ext cx="581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交互查看与统计</a:t>
            </a:r>
          </a:p>
        </p:txBody>
      </p:sp>
      <p:sp>
        <p:nvSpPr>
          <p:cNvPr id="16" name="overall-formula">
            <a:extLst>
              <a:ext uri="{FF2B5EF4-FFF2-40B4-BE49-F238E27FC236}">
                <ns2:creationId id="{3FD9491D-91C2-45DB-AE9B-A8A140710B96}"/>
              </a:ext>
            </a:extLst>
          </p:cNvPr>
          <p:cNvSpPr>
            <a:spLocks noGrp="1"/>
          </p:cNvSpPr>
          <p:nvPr/>
        </p:nvSpPr>
        <p:spPr>
          <a:xfrm>
            <a:off x="7038975" y="4772025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按产品或工艺筛选，查看加粗运输路线。</a:t>
            </a:r>
          </a:p>
        </p:txBody>
      </p:sp>
      <p:sp>
        <p:nvSpPr>
          <p:cNvPr id="17" name="overall-scope">
            <a:extLst>
              <a:ext uri="{FF2B5EF4-FFF2-40B4-BE49-F238E27FC236}">
                <ns2:creationId id="{09676AD2-1829-4FC7-9F15-7A03B7A2E0A5}"/>
              </a:ext>
            </a:extLst>
          </p:cNvPr>
          <p:cNvSpPr>
            <a:spLocks noGrp="1"/>
          </p:cNvSpPr>
          <p:nvPr/>
        </p:nvSpPr>
        <p:spPr>
          <a:xfrm>
            <a:off x="7038975" y="52387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查看加工进度、排队及运输等待指标。</a:t>
            </a:r>
          </a:p>
        </p:txBody>
      </p:sp>
      <p:sp>
        <p:nvSpPr>
          <p:cNvPr id="18" name="example-label">
            <a:extLst>
              <a:ext uri="{FF2B5EF4-FFF2-40B4-BE49-F238E27FC236}">
                <ns2:creationId id="{65E71628-99E7-461C-8D47-3FE2FCCF6BCE}"/>
              </a:ext>
            </a:extLst>
          </p:cNvPr>
          <p:cNvSpPr>
            <a:spLocks noGrp="1"/>
          </p:cNvSpPr>
          <p:nvPr/>
        </p:nvSpPr>
        <p:spPr>
          <a:xfrm>
            <a:off x="7038975" y="58102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按设备种类配色，跟踪车辆或单批物料。</a:t>
            </a:r>
          </a:p>
        </p:txBody>
      </p:sp>
      <p:sp>
        <p:nvSpPr>
          <p:cNvPr id="19" name="example-result">
            <a:extLst>
              <a:ext uri="{FF2B5EF4-FFF2-40B4-BE49-F238E27FC236}">
                <ns2:creationId id="{ED1A9633-A800-45E4-92B0-A6EF6A23FA28}"/>
              </a:ext>
            </a:extLst>
          </p:cNvPr>
          <p:cNvSpPr>
            <a:spLocks noGrp="1"/>
          </p:cNvSpPr>
          <p:nvPr/>
        </p:nvSpPr>
        <p:spPr>
          <a:xfrm>
            <a:off x="7038975" y="6200775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支持暂停、倍速播放和多种镜头切换。</a:t>
            </a:r>
          </a:p>
        </p:txBody>
      </p:sp>
      <p:sp>
        <p:nvSpPr>
          <p:cNvPr id="20" name="OPEN_MILP_HTML">
            <a:extLst>
              <a:ext uri="{FF2B5EF4-FFF2-40B4-BE49-F238E27FC236}">
                <ns2:creationId id="{27321A4D-1841-4B8B-A105-C09A15CC2B7C}"/>
              </a:ext>
            </a:extLst>
          </p:cNvPr>
          <p:cNvSpPr>
            <a:spLocks noGrp="1"/>
          </p:cNvSpPr>
          <p:nvPr/>
        </p:nvSpPr>
        <p:spPr>
          <a:xfrm>
            <a:off x="552450" y="5953125"/>
            <a:ext cx="6191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0" u="sng">
                <a:solidFill>
                  <a:srgbClr val="713A80"/>
                </a:solidFill>
                <a:latin typeface="FandolHei"/>
                <a:ea typeface="FandolHei"/>
                <a:cs typeface="FandolHei"/>
                <a:hlinkClick r:id="R27301508640c41db" tooltip="打开全厂制造仿真"/>
              </a:rPr>
              <a:t>打开全厂仿真 HTML</a:t>
            </a:r>
          </a:p>
        </p:txBody>
      </p:sp>
      <p:sp>
        <p:nvSpPr>
          <p:cNvPr id="21" name="validation-note">
            <a:extLst>
              <a:ext uri="{FF2B5EF4-FFF2-40B4-BE49-F238E27FC236}">
                <ns2:creationId id="{91AE5DCA-11A0-41C8-BA69-5FA458F2CEBF}"/>
              </a:ext>
            </a:extLst>
          </p:cNvPr>
          <p:cNvSpPr>
            <a:spLocks noGrp="1"/>
          </p:cNvSpPr>
          <p:nvPr/>
        </p:nvSpPr>
        <p:spPr>
          <a:xfrm>
            <a:off x="552450" y="6762750"/>
            <a:ext cx="1219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当前使用原始参考布局，后续接入 MILP 重排对比。暂未模拟车辆避碰与轨道互斥。</a:t>
            </a:r>
          </a:p>
        </p:txBody>
      </p:sp>
      <p:sp>
        <p:nvSpPr>
          <p:cNvPr id="22" name="footer">
            <a:extLst>
              <a:ext uri="{FF2B5EF4-FFF2-40B4-BE49-F238E27FC236}">
                <ns2:creationId id="{1E07B714-94E3-40B6-945E-80C217CA46E7}"/>
              </a:ext>
            </a:extLst>
          </p:cNvPr>
          <p:cNvSpPr>
            <a:spLocks noGrp="1"/>
          </p:cNvSpPr>
          <p:nvPr/>
        </p:nvSpPr>
        <p:spPr>
          <a:xfrm>
            <a:off x="552450" y="7086600"/>
            <a:ext cx="619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l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l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A2 组   第七周课程设计</a:t>
            </a:r>
          </a:p>
        </p:txBody>
      </p:sp>
      <p:sp>
        <p:nvSpPr>
          <p:cNvPr id="23" name="page-number">
            <a:extLst>
              <a:ext uri="{FF2B5EF4-FFF2-40B4-BE49-F238E27FC236}">
                <ns2:creationId id="{13D73F91-3148-49A8-B89B-2C4D85C0663F}"/>
              </a:ext>
            </a:extLst>
          </p:cNvPr>
          <p:cNvSpPr>
            <a:spLocks noGrp="1"/>
          </p:cNvSpPr>
          <p:nvPr/>
        </p:nvSpPr>
        <p:spPr>
          <a:xfrm>
            <a:off x="12001500" y="708660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r"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>
            <a:pPr algn="r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1</a:t>
            </a:r>
          </a:p>
        </p:txBody>
      </p:sp>
    </p:spTree>
    <p:extLst>
      <p:ext uri="{BB962C8B-B14F-4D97-AF65-F5344CB8AC3E}">
        <ns4:creationId val="1645020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2026-10-29T12:51:25.7390000Z</dcterms:created>
  <dcterms:modified xsi:type="dcterms:W3CDTF">2026-10-29T12:51:25.7390000Z</dcterms:modified>
</coreProperties>
</file>