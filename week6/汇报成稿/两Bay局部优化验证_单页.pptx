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8bb3f6862c4763" /><Relationship Type="http://schemas.openxmlformats.org/officeDocument/2006/relationships/extended-properties" Target="/docProps/app.xml" Id="R17e66594655e41d4" /><Relationship Type="http://schemas.openxmlformats.org/officeDocument/2006/relationships/officeDocument" Target="/ppt/presentation.xml" Id="R396420ccaf0041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e0276049804d88"/>
  </p:sldMasterIdLst>
  <p:notesMasterIdLst>
    <p:notesMasterId xmlns:r="http://schemas.openxmlformats.org/officeDocument/2006/relationships" r:id="Rc3037dbd54f84d0a"/>
  </p:notesMasterIdLst>
  <p:sldIdLst>
    <p:sldId xmlns:r="http://schemas.openxmlformats.org/officeDocument/2006/relationships" id="256" r:id="R9f583a5144164b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a6258aca404cc0" /><Relationship Type="http://schemas.openxmlformats.org/officeDocument/2006/relationships/slideMaster" Target="/ppt/slideMasters/slideMaster1.xml" Id="R1ce0276049804d88" /><Relationship Type="http://schemas.openxmlformats.org/officeDocument/2006/relationships/notesMaster" Target="/ppt/notesMasters/notesMaster1.xml" Id="Rc3037dbd54f84d0a" /><Relationship Type="http://schemas.openxmlformats.org/officeDocument/2006/relationships/presProps" Target="/ppt/presProps.xml" Id="R346b43f365814714" /><Relationship Type="http://schemas.openxmlformats.org/officeDocument/2006/relationships/tableStyles" Target="/ppt/tableStyles.xml" Id="R95038a7fc7ea4c39" /><Relationship Type="http://schemas.openxmlformats.org/officeDocument/2006/relationships/slide" Target="/ppt/slides/slide1.xml" Id="R9f583a5144164b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b0c6115d1b4b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6085961360432d" /><Relationship Type="http://schemas.openxmlformats.org/officeDocument/2006/relationships/notesMaster" Target="/ppt/notesMasters/notesMaster1.xml" Id="R8a58a8fecce544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【本页开场，约 40 秒】</a:t>
            </a:r>
          </a:p>
          <a:p xmlns:a="http://schemas.openxmlformats.org/drawingml/2006/main">
            <a:r>
              <a:t>我们在 A2、A3 两个 Bay 的 48 台真实设备上做局部 MILP 验证，覆盖 4 个设备组、59 道区域工序。外部供需、槽位端口与轨道、设备组及尺寸类别数量固定，联合决定设备放在哪个槽位、工序在哪里加工以及进出物流如何分配。目标是最小化“运输量×有向轨道最短距离”的总和。参考成本 304,663,194.167，优化后 302,889,755.960，降低 0.582%；6 个槽位调整，主目标 gap 为 0，独立检查及固定新布局后的 LP 重评通过。这些是给定边界和 0.25 倍需求下的局部结果，尚未计搬迁成本。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【点击本页紫色链接，按 HTML 讲解，约 2 分钟】</a:t>
            </a:r>
          </a:p>
          <a:p xmlns:a="http://schemas.openxmlformats.org/drawingml/2006/main">
            <a:r>
              <a:t>1. 布局怎么变了：先看默认槽位 S0146。颜色表示设备组，这里从组 48 变成组 50，是槽位上的设备换了，并非把机器改造成另一种类型。4 种颜色都属于后段干法刻蚀设备；同组聚集没有写进模型，因此少量颜色分散。黑框只有 6 个，另外 42 个槽位保持原组。</a:t>
            </a:r>
          </a:p>
          <a:p xmlns:a="http://schemas.openxmlformats.org/drawingml/2006/main">
            <a:r>
              <a:t>切换“跟随具体设备看”，选择 ECH0155：它始终属于 DE_BE_50，从 A3 的 S0155 移至 A2 的 S0146，并对接目标槽位端口 ECH0146_Port1。其他设备同步重排，这是同组设备可交换条件下的一种具体身份实现。</a:t>
            </a:r>
          </a:p>
          <a:p xmlns:a="http://schemas.openxmlformats.org/drawingml/2006/main">
            <a:r>
              <a:t>2. 哪些工序受益：59 道区域工序中，18 道改善、41 道基本不变。选择示例 part_5 第 169 步，进入实际路径页。</a:t>
            </a:r>
          </a:p>
          <a:p xmlns:a="http://schemas.openxmlformats.org/drawingml/2006/main">
            <a:r>
              <a:t>3. 实际路径为什么变短：固定外部源 LITH0213 与外部目标 ECH0498。该工序优化前由 A3 的 ECH0163 加工，优化后改由搬到 A2 的 ECH0155 加工。不要把这解释成优化前也是 ECH0155 加工。每 lot 入程距离 172.418→179.535，出程 286.202→269.243，总计 458.620→448.778，降低 2.146%（显示值均为千原始距离单位）。入程变长，但出程缩短得更多，说明模型在权衡完整进出路径。2.146% 是这道工序的收益，整段 59 道工序的加权总收益为 0.582%。可切换前后线路显示以说明走向。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【边界答辩】</a:t>
            </a:r>
          </a:p>
          <a:p xmlns:a="http://schemas.openxmlformats.org/drawingml/2006/main">
            <a:r>
              <a:t>这是两 Bay 的条件局部模型；保留每个外部源供给、每个外部目标接收量及区域工序量。本例没有正的区域内部直接转移流，主要验证设备配置、加工与进出物流耦合。gap=0 仅指当前数学模型的主目标最优，不能推出全厂改善率、实际周期时间或经济收益。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【链接使用】</a:t>
            </a:r>
          </a:p>
          <a:p xmlns:a="http://schemas.openxmlformats.org/drawingml/2006/main">
            <a:r>
              <a:t>本 PPTX 与 MILP交互展示.html 放在同一文件夹；合并到总汇报后也保留这一相对位置。放映时点击紫色链接；编辑模式可 Ctrl+单击。若演示软件询问打开本地文件，允许打开即可。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【数据来源】</a:t>
            </a:r>
          </a:p>
          <a:p xmlns:a="http://schemas.openxmlformats.org/drawingml/2006/main">
            <a:r>
              <a:t>week6/汇报准备/MILP_A2_A3/summary.json、layout_result.csv、processing_flow.csv、boundary_flow.csv、equipment_relocation.csv、independent_checks.json；week6/交互展示/milp-data.json；week6/汇报成稿/MILP交互展示.html。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c91da10944c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63ed8b05f48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69de040cbd41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59db61e78543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7549b2e724c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b01dc3c264c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286B47-121E-44CD-97CB-F14656BD72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DE515B-C255-4FAE-9DA6-671849976A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4305CF3-F02A-4AE6-B290-9FC1D0DB5B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819787-22D2-4159-BFCA-C790D1F297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B24046-02F0-4449-95CC-273919C84E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9A8D22-357C-433A-BB4A-40401A0944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F58B64-5DFF-4F02-BD73-ACDFB0B291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AF54A3-4ABA-4BAE-8BEF-9EDB4D1570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469B0A-B2D6-4DFC-A589-CA1E4665C1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C36383-98CA-4B3B-894C-81A2D6DE5B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c7b56f81e441f4" /><Relationship Type="http://schemas.openxmlformats.org/officeDocument/2006/relationships/slideLayout" Target="/ppt/slideLayouts/slideLayout1.xml" Id="Ra69e964791a04f24" /><Relationship Type="http://schemas.openxmlformats.org/officeDocument/2006/relationships/slideLayout" Target="/ppt/slideLayouts/slideLayout2.xml" Id="Rdbc066a1b87c4a03" /><Relationship Type="http://schemas.openxmlformats.org/officeDocument/2006/relationships/slideLayout" Target="/ppt/slideLayouts/slideLayout3.xml" Id="R18f50cca53b942b6" /><Relationship Type="http://schemas.openxmlformats.org/officeDocument/2006/relationships/slideLayout" Target="/ppt/slideLayouts/slideLayout4.xml" Id="R0f5c0e511b6b4530" /><Relationship Type="http://schemas.openxmlformats.org/officeDocument/2006/relationships/slideLayout" Target="/ppt/slideLayouts/slideLayout5.xml" Id="Re4b74ec47b514909" /><Relationship Type="http://schemas.openxmlformats.org/officeDocument/2006/relationships/slideLayout" Target="/ppt/slideLayouts/slideLayout6.xml" Id="R605f99894e0140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9e964791a04f24"/>
    <p:sldLayoutId xmlns:r="http://schemas.openxmlformats.org/officeDocument/2006/relationships" id="2147483650" r:id="Rdbc066a1b87c4a03"/>
    <p:sldLayoutId xmlns:r="http://schemas.openxmlformats.org/officeDocument/2006/relationships" id="2147483651" r:id="R18f50cca53b942b6"/>
    <p:sldLayoutId xmlns:r="http://schemas.openxmlformats.org/officeDocument/2006/relationships" id="2147483652" r:id="R0f5c0e511b6b4530"/>
    <p:sldLayoutId xmlns:r="http://schemas.openxmlformats.org/officeDocument/2006/relationships" id="2147483653" r:id="Re4b74ec47b514909"/>
    <p:sldLayoutId xmlns:r="http://schemas.openxmlformats.org/officeDocument/2006/relationships" id="2147483654" r:id="R605f99894e0140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332b3d5edacb4f8b" /><ns0:Relationship Type="http://schemas.openxmlformats.org/officeDocument/2006/relationships/notesSlide" Target="/ppt/notesSlides/notesSlide1.xml" Id="R818e27f57a0743f9" /><ns0:Relationship Id="rIdMilpHtml" Type="http://schemas.openxmlformats.org/officeDocument/2006/relationships/hyperlink" Target="MILP&#20132;&#20114;&#23637;&#31034;.html" TargetMode="External" /></ns0: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ns2:creationId id="{42869C90-3B64-41B4-BC31-62F16818B5F7}"/>
              </a:ext>
            </a:extLst>
          </p:cNvPr>
          <p:cNvSpPr>
            <a:spLocks noGrp="1"/>
          </p:cNvSpPr>
          <p:nvPr/>
        </p:nvSpPr>
        <p:spPr>
          <a:xfrm>
            <a:off x="904875" y="714375"/>
            <a:ext cx="10382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850" b="1">
                <a:solidFill>
                  <a:srgbClr val="222222"/>
                </a:solidFill>
              </a:defRPr>
            </a:defPPr>
            <a:lvl1pPr algn="l">
              <a:defRPr sz="2850" b="1">
                <a:solidFill>
                  <a:srgbClr val="222222"/>
                </a:solidFill>
              </a:defRPr>
            </a:lvl1pPr>
            <a:lvl2pPr algn="l">
              <a:defRPr sz="2850" b="1">
                <a:solidFill>
                  <a:srgbClr val="222222"/>
                </a:solidFill>
              </a:defRPr>
            </a:lvl2pPr>
            <a:lvl3pPr algn="l">
              <a:defRPr sz="2850" b="1">
                <a:solidFill>
                  <a:srgbClr val="222222"/>
                </a:solidFill>
              </a:defRPr>
            </a:lvl3pPr>
            <a:lvl4pPr algn="l">
              <a:defRPr sz="2850" b="1">
                <a:solidFill>
                  <a:srgbClr val="222222"/>
                </a:solidFill>
              </a:defRPr>
            </a:lvl4pPr>
            <a:lvl5pPr algn="l">
              <a:defRPr sz="2850" b="1">
                <a:solidFill>
                  <a:srgbClr val="222222"/>
                </a:solidFill>
              </a:defRPr>
            </a:lvl5pPr>
            <a:lvl6pPr algn="l">
              <a:defRPr sz="2850" b="1">
                <a:solidFill>
                  <a:srgbClr val="222222"/>
                </a:solidFill>
              </a:defRPr>
            </a:lvl6pPr>
            <a:lvl7pPr algn="l">
              <a:defRPr sz="2850" b="1">
                <a:solidFill>
                  <a:srgbClr val="222222"/>
                </a:solidFill>
              </a:defRPr>
            </a:lvl7pPr>
            <a:lvl8pPr algn="l">
              <a:defRPr sz="2850" b="1">
                <a:solidFill>
                  <a:srgbClr val="222222"/>
                </a:solidFill>
              </a:defRPr>
            </a:lvl8pPr>
            <a:lvl9pPr algn="l">
              <a:defRPr sz="2850" b="1">
                <a:solidFill>
                  <a:srgbClr val="222222"/>
                </a:solidFill>
              </a:defRPr>
            </a:lvl9pPr>
          </a:lstStyle>
          <a:p>
            <a:pPr algn="l">
              <a:defRPr sz="2850" b="1">
                <a:solidFill>
                  <a:srgbClr val="222222"/>
                </a:solidFill>
              </a:defRPr>
            </a:pPr>
            <a:r>
              <a:rPr sz="2850" b="1">
                <a:solidFill>
                  <a:srgbClr val="222222"/>
                </a:solidFill>
              </a:rPr>
              <a:t>两 Bay 局部优化验证（MILP）</a:t>
            </a:r>
          </a:p>
        </p:txBody>
      </p:sp>
      <p:sp>
        <p:nvSpPr>
          <p:cNvPr id="3" name="">
            <a:extLst>
              <a:ext uri="{FF2B5EF4-FFF2-40B4-BE49-F238E27FC236}">
                <ns2:creationId id="{3A4B81EF-B770-4EDD-B7DD-403D2B2A1CE2}"/>
              </a:ext>
            </a:extLst>
          </p:cNvPr>
          <p:cNvSpPr>
            <a:spLocks noGrp="1"/>
          </p:cNvSpPr>
          <p:nvPr/>
        </p:nvSpPr>
        <p:spPr>
          <a:xfrm>
            <a:off x="904875" y="1809750"/>
            <a:ext cx="10382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00" b="0">
                <a:solidFill>
                  <a:srgbClr val="222222"/>
                </a:solidFill>
              </a:defRPr>
            </a:defPPr>
            <a:lvl1pPr algn="l">
              <a:defRPr sz="2100" b="0">
                <a:solidFill>
                  <a:srgbClr val="222222"/>
                </a:solidFill>
              </a:defRPr>
            </a:lvl1pPr>
            <a:lvl2pPr algn="l">
              <a:defRPr sz="2100" b="0">
                <a:solidFill>
                  <a:srgbClr val="222222"/>
                </a:solidFill>
              </a:defRPr>
            </a:lvl2pPr>
            <a:lvl3pPr algn="l">
              <a:defRPr sz="2100" b="0">
                <a:solidFill>
                  <a:srgbClr val="222222"/>
                </a:solidFill>
              </a:defRPr>
            </a:lvl3pPr>
            <a:lvl4pPr algn="l">
              <a:defRPr sz="2100" b="0">
                <a:solidFill>
                  <a:srgbClr val="222222"/>
                </a:solidFill>
              </a:defRPr>
            </a:lvl4pPr>
            <a:lvl5pPr algn="l">
              <a:defRPr sz="2100" b="0">
                <a:solidFill>
                  <a:srgbClr val="222222"/>
                </a:solidFill>
              </a:defRPr>
            </a:lvl5pPr>
            <a:lvl6pPr algn="l">
              <a:defRPr sz="2100" b="0">
                <a:solidFill>
                  <a:srgbClr val="222222"/>
                </a:solidFill>
              </a:defRPr>
            </a:lvl6pPr>
            <a:lvl7pPr algn="l">
              <a:defRPr sz="2100" b="0">
                <a:solidFill>
                  <a:srgbClr val="222222"/>
                </a:solidFill>
              </a:defRPr>
            </a:lvl7pPr>
            <a:lvl8pPr algn="l">
              <a:defRPr sz="2100" b="0">
                <a:solidFill>
                  <a:srgbClr val="222222"/>
                </a:solidFill>
              </a:defRPr>
            </a:lvl8pPr>
            <a:lvl9pPr algn="l">
              <a:defRPr sz="2100" b="0">
                <a:solidFill>
                  <a:srgbClr val="222222"/>
                </a:solidFill>
              </a:defRPr>
            </a:lvl9pPr>
          </a:lstStyle>
          <a:p>
            <a:pPr algn="l">
              <a:defRPr sz="2100" b="0">
                <a:solidFill>
                  <a:srgbClr val="222222"/>
                </a:solidFill>
              </a:defRPr>
            </a:pPr>
            <a:r>
              <a:rPr sz="2100" b="0">
                <a:solidFill>
                  <a:srgbClr val="222222"/>
                </a:solidFill>
              </a:rPr>
              <a:t>验证范围：A2、A3，48 台设备、4 个设备组、59 道区域工序。</a:t>
            </a:r>
          </a:p>
        </p:txBody>
      </p:sp>
      <p:sp>
        <p:nvSpPr>
          <p:cNvPr id="4" name="">
            <a:extLst>
              <a:ext uri="{FF2B5EF4-FFF2-40B4-BE49-F238E27FC236}">
                <ns2:creationId id="{652045F0-4299-4E38-9257-A64C2363B003}"/>
              </a:ext>
            </a:extLst>
          </p:cNvPr>
          <p:cNvSpPr>
            <a:spLocks noGrp="1"/>
          </p:cNvSpPr>
          <p:nvPr/>
        </p:nvSpPr>
        <p:spPr>
          <a:xfrm>
            <a:off x="904875" y="2762250"/>
            <a:ext cx="10382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00" b="0">
                <a:solidFill>
                  <a:srgbClr val="222222"/>
                </a:solidFill>
              </a:defRPr>
            </a:defPPr>
            <a:lvl1pPr algn="l">
              <a:defRPr sz="2100" b="0">
                <a:solidFill>
                  <a:srgbClr val="222222"/>
                </a:solidFill>
              </a:defRPr>
            </a:lvl1pPr>
            <a:lvl2pPr algn="l">
              <a:defRPr sz="2100" b="0">
                <a:solidFill>
                  <a:srgbClr val="222222"/>
                </a:solidFill>
              </a:defRPr>
            </a:lvl2pPr>
            <a:lvl3pPr algn="l">
              <a:defRPr sz="2100" b="0">
                <a:solidFill>
                  <a:srgbClr val="222222"/>
                </a:solidFill>
              </a:defRPr>
            </a:lvl3pPr>
            <a:lvl4pPr algn="l">
              <a:defRPr sz="2100" b="0">
                <a:solidFill>
                  <a:srgbClr val="222222"/>
                </a:solidFill>
              </a:defRPr>
            </a:lvl4pPr>
            <a:lvl5pPr algn="l">
              <a:defRPr sz="2100" b="0">
                <a:solidFill>
                  <a:srgbClr val="222222"/>
                </a:solidFill>
              </a:defRPr>
            </a:lvl5pPr>
            <a:lvl6pPr algn="l">
              <a:defRPr sz="2100" b="0">
                <a:solidFill>
                  <a:srgbClr val="222222"/>
                </a:solidFill>
              </a:defRPr>
            </a:lvl6pPr>
            <a:lvl7pPr algn="l">
              <a:defRPr sz="2100" b="0">
                <a:solidFill>
                  <a:srgbClr val="222222"/>
                </a:solidFill>
              </a:defRPr>
            </a:lvl7pPr>
            <a:lvl8pPr algn="l">
              <a:defRPr sz="2100" b="0">
                <a:solidFill>
                  <a:srgbClr val="222222"/>
                </a:solidFill>
              </a:defRPr>
            </a:lvl8pPr>
            <a:lvl9pPr algn="l">
              <a:defRPr sz="2100" b="0">
                <a:solidFill>
                  <a:srgbClr val="222222"/>
                </a:solidFill>
              </a:defRPr>
            </a:lvl9pPr>
          </a:lstStyle>
          <a:p>
            <a:pPr algn="l">
              <a:defRPr sz="2100" b="0">
                <a:solidFill>
                  <a:srgbClr val="222222"/>
                </a:solidFill>
              </a:defRPr>
            </a:pPr>
            <a:r>
              <a:rPr sz="2100" b="0">
                <a:solidFill>
                  <a:srgbClr val="222222"/>
                </a:solidFill>
              </a:rPr>
              <a:t>优化内容：固定外部供需与现有槽位，</a:t>
            </a:r>
          </a:p>
          <a:p>
            <a:pPr algn="l">
              <a:defRPr sz="2100" b="0">
                <a:solidFill>
                  <a:srgbClr val="222222"/>
                </a:solidFill>
              </a:defRPr>
            </a:pPr>
            <a:r>
              <a:rPr sz="2100" b="0">
                <a:solidFill>
                  <a:srgbClr val="222222"/>
                </a:solidFill>
              </a:rPr>
              <a:t>联合优化设备位置、工序加工量和进出物流分配。</a:t>
            </a:r>
          </a:p>
        </p:txBody>
      </p:sp>
      <p:sp>
        <p:nvSpPr>
          <p:cNvPr id="5" name="">
            <a:extLst>
              <a:ext uri="{FF2B5EF4-FFF2-40B4-BE49-F238E27FC236}">
                <ns2:creationId id="{8A3F42A2-26FB-46DA-99BF-2B5C43A82780}"/>
              </a:ext>
            </a:extLst>
          </p:cNvPr>
          <p:cNvSpPr>
            <a:spLocks noGrp="1"/>
          </p:cNvSpPr>
          <p:nvPr/>
        </p:nvSpPr>
        <p:spPr>
          <a:xfrm>
            <a:off x="904875" y="4000500"/>
            <a:ext cx="10382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00" b="0">
                <a:solidFill>
                  <a:srgbClr val="222222"/>
                </a:solidFill>
              </a:defRPr>
            </a:defPPr>
            <a:lvl1pPr algn="l">
              <a:defRPr sz="2100" b="0">
                <a:solidFill>
                  <a:srgbClr val="222222"/>
                </a:solidFill>
              </a:defRPr>
            </a:lvl1pPr>
            <a:lvl2pPr algn="l">
              <a:defRPr sz="2100" b="0">
                <a:solidFill>
                  <a:srgbClr val="222222"/>
                </a:solidFill>
              </a:defRPr>
            </a:lvl2pPr>
            <a:lvl3pPr algn="l">
              <a:defRPr sz="2100" b="0">
                <a:solidFill>
                  <a:srgbClr val="222222"/>
                </a:solidFill>
              </a:defRPr>
            </a:lvl3pPr>
            <a:lvl4pPr algn="l">
              <a:defRPr sz="2100" b="0">
                <a:solidFill>
                  <a:srgbClr val="222222"/>
                </a:solidFill>
              </a:defRPr>
            </a:lvl4pPr>
            <a:lvl5pPr algn="l">
              <a:defRPr sz="2100" b="0">
                <a:solidFill>
                  <a:srgbClr val="222222"/>
                </a:solidFill>
              </a:defRPr>
            </a:lvl5pPr>
            <a:lvl6pPr algn="l">
              <a:defRPr sz="2100" b="0">
                <a:solidFill>
                  <a:srgbClr val="222222"/>
                </a:solidFill>
              </a:defRPr>
            </a:lvl6pPr>
            <a:lvl7pPr algn="l">
              <a:defRPr sz="2100" b="0">
                <a:solidFill>
                  <a:srgbClr val="222222"/>
                </a:solidFill>
              </a:defRPr>
            </a:lvl7pPr>
            <a:lvl8pPr algn="l">
              <a:defRPr sz="2100" b="0">
                <a:solidFill>
                  <a:srgbClr val="222222"/>
                </a:solidFill>
              </a:defRPr>
            </a:lvl8pPr>
            <a:lvl9pPr algn="l">
              <a:defRPr sz="2100" b="0">
                <a:solidFill>
                  <a:srgbClr val="222222"/>
                </a:solidFill>
              </a:defRPr>
            </a:lvl9pPr>
          </a:lstStyle>
          <a:p>
            <a:pPr algn="l">
              <a:defRPr sz="2100" b="0">
                <a:solidFill>
                  <a:srgbClr val="222222"/>
                </a:solidFill>
              </a:defRPr>
            </a:pPr>
            <a:r>
              <a:rPr sz="2100" b="0">
                <a:solidFill>
                  <a:srgbClr val="222222"/>
                </a:solidFill>
              </a:rPr>
              <a:t>验证结果：局部加权运输距离降低 0.582%，</a:t>
            </a:r>
          </a:p>
          <a:p>
            <a:pPr algn="l">
              <a:defRPr sz="2100" b="0">
                <a:solidFill>
                  <a:srgbClr val="222222"/>
                </a:solidFill>
              </a:defRPr>
            </a:pPr>
            <a:r>
              <a:rPr sz="2100" b="0">
                <a:solidFill>
                  <a:srgbClr val="222222"/>
                </a:solidFill>
              </a:rPr>
              <a:t>调整 6 个槽位，求解 gap = 0（0.25 倍需求场景）。</a:t>
            </a:r>
          </a:p>
        </p:txBody>
      </p:sp>
      <p:sp>
        <p:nvSpPr>
          <p:cNvPr id="6" name="OPEN_MILP_HTML">
            <a:extLst>
              <a:ext uri="{FF2B5EF4-FFF2-40B4-BE49-F238E27FC236}">
                <ns2:creationId id="{19556810-3DA2-405B-9A28-48A9F704B837}"/>
              </a:ext>
            </a:extLst>
            <a:hlinkClick r:id="rIdMilpHtml" tooltip="打开两 Bay MILP 交互展示"/>
          </p:cNvPr>
          <p:cNvSpPr>
            <a:spLocks noGrp="1"/>
          </p:cNvSpPr>
          <p:nvPr/>
        </p:nvSpPr>
        <p:spPr>
          <a:xfrm>
            <a:off x="904875" y="5476875"/>
            <a:ext cx="1038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025" b="0" u="sng">
                <a:solidFill>
                  <a:srgbClr val="222222"/>
                </a:solidFill>
              </a:defRPr>
            </a:defPPr>
            <a:lvl1pPr algn="l">
              <a:defRPr sz="2025" b="0" u="sng">
                <a:solidFill>
                  <a:srgbClr val="222222"/>
                </a:solidFill>
              </a:defRPr>
            </a:lvl1pPr>
            <a:lvl2pPr algn="l">
              <a:defRPr sz="2025" b="0" u="sng">
                <a:solidFill>
                  <a:srgbClr val="222222"/>
                </a:solidFill>
              </a:defRPr>
            </a:lvl2pPr>
            <a:lvl3pPr algn="l">
              <a:defRPr sz="2025" b="0" u="sng">
                <a:solidFill>
                  <a:srgbClr val="222222"/>
                </a:solidFill>
              </a:defRPr>
            </a:lvl3pPr>
            <a:lvl4pPr algn="l">
              <a:defRPr sz="2025" b="0" u="sng">
                <a:solidFill>
                  <a:srgbClr val="222222"/>
                </a:solidFill>
              </a:defRPr>
            </a:lvl4pPr>
            <a:lvl5pPr algn="l">
              <a:defRPr sz="2025" b="0" u="sng">
                <a:solidFill>
                  <a:srgbClr val="222222"/>
                </a:solidFill>
              </a:defRPr>
            </a:lvl5pPr>
            <a:lvl6pPr algn="l">
              <a:defRPr sz="2025" b="0" u="sng">
                <a:solidFill>
                  <a:srgbClr val="222222"/>
                </a:solidFill>
              </a:defRPr>
            </a:lvl6pPr>
            <a:lvl7pPr algn="l">
              <a:defRPr sz="2025" b="0" u="sng">
                <a:solidFill>
                  <a:srgbClr val="222222"/>
                </a:solidFill>
              </a:defRPr>
            </a:lvl7pPr>
            <a:lvl8pPr algn="l">
              <a:defRPr sz="2025" b="0" u="sng">
                <a:solidFill>
                  <a:srgbClr val="222222"/>
                </a:solidFill>
              </a:defRPr>
            </a:lvl8pPr>
            <a:lvl9pPr algn="l">
              <a:defRPr sz="2025" b="0" u="sng">
                <a:solidFill>
                  <a:srgbClr val="222222"/>
                </a:solidFill>
              </a:defRPr>
            </a:lvl9pPr>
          </a:lstStyle>
          <a:p>
            <a:pPr algn="l">
              <a:defRPr sz="2025" b="0" u="sng">
                <a:solidFill>
                  <a:srgbClr val="222222"/>
                </a:solidFill>
              </a:defRPr>
            </a:pPr>
            <a:r>
              <a:rPr sz="2025" b="0" u="sng">
                <a:solidFill>
                  <a:srgbClr val="222222"/>
                </a:solidFill>
                <a:hlinkClick r:id="rIdMilpHtml" tooltip="打开两 Bay MILP 交互展示"/>
              </a:rPr>
              <a:t>打开 HTML 交互展示</a:t>
            </a:r>
          </a:p>
        </p:txBody>
      </p:sp>
    </p:spTree>
    <p:extLst>
      <p:ext uri="{BB962C8B-B14F-4D97-AF65-F5344CB8AC3E}">
        <ns4:creationId val="168957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2026-10-22T16:14:17.3420000Z</dcterms:created>
  <dcterms:modified xsi:type="dcterms:W3CDTF">2026-10-22T16:14:17.3420000Z</dcterms:modified>
</coreProperties>
</file>