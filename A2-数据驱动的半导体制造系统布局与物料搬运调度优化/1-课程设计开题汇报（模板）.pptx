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307" r:id="rId5"/>
    <p:sldId id="289" r:id="rId6"/>
    <p:sldId id="314" r:id="rId7"/>
    <p:sldId id="291" r:id="rId8"/>
    <p:sldId id="293" r:id="rId9"/>
    <p:sldId id="301" r:id="rId10"/>
    <p:sldId id="316" r:id="rId11"/>
    <p:sldId id="308" r:id="rId12"/>
    <p:sldId id="29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2F4F6"/>
    <a:srgbClr val="0000FF"/>
    <a:srgbClr val="4873C4"/>
    <a:srgbClr val="C6D3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22" autoAdjust="0"/>
    <p:restoredTop sz="82222" autoAdjust="0"/>
  </p:normalViewPr>
  <p:slideViewPr>
    <p:cSldViewPr snapToGrid="0">
      <p:cViewPr>
        <p:scale>
          <a:sx n="60" d="100"/>
          <a:sy n="60" d="100"/>
        </p:scale>
        <p:origin x="-2286" y="-804"/>
      </p:cViewPr>
      <p:guideLst>
        <p:guide orient="horz" pos="2160"/>
        <p:guide pos="383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309130-27B2-45F0-AA09-284A5088705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002B64-FC5E-4859-ACC5-5828DA2ED3C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4002B64-FC5E-4859-ACC5-5828DA2ED3C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4002B64-FC5E-4859-ACC5-5828DA2ED3C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4002B64-FC5E-4859-ACC5-5828DA2ED3C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4002B64-FC5E-4859-ACC5-5828DA2ED3C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4002B64-FC5E-4859-ACC5-5828DA2ED3C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4002B64-FC5E-4859-ACC5-5828DA2ED3C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半角符号，</a:t>
            </a:r>
            <a:endParaRPr lang="zh-CN" altLang="en-US" dirty="0"/>
          </a:p>
        </p:txBody>
      </p:sp>
      <p:sp>
        <p:nvSpPr>
          <p:cNvPr id="4" name="灯片编号占位符 3"/>
          <p:cNvSpPr>
            <a:spLocks noGrp="1"/>
          </p:cNvSpPr>
          <p:nvPr>
            <p:ph type="sldNum" sz="quarter" idx="5"/>
          </p:nvPr>
        </p:nvSpPr>
        <p:spPr/>
        <p:txBody>
          <a:bodyPr/>
          <a:lstStyle/>
          <a:p>
            <a:fld id="{A4002B64-FC5E-4859-ACC5-5828DA2ED3C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半角符号，</a:t>
            </a:r>
            <a:endParaRPr lang="zh-CN" altLang="en-US" dirty="0"/>
          </a:p>
        </p:txBody>
      </p:sp>
      <p:sp>
        <p:nvSpPr>
          <p:cNvPr id="4" name="灯片编号占位符 3"/>
          <p:cNvSpPr>
            <a:spLocks noGrp="1"/>
          </p:cNvSpPr>
          <p:nvPr>
            <p:ph type="sldNum" sz="quarter" idx="5"/>
          </p:nvPr>
        </p:nvSpPr>
        <p:spPr/>
        <p:txBody>
          <a:bodyPr/>
          <a:lstStyle/>
          <a:p>
            <a:fld id="{A4002B64-FC5E-4859-ACC5-5828DA2ED3C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4002B64-FC5E-4859-ACC5-5828DA2ED3C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标题">
    <p:spTree>
      <p:nvGrpSpPr>
        <p:cNvPr id="1" name=""/>
        <p:cNvGrpSpPr/>
        <p:nvPr/>
      </p:nvGrpSpPr>
      <p:grpSpPr>
        <a:xfrm>
          <a:off x="0" y="0"/>
          <a:ext cx="0" cy="0"/>
          <a:chOff x="0" y="0"/>
          <a:chExt cx="0" cy="0"/>
        </a:xfrm>
      </p:grpSpPr>
      <p:pic>
        <p:nvPicPr>
          <p:cNvPr id="10" name="Picture 3" descr="C:\Documents and Settings\user\My Documents\Downloads\litan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5600" y="3358800"/>
            <a:ext cx="4286250" cy="350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itle 20"/>
          <p:cNvSpPr>
            <a:spLocks noGrp="1"/>
          </p:cNvSpPr>
          <p:nvPr>
            <p:ph type="title"/>
          </p:nvPr>
        </p:nvSpPr>
        <p:spPr>
          <a:xfrm>
            <a:off x="1103445" y="2420888"/>
            <a:ext cx="10174155" cy="819944"/>
          </a:xfrm>
          <a:prstGeom prst="rect">
            <a:avLst/>
          </a:prstGeom>
        </p:spPr>
        <p:txBody>
          <a:bodyPr/>
          <a:lstStyle>
            <a:lvl1pPr algn="l">
              <a:defRPr baseline="0">
                <a:latin typeface="Arial" panose="020B0604020202020204" pitchFamily="34" charset="0"/>
                <a:ea typeface="黑体" panose="02010609060101010101" pitchFamily="2" charset="-122"/>
              </a:defRPr>
            </a:lvl1pPr>
          </a:lstStyle>
          <a:p>
            <a:r>
              <a:rPr lang="zh-CN" altLang="en-US"/>
              <a:t>单击此处编辑母版标题样式</a:t>
            </a:r>
            <a:endParaRPr lang="en-US" dirty="0"/>
          </a:p>
        </p:txBody>
      </p:sp>
      <p:sp>
        <p:nvSpPr>
          <p:cNvPr id="9" name="Content Placeholder 8"/>
          <p:cNvSpPr>
            <a:spLocks noGrp="1"/>
          </p:cNvSpPr>
          <p:nvPr>
            <p:ph sz="quarter" idx="10" hasCustomPrompt="1"/>
          </p:nvPr>
        </p:nvSpPr>
        <p:spPr>
          <a:xfrm>
            <a:off x="1102784" y="3888000"/>
            <a:ext cx="10174816" cy="1620000"/>
          </a:xfrm>
        </p:spPr>
        <p:txBody>
          <a:bodyPr/>
          <a:lstStyle>
            <a:lvl1pPr marL="0" indent="0">
              <a:buNone/>
              <a:defRPr sz="2400" baseline="0">
                <a:latin typeface="+mn-lt"/>
              </a:defRPr>
            </a:lvl1pPr>
          </a:lstStyle>
          <a:p>
            <a:pPr lvl="0"/>
            <a:r>
              <a:rPr lang="zh-CN" altLang="en-US"/>
              <a:t>编辑母版文本样式</a:t>
            </a:r>
            <a:endParaRPr lang="zh-CN" altLang="en-US"/>
          </a:p>
        </p:txBody>
      </p:sp>
      <p:pic>
        <p:nvPicPr>
          <p:cNvPr id="8" name="图片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0991" y="5601392"/>
            <a:ext cx="1068916" cy="1073361"/>
          </a:xfrm>
          <a:prstGeom prst="rect">
            <a:avLst/>
          </a:prstGeom>
        </p:spPr>
      </p:pic>
      <p:sp>
        <p:nvSpPr>
          <p:cNvPr id="11" name="Rectangle 4"/>
          <p:cNvSpPr>
            <a:spLocks noChangeArrowheads="1"/>
          </p:cNvSpPr>
          <p:nvPr userDrawn="1"/>
        </p:nvSpPr>
        <p:spPr bwMode="auto">
          <a:xfrm>
            <a:off x="2293669" y="5845684"/>
            <a:ext cx="81618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r>
              <a:rPr lang="zh-CN" altLang="en-US" sz="1800" b="0" dirty="0" smtClean="0">
                <a:latin typeface="黑体" panose="02010609060101010101" pitchFamily="2" charset="-122"/>
                <a:ea typeface="黑体" panose="02010609060101010101" pitchFamily="2" charset="-122"/>
              </a:rPr>
              <a:t>工业工程系课程设计开题汇报</a:t>
            </a:r>
            <a:endParaRPr lang="en-US" altLang="zh-CN" sz="1800" b="0" dirty="0">
              <a:latin typeface="黑体" panose="02010609060101010101" pitchFamily="2" charset="-122"/>
              <a:ea typeface="黑体" panose="0201060906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3.节标题幻灯片">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324600"/>
            <a:ext cx="10566400"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Title 5"/>
          <p:cNvSpPr>
            <a:spLocks noGrp="1"/>
          </p:cNvSpPr>
          <p:nvPr>
            <p:ph type="title"/>
          </p:nvPr>
        </p:nvSpPr>
        <p:spPr>
          <a:xfrm>
            <a:off x="719403" y="4581128"/>
            <a:ext cx="10668000" cy="819944"/>
          </a:xfrm>
          <a:prstGeom prst="rect">
            <a:avLst/>
          </a:prstGeom>
        </p:spPr>
        <p:txBody>
          <a:bodyPr/>
          <a:lstStyle>
            <a:lvl1pPr>
              <a:defRPr baseline="0">
                <a:latin typeface="Arial" panose="020B0604020202020204" pitchFamily="34" charset="0"/>
                <a:ea typeface="黑体" panose="02010609060101010101" pitchFamily="2" charset="-122"/>
              </a:defRPr>
            </a:lvl1pPr>
          </a:lstStyle>
          <a:p>
            <a:r>
              <a:rPr lang="zh-CN" altLang="en-US"/>
              <a:t>单击此处编辑母版标题样式</a:t>
            </a:r>
            <a:endParaRPr lang="en-US" dirty="0"/>
          </a:p>
        </p:txBody>
      </p:sp>
      <p:sp>
        <p:nvSpPr>
          <p:cNvPr id="8" name="Footer Placeholder 7"/>
          <p:cNvSpPr>
            <a:spLocks noGrp="1" noChangeArrowheads="1"/>
          </p:cNvSpPr>
          <p:nvPr>
            <p:ph type="ftr" sz="quarter" idx="10"/>
          </p:nvPr>
        </p:nvSpPr>
        <p:spPr>
          <a:xfrm>
            <a:off x="814917" y="6400800"/>
            <a:ext cx="7719483" cy="268288"/>
          </a:xfrm>
          <a:prstGeom prst="rect">
            <a:avLst/>
          </a:prstGeom>
        </p:spPr>
        <p:txBody>
          <a:bodyPr tIns="0" bIns="0"/>
          <a:lstStyle>
            <a:lvl1pPr>
              <a:defRPr sz="1200" smtClean="0">
                <a:latin typeface="+mj-lt"/>
                <a:ea typeface="黑体" panose="02010609060101010101" pitchFamily="2" charset="-122"/>
              </a:defRPr>
            </a:lvl1pPr>
          </a:lstStyle>
          <a:p>
            <a:endParaRPr lang="zh-CN" altLang="en-US"/>
          </a:p>
        </p:txBody>
      </p:sp>
      <p:sp>
        <p:nvSpPr>
          <p:cNvPr id="9" name="Slide Number Placeholder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anose="02010609060101010101" pitchFamily="2" charset="-122"/>
              </a:defRPr>
            </a:lvl1pPr>
          </a:lstStyle>
          <a:p>
            <a:fld id="{FD7D2133-84E4-4D49-B786-7B5C0B54D116}" type="slidenum">
              <a:rPr lang="zh-CN" altLang="en-US" smtClean="0"/>
            </a:fld>
            <a:endParaRPr lang="zh-CN" altLang="en-US"/>
          </a:p>
        </p:txBody>
      </p:sp>
      <p:sp>
        <p:nvSpPr>
          <p:cNvPr id="10" name="Line 5"/>
          <p:cNvSpPr>
            <a:spLocks noChangeShapeType="1"/>
          </p:cNvSpPr>
          <p:nvPr/>
        </p:nvSpPr>
        <p:spPr bwMode="auto">
          <a:xfrm flipV="1">
            <a:off x="812800" y="6324600"/>
            <a:ext cx="10566400" cy="0"/>
          </a:xfrm>
          <a:prstGeom prst="line">
            <a:avLst/>
          </a:prstGeom>
          <a:noFill/>
          <a:ln w="3175">
            <a:solidFill>
              <a:srgbClr val="7030A0"/>
            </a:solidFill>
            <a:round/>
          </a:ln>
          <a:effectLst/>
        </p:spPr>
        <p:txBody>
          <a:bodyPr/>
          <a:lstStyle/>
          <a:p>
            <a:pPr>
              <a:defRPr/>
            </a:pPr>
            <a:endParaRPr lang="zh-CN" altLang="en-US" dirty="0">
              <a:ea typeface="黑体" panose="02010609060101010101" pitchFamily="2" charset="-122"/>
            </a:endParaRPr>
          </a:p>
        </p:txBody>
      </p:sp>
      <p:pic>
        <p:nvPicPr>
          <p:cNvPr id="14" name="Picture 1" descr="D:\work\research\tops lab\design\TOpS_logo设计_060909_ws\TOpS_logo_color copy.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97200" y="260350"/>
            <a:ext cx="700088"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1.内容幻灯片_标题和文字">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324600"/>
            <a:ext cx="10566400"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 name="Title 1"/>
          <p:cNvSpPr>
            <a:spLocks noGrp="1"/>
          </p:cNvSpPr>
          <p:nvPr>
            <p:ph type="title"/>
          </p:nvPr>
        </p:nvSpPr>
        <p:spPr>
          <a:xfrm>
            <a:off x="766233" y="188641"/>
            <a:ext cx="10668000" cy="792088"/>
          </a:xfrm>
          <a:prstGeom prst="rect">
            <a:avLst/>
          </a:prstGeom>
        </p:spPr>
        <p:txBody>
          <a:bodyPr/>
          <a:lstStyle>
            <a:lvl1pPr>
              <a:defRPr>
                <a:latin typeface="+mj-lt"/>
              </a:defRPr>
            </a:lvl1pPr>
          </a:lstStyle>
          <a:p>
            <a:r>
              <a:rPr lang="zh-CN" altLang="en-US"/>
              <a:t>单击此处编辑母版标题样式</a:t>
            </a:r>
            <a:endParaRPr lang="zh-CN" altLang="en-US" dirty="0"/>
          </a:p>
        </p:txBody>
      </p:sp>
      <p:sp>
        <p:nvSpPr>
          <p:cNvPr id="3" name="Content Placeholder 2"/>
          <p:cNvSpPr>
            <a:spLocks noGrp="1"/>
          </p:cNvSpPr>
          <p:nvPr>
            <p:ph idx="1"/>
          </p:nvPr>
        </p:nvSpPr>
        <p:spPr>
          <a:xfrm>
            <a:off x="755651" y="1143000"/>
            <a:ext cx="10668000" cy="5104800"/>
          </a:xfrm>
          <a:prstGeom prst="rect">
            <a:avLst/>
          </a:prstGeo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p:txBody>
      </p:sp>
      <p:sp>
        <p:nvSpPr>
          <p:cNvPr id="7" name="Rectangle 7"/>
          <p:cNvSpPr>
            <a:spLocks noGrp="1" noChangeArrowheads="1"/>
          </p:cNvSpPr>
          <p:nvPr>
            <p:ph type="ftr" sz="quarter" idx="10"/>
          </p:nvPr>
        </p:nvSpPr>
        <p:spPr>
          <a:xfrm>
            <a:off x="814917" y="6400800"/>
            <a:ext cx="7719483" cy="268288"/>
          </a:xfrm>
          <a:prstGeom prst="rect">
            <a:avLst/>
          </a:prstGeom>
        </p:spPr>
        <p:txBody>
          <a:bodyPr tIns="0" bIns="0"/>
          <a:lstStyle>
            <a:lvl1pPr>
              <a:defRPr sz="1200" smtClean="0">
                <a:latin typeface="+mj-lt"/>
                <a:ea typeface="黑体" panose="02010609060101010101" pitchFamily="2" charset="-122"/>
              </a:defRPr>
            </a:lvl1pPr>
          </a:lstStyle>
          <a:p>
            <a:endParaRPr lang="zh-CN" altLang="en-US"/>
          </a:p>
        </p:txBody>
      </p:sp>
      <p:sp>
        <p:nvSpPr>
          <p:cNvPr id="8" name="Rectangle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anose="02010609060101010101" pitchFamily="2" charset="-122"/>
              </a:defRPr>
            </a:lvl1pPr>
          </a:lstStyle>
          <a:p>
            <a:fld id="{FD7D2133-84E4-4D49-B786-7B5C0B54D116}" type="slidenum">
              <a:rPr lang="zh-CN" altLang="en-US" smtClean="0"/>
            </a:fld>
            <a:endParaRPr lang="zh-CN" altLang="en-US"/>
          </a:p>
        </p:txBody>
      </p:sp>
      <p:sp>
        <p:nvSpPr>
          <p:cNvPr id="13" name="Line 5"/>
          <p:cNvSpPr>
            <a:spLocks noChangeShapeType="1"/>
          </p:cNvSpPr>
          <p:nvPr/>
        </p:nvSpPr>
        <p:spPr bwMode="auto">
          <a:xfrm flipV="1">
            <a:off x="719400" y="982800"/>
            <a:ext cx="10742498"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Content Placeholder 2"/>
          <p:cNvSpPr>
            <a:spLocks noGrp="1"/>
          </p:cNvSpPr>
          <p:nvPr>
            <p:ph idx="12" hasCustomPrompt="1"/>
          </p:nvPr>
        </p:nvSpPr>
        <p:spPr>
          <a:xfrm>
            <a:off x="812799" y="6053999"/>
            <a:ext cx="10566401" cy="270000"/>
          </a:xfrm>
          <a:prstGeom prst="rect">
            <a:avLst/>
          </a:prstGeom>
        </p:spPr>
        <p:txBody>
          <a:bodyPr/>
          <a:lstStyle>
            <a:lvl1pPr marL="0" indent="0" algn="r">
              <a:buNone/>
              <a:defRPr sz="1200"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sz="1200" dirty="0"/>
              <a:t>Source:</a:t>
            </a:r>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2.1.内容幻灯片_标题和文字">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324600"/>
            <a:ext cx="10566400"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 name="Title 1"/>
          <p:cNvSpPr>
            <a:spLocks noGrp="1"/>
          </p:cNvSpPr>
          <p:nvPr>
            <p:ph type="title"/>
          </p:nvPr>
        </p:nvSpPr>
        <p:spPr>
          <a:xfrm>
            <a:off x="766233" y="188641"/>
            <a:ext cx="10668000" cy="792088"/>
          </a:xfrm>
          <a:prstGeom prst="rect">
            <a:avLst/>
          </a:prstGeom>
        </p:spPr>
        <p:txBody>
          <a:bodyPr/>
          <a:lstStyle>
            <a:lvl1pPr>
              <a:defRPr>
                <a:latin typeface="+mj-lt"/>
              </a:defRPr>
            </a:lvl1pPr>
          </a:lstStyle>
          <a:p>
            <a:r>
              <a:rPr lang="zh-CN" altLang="en-US"/>
              <a:t>单击此处编辑母版标题样式</a:t>
            </a:r>
            <a:endParaRPr lang="zh-CN" altLang="en-US" dirty="0"/>
          </a:p>
        </p:txBody>
      </p:sp>
      <p:sp>
        <p:nvSpPr>
          <p:cNvPr id="3" name="Content Placeholder 2"/>
          <p:cNvSpPr>
            <a:spLocks noGrp="1"/>
          </p:cNvSpPr>
          <p:nvPr>
            <p:ph idx="1"/>
          </p:nvPr>
        </p:nvSpPr>
        <p:spPr>
          <a:xfrm>
            <a:off x="6242304" y="1142999"/>
            <a:ext cx="5181600" cy="5104800"/>
          </a:xfrm>
          <a:prstGeom prst="rect">
            <a:avLst/>
          </a:prstGeo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p:txBody>
      </p:sp>
      <p:sp>
        <p:nvSpPr>
          <p:cNvPr id="7" name="Rectangle 7"/>
          <p:cNvSpPr>
            <a:spLocks noGrp="1" noChangeArrowheads="1"/>
          </p:cNvSpPr>
          <p:nvPr>
            <p:ph type="ftr" sz="quarter" idx="10"/>
          </p:nvPr>
        </p:nvSpPr>
        <p:spPr>
          <a:xfrm>
            <a:off x="814917" y="6400800"/>
            <a:ext cx="7719483" cy="268288"/>
          </a:xfrm>
          <a:prstGeom prst="rect">
            <a:avLst/>
          </a:prstGeom>
        </p:spPr>
        <p:txBody>
          <a:bodyPr tIns="0" bIns="0"/>
          <a:lstStyle>
            <a:lvl1pPr>
              <a:defRPr sz="1200" smtClean="0">
                <a:latin typeface="+mj-lt"/>
                <a:ea typeface="黑体" panose="02010609060101010101" pitchFamily="2" charset="-122"/>
              </a:defRPr>
            </a:lvl1pPr>
          </a:lstStyle>
          <a:p>
            <a:endParaRPr lang="zh-CN" altLang="en-US"/>
          </a:p>
        </p:txBody>
      </p:sp>
      <p:sp>
        <p:nvSpPr>
          <p:cNvPr id="8" name="Rectangle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anose="02010609060101010101" pitchFamily="2" charset="-122"/>
              </a:defRPr>
            </a:lvl1pPr>
          </a:lstStyle>
          <a:p>
            <a:fld id="{FD7D2133-84E4-4D49-B786-7B5C0B54D116}" type="slidenum">
              <a:rPr lang="zh-CN" altLang="en-US" smtClean="0"/>
            </a:fld>
            <a:endParaRPr lang="zh-CN" altLang="en-US"/>
          </a:p>
        </p:txBody>
      </p:sp>
      <p:sp>
        <p:nvSpPr>
          <p:cNvPr id="9" name="Content Placeholder 2"/>
          <p:cNvSpPr>
            <a:spLocks noGrp="1"/>
          </p:cNvSpPr>
          <p:nvPr>
            <p:ph idx="12"/>
          </p:nvPr>
        </p:nvSpPr>
        <p:spPr>
          <a:xfrm>
            <a:off x="754161" y="1142999"/>
            <a:ext cx="5181600" cy="5104800"/>
          </a:xfrm>
          <a:prstGeom prst="rect">
            <a:avLst/>
          </a:prstGeo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p:txBody>
      </p:sp>
      <p:sp>
        <p:nvSpPr>
          <p:cNvPr id="11" name="Line 5"/>
          <p:cNvSpPr>
            <a:spLocks noChangeShapeType="1"/>
          </p:cNvSpPr>
          <p:nvPr/>
        </p:nvSpPr>
        <p:spPr bwMode="auto">
          <a:xfrm flipV="1">
            <a:off x="719399" y="982800"/>
            <a:ext cx="10753131"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Content Placeholder 2"/>
          <p:cNvSpPr>
            <a:spLocks noGrp="1"/>
          </p:cNvSpPr>
          <p:nvPr>
            <p:ph idx="13" hasCustomPrompt="1"/>
          </p:nvPr>
        </p:nvSpPr>
        <p:spPr>
          <a:xfrm>
            <a:off x="812799" y="6053999"/>
            <a:ext cx="10566401" cy="270000"/>
          </a:xfrm>
          <a:prstGeom prst="rect">
            <a:avLst/>
          </a:prstGeom>
        </p:spPr>
        <p:txBody>
          <a:bodyPr/>
          <a:lstStyle>
            <a:lvl1pPr marL="0" indent="0" algn="r">
              <a:buNone/>
              <a:defRPr sz="1200"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sz="1200" dirty="0"/>
              <a:t>Source:</a:t>
            </a:r>
            <a:endParaRPr lang="en-US" altLang="zh-C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_2.1.内容幻灯片_标题和文字">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324600"/>
            <a:ext cx="10566400"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 name="Title 1"/>
          <p:cNvSpPr>
            <a:spLocks noGrp="1"/>
          </p:cNvSpPr>
          <p:nvPr>
            <p:ph type="title"/>
          </p:nvPr>
        </p:nvSpPr>
        <p:spPr>
          <a:xfrm>
            <a:off x="766233" y="188641"/>
            <a:ext cx="10668000" cy="792088"/>
          </a:xfrm>
          <a:prstGeom prst="rect">
            <a:avLst/>
          </a:prstGeom>
        </p:spPr>
        <p:txBody>
          <a:bodyPr/>
          <a:lstStyle>
            <a:lvl1pPr>
              <a:defRPr>
                <a:latin typeface="+mj-lt"/>
              </a:defRPr>
            </a:lvl1pPr>
          </a:lstStyle>
          <a:p>
            <a:r>
              <a:rPr lang="zh-CN" altLang="en-US"/>
              <a:t>单击此处编辑母版标题样式</a:t>
            </a:r>
            <a:endParaRPr lang="zh-CN" altLang="en-US" dirty="0"/>
          </a:p>
        </p:txBody>
      </p:sp>
      <p:sp>
        <p:nvSpPr>
          <p:cNvPr id="3" name="Content Placeholder 2"/>
          <p:cNvSpPr>
            <a:spLocks noGrp="1"/>
          </p:cNvSpPr>
          <p:nvPr>
            <p:ph idx="1"/>
          </p:nvPr>
        </p:nvSpPr>
        <p:spPr>
          <a:xfrm>
            <a:off x="4514400" y="1142999"/>
            <a:ext cx="6908400" cy="5104800"/>
          </a:xfrm>
          <a:prstGeom prst="rect">
            <a:avLst/>
          </a:prstGeo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p:txBody>
      </p:sp>
      <p:sp>
        <p:nvSpPr>
          <p:cNvPr id="7" name="Rectangle 7"/>
          <p:cNvSpPr>
            <a:spLocks noGrp="1" noChangeArrowheads="1"/>
          </p:cNvSpPr>
          <p:nvPr>
            <p:ph type="ftr" sz="quarter" idx="10"/>
          </p:nvPr>
        </p:nvSpPr>
        <p:spPr>
          <a:xfrm>
            <a:off x="814917" y="6400800"/>
            <a:ext cx="7719483" cy="268288"/>
          </a:xfrm>
          <a:prstGeom prst="rect">
            <a:avLst/>
          </a:prstGeom>
        </p:spPr>
        <p:txBody>
          <a:bodyPr tIns="0" bIns="0"/>
          <a:lstStyle>
            <a:lvl1pPr>
              <a:defRPr sz="1200" smtClean="0">
                <a:latin typeface="+mj-lt"/>
                <a:ea typeface="黑体" panose="02010609060101010101" pitchFamily="2" charset="-122"/>
              </a:defRPr>
            </a:lvl1pPr>
          </a:lstStyle>
          <a:p>
            <a:endParaRPr lang="zh-CN" altLang="en-US"/>
          </a:p>
        </p:txBody>
      </p:sp>
      <p:sp>
        <p:nvSpPr>
          <p:cNvPr id="8" name="Rectangle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anose="02010609060101010101" pitchFamily="2" charset="-122"/>
              </a:defRPr>
            </a:lvl1pPr>
          </a:lstStyle>
          <a:p>
            <a:fld id="{FD7D2133-84E4-4D49-B786-7B5C0B54D116}" type="slidenum">
              <a:rPr lang="zh-CN" altLang="en-US" smtClean="0"/>
            </a:fld>
            <a:endParaRPr lang="zh-CN" altLang="en-US"/>
          </a:p>
        </p:txBody>
      </p:sp>
      <p:sp>
        <p:nvSpPr>
          <p:cNvPr id="9" name="Content Placeholder 2"/>
          <p:cNvSpPr>
            <a:spLocks noGrp="1"/>
          </p:cNvSpPr>
          <p:nvPr>
            <p:ph idx="12"/>
          </p:nvPr>
        </p:nvSpPr>
        <p:spPr>
          <a:xfrm>
            <a:off x="754161" y="1142999"/>
            <a:ext cx="3452400" cy="5104800"/>
          </a:xfrm>
          <a:prstGeom prst="rect">
            <a:avLst/>
          </a:prstGeo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p:txBody>
      </p:sp>
      <p:sp>
        <p:nvSpPr>
          <p:cNvPr id="11" name="Line 5"/>
          <p:cNvSpPr>
            <a:spLocks noChangeShapeType="1"/>
          </p:cNvSpPr>
          <p:nvPr/>
        </p:nvSpPr>
        <p:spPr bwMode="auto">
          <a:xfrm flipV="1">
            <a:off x="719400" y="982800"/>
            <a:ext cx="10753130"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Content Placeholder 2"/>
          <p:cNvSpPr>
            <a:spLocks noGrp="1"/>
          </p:cNvSpPr>
          <p:nvPr>
            <p:ph idx="13" hasCustomPrompt="1"/>
          </p:nvPr>
        </p:nvSpPr>
        <p:spPr>
          <a:xfrm>
            <a:off x="812799" y="6053999"/>
            <a:ext cx="10566401" cy="270000"/>
          </a:xfrm>
          <a:prstGeom prst="rect">
            <a:avLst/>
          </a:prstGeom>
        </p:spPr>
        <p:txBody>
          <a:bodyPr/>
          <a:lstStyle>
            <a:lvl1pPr marL="0" indent="0" algn="r">
              <a:buNone/>
              <a:defRPr sz="1200"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sz="1200" dirty="0"/>
              <a:t>Source:</a:t>
            </a:r>
            <a:endParaRPr lang="en-US" altLang="zh-C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2.1.内容幻灯片_标题和文字">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324600"/>
            <a:ext cx="10566400"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 name="Title 1"/>
          <p:cNvSpPr>
            <a:spLocks noGrp="1"/>
          </p:cNvSpPr>
          <p:nvPr>
            <p:ph type="title"/>
          </p:nvPr>
        </p:nvSpPr>
        <p:spPr>
          <a:xfrm>
            <a:off x="766233" y="188641"/>
            <a:ext cx="10668000" cy="792088"/>
          </a:xfrm>
          <a:prstGeom prst="rect">
            <a:avLst/>
          </a:prstGeom>
        </p:spPr>
        <p:txBody>
          <a:bodyPr/>
          <a:lstStyle>
            <a:lvl1pPr>
              <a:defRPr>
                <a:latin typeface="+mj-lt"/>
              </a:defRPr>
            </a:lvl1pPr>
          </a:lstStyle>
          <a:p>
            <a:r>
              <a:rPr lang="zh-CN" altLang="en-US"/>
              <a:t>单击此处编辑母版标题样式</a:t>
            </a:r>
            <a:endParaRPr lang="zh-CN" altLang="en-US" dirty="0"/>
          </a:p>
        </p:txBody>
      </p:sp>
      <p:sp>
        <p:nvSpPr>
          <p:cNvPr id="3" name="Content Placeholder 2"/>
          <p:cNvSpPr>
            <a:spLocks noGrp="1"/>
          </p:cNvSpPr>
          <p:nvPr>
            <p:ph idx="1"/>
          </p:nvPr>
        </p:nvSpPr>
        <p:spPr>
          <a:xfrm>
            <a:off x="7970400" y="1142999"/>
            <a:ext cx="3452400" cy="5104800"/>
          </a:xfrm>
          <a:prstGeom prst="rect">
            <a:avLst/>
          </a:prstGeo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p:txBody>
      </p:sp>
      <p:sp>
        <p:nvSpPr>
          <p:cNvPr id="7" name="Rectangle 7"/>
          <p:cNvSpPr>
            <a:spLocks noGrp="1" noChangeArrowheads="1"/>
          </p:cNvSpPr>
          <p:nvPr>
            <p:ph type="ftr" sz="quarter" idx="10"/>
          </p:nvPr>
        </p:nvSpPr>
        <p:spPr>
          <a:xfrm>
            <a:off x="814917" y="6400800"/>
            <a:ext cx="7719483" cy="268288"/>
          </a:xfrm>
          <a:prstGeom prst="rect">
            <a:avLst/>
          </a:prstGeom>
        </p:spPr>
        <p:txBody>
          <a:bodyPr tIns="0" bIns="0"/>
          <a:lstStyle>
            <a:lvl1pPr>
              <a:defRPr sz="1200" smtClean="0">
                <a:latin typeface="+mj-lt"/>
                <a:ea typeface="黑体" panose="02010609060101010101" pitchFamily="2" charset="-122"/>
              </a:defRPr>
            </a:lvl1pPr>
          </a:lstStyle>
          <a:p>
            <a:endParaRPr lang="zh-CN" altLang="en-US"/>
          </a:p>
        </p:txBody>
      </p:sp>
      <p:sp>
        <p:nvSpPr>
          <p:cNvPr id="8" name="Rectangle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anose="02010609060101010101" pitchFamily="2" charset="-122"/>
              </a:defRPr>
            </a:lvl1pPr>
          </a:lstStyle>
          <a:p>
            <a:fld id="{FD7D2133-84E4-4D49-B786-7B5C0B54D116}" type="slidenum">
              <a:rPr lang="zh-CN" altLang="en-US" smtClean="0"/>
            </a:fld>
            <a:endParaRPr lang="zh-CN" altLang="en-US"/>
          </a:p>
        </p:txBody>
      </p:sp>
      <p:sp>
        <p:nvSpPr>
          <p:cNvPr id="9" name="Content Placeholder 2"/>
          <p:cNvSpPr>
            <a:spLocks noGrp="1"/>
          </p:cNvSpPr>
          <p:nvPr>
            <p:ph idx="12"/>
          </p:nvPr>
        </p:nvSpPr>
        <p:spPr>
          <a:xfrm>
            <a:off x="754161" y="1142999"/>
            <a:ext cx="6908400" cy="5104800"/>
          </a:xfrm>
          <a:prstGeom prst="rect">
            <a:avLst/>
          </a:prstGeo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p:txBody>
      </p:sp>
      <p:sp>
        <p:nvSpPr>
          <p:cNvPr id="11" name="Line 5"/>
          <p:cNvSpPr>
            <a:spLocks noChangeShapeType="1"/>
          </p:cNvSpPr>
          <p:nvPr/>
        </p:nvSpPr>
        <p:spPr bwMode="auto">
          <a:xfrm flipV="1">
            <a:off x="719400" y="982800"/>
            <a:ext cx="10753130"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Content Placeholder 2"/>
          <p:cNvSpPr>
            <a:spLocks noGrp="1"/>
          </p:cNvSpPr>
          <p:nvPr>
            <p:ph idx="13" hasCustomPrompt="1"/>
          </p:nvPr>
        </p:nvSpPr>
        <p:spPr>
          <a:xfrm>
            <a:off x="812799" y="6053999"/>
            <a:ext cx="10566401" cy="270000"/>
          </a:xfrm>
          <a:prstGeom prst="rect">
            <a:avLst/>
          </a:prstGeom>
        </p:spPr>
        <p:txBody>
          <a:bodyPr/>
          <a:lstStyle>
            <a:lvl1pPr marL="0" indent="0" algn="r">
              <a:buNone/>
              <a:defRPr sz="1200"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sz="1200" dirty="0"/>
              <a:t>Source:</a:t>
            </a:r>
            <a:endParaRPr lang="en-US" altLang="zh-C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2.内容幻灯片_仅标题">
    <p:spTree>
      <p:nvGrpSpPr>
        <p:cNvPr id="1" name=""/>
        <p:cNvGrpSpPr/>
        <p:nvPr/>
      </p:nvGrpSpPr>
      <p:grpSpPr>
        <a:xfrm>
          <a:off x="0" y="0"/>
          <a:ext cx="0" cy="0"/>
          <a:chOff x="0" y="0"/>
          <a:chExt cx="0" cy="0"/>
        </a:xfrm>
      </p:grpSpPr>
      <p:sp>
        <p:nvSpPr>
          <p:cNvPr id="3" name="Line 5"/>
          <p:cNvSpPr>
            <a:spLocks noChangeShapeType="1"/>
          </p:cNvSpPr>
          <p:nvPr/>
        </p:nvSpPr>
        <p:spPr bwMode="auto">
          <a:xfrm flipV="1">
            <a:off x="812800" y="6324600"/>
            <a:ext cx="10566400"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sz="1200"/>
          </a:p>
        </p:txBody>
      </p:sp>
      <p:sp>
        <p:nvSpPr>
          <p:cNvPr id="2" name="Title 1"/>
          <p:cNvSpPr>
            <a:spLocks noGrp="1"/>
          </p:cNvSpPr>
          <p:nvPr>
            <p:ph type="title"/>
          </p:nvPr>
        </p:nvSpPr>
        <p:spPr>
          <a:xfrm>
            <a:off x="766233" y="188641"/>
            <a:ext cx="10668000" cy="792088"/>
          </a:xfrm>
          <a:prstGeom prst="rect">
            <a:avLst/>
          </a:prstGeom>
        </p:spPr>
        <p:txBody>
          <a:bodyPr/>
          <a:lstStyle>
            <a:lvl1pPr>
              <a:defRPr>
                <a:latin typeface="+mj-lt"/>
              </a:defRPr>
            </a:lvl1pPr>
          </a:lstStyle>
          <a:p>
            <a:r>
              <a:rPr lang="zh-CN" altLang="en-US"/>
              <a:t>单击此处编辑母版标题样式</a:t>
            </a:r>
            <a:endParaRPr lang="zh-CN" altLang="en-US" dirty="0"/>
          </a:p>
        </p:txBody>
      </p:sp>
      <p:sp>
        <p:nvSpPr>
          <p:cNvPr id="8" name="Footer Placeholder 7"/>
          <p:cNvSpPr>
            <a:spLocks noGrp="1" noChangeArrowheads="1"/>
          </p:cNvSpPr>
          <p:nvPr>
            <p:ph type="ftr" sz="quarter" idx="10"/>
          </p:nvPr>
        </p:nvSpPr>
        <p:spPr>
          <a:xfrm>
            <a:off x="814917" y="6400800"/>
            <a:ext cx="7719483" cy="268288"/>
          </a:xfrm>
          <a:prstGeom prst="rect">
            <a:avLst/>
          </a:prstGeom>
        </p:spPr>
        <p:txBody>
          <a:bodyPr tIns="0" bIns="0"/>
          <a:lstStyle>
            <a:lvl1pPr>
              <a:defRPr sz="1200" smtClean="0">
                <a:latin typeface="+mj-lt"/>
                <a:ea typeface="黑体" panose="02010609060101010101" pitchFamily="2" charset="-122"/>
              </a:defRPr>
            </a:lvl1pPr>
          </a:lstStyle>
          <a:p>
            <a:endParaRPr lang="zh-CN" altLang="en-US"/>
          </a:p>
        </p:txBody>
      </p:sp>
      <p:sp>
        <p:nvSpPr>
          <p:cNvPr id="9" name="Slide Number Placeholder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anose="02010609060101010101" pitchFamily="2" charset="-122"/>
              </a:defRPr>
            </a:lvl1pPr>
          </a:lstStyle>
          <a:p>
            <a:fld id="{FD7D2133-84E4-4D49-B786-7B5C0B54D116}" type="slidenum">
              <a:rPr lang="zh-CN" altLang="en-US" smtClean="0"/>
            </a:fld>
            <a:endParaRPr lang="zh-CN" altLang="en-US"/>
          </a:p>
        </p:txBody>
      </p:sp>
      <p:sp>
        <p:nvSpPr>
          <p:cNvPr id="10" name="Line 5"/>
          <p:cNvSpPr>
            <a:spLocks noChangeShapeType="1"/>
          </p:cNvSpPr>
          <p:nvPr/>
        </p:nvSpPr>
        <p:spPr bwMode="auto">
          <a:xfrm flipV="1">
            <a:off x="719400" y="982800"/>
            <a:ext cx="10753130"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Content Placeholder 2"/>
          <p:cNvSpPr>
            <a:spLocks noGrp="1"/>
          </p:cNvSpPr>
          <p:nvPr>
            <p:ph idx="12" hasCustomPrompt="1"/>
          </p:nvPr>
        </p:nvSpPr>
        <p:spPr>
          <a:xfrm>
            <a:off x="812799" y="6053999"/>
            <a:ext cx="10566401" cy="270000"/>
          </a:xfrm>
          <a:prstGeom prst="rect">
            <a:avLst/>
          </a:prstGeom>
        </p:spPr>
        <p:txBody>
          <a:bodyPr/>
          <a:lstStyle>
            <a:lvl1pPr marL="0" indent="0" algn="r">
              <a:buNone/>
              <a:defRPr sz="1200"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sz="1200" dirty="0"/>
              <a:t>Source:</a:t>
            </a:r>
            <a:endParaRPr lang="en-US" altLang="zh-C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7D2133-84E4-4D49-B786-7B5C0B54D11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2051" name="Rectangle 3"/>
          <p:cNvSpPr>
            <a:spLocks noGrp="1" noChangeArrowheads="1"/>
          </p:cNvSpPr>
          <p:nvPr>
            <p:ph type="body" idx="1"/>
          </p:nvPr>
        </p:nvSpPr>
        <p:spPr bwMode="auto">
          <a:xfrm>
            <a:off x="755651" y="1524000"/>
            <a:ext cx="10668000" cy="449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lvl1pPr algn="l" rtl="0" eaLnBrk="1" fontAlgn="base" hangingPunct="1">
        <a:spcBef>
          <a:spcPct val="0"/>
        </a:spcBef>
        <a:spcAft>
          <a:spcPct val="0"/>
        </a:spcAft>
        <a:defRPr sz="2800">
          <a:solidFill>
            <a:schemeClr val="tx2"/>
          </a:solidFill>
          <a:latin typeface="+mj-lt"/>
          <a:ea typeface="黑体" panose="02010609060101010101" pitchFamily="2" charset="-122"/>
          <a:cs typeface="+mj-cs"/>
        </a:defRPr>
      </a:lvl1pPr>
      <a:lvl2pPr algn="l" rtl="0" eaLnBrk="1" fontAlgn="base" hangingPunct="1">
        <a:spcBef>
          <a:spcPct val="0"/>
        </a:spcBef>
        <a:spcAft>
          <a:spcPct val="0"/>
        </a:spcAft>
        <a:defRPr sz="3200">
          <a:solidFill>
            <a:schemeClr val="tx2"/>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3200">
          <a:solidFill>
            <a:schemeClr val="tx2"/>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3200">
          <a:solidFill>
            <a:schemeClr val="tx2"/>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3200">
          <a:solidFill>
            <a:schemeClr val="tx2"/>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38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8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8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800">
          <a:solidFill>
            <a:schemeClr val="tx2"/>
          </a:solidFill>
          <a:latin typeface="Arial" panose="020B0604020202020204" pitchFamily="34" charset="0"/>
          <a:ea typeface="宋体" panose="02010600030101010101" pitchFamily="2" charset="-122"/>
        </a:defRPr>
      </a:lvl9pPr>
    </p:titleStyle>
    <p:bodyStyle>
      <a:lvl1pPr marL="469900" indent="-469900" algn="l" rtl="0" eaLnBrk="1" fontAlgn="base" hangingPunct="1">
        <a:spcBef>
          <a:spcPct val="20000"/>
        </a:spcBef>
        <a:spcAft>
          <a:spcPct val="0"/>
        </a:spcAft>
        <a:buClr>
          <a:srgbClr val="7030A0"/>
        </a:buClr>
        <a:buFont typeface="Wingdings" panose="05000000000000000000" pitchFamily="2" charset="2"/>
        <a:buChar char="o"/>
        <a:defRPr sz="2400">
          <a:solidFill>
            <a:schemeClr val="tx1"/>
          </a:solidFill>
          <a:latin typeface="+mn-lt"/>
          <a:ea typeface="黑体" panose="02010609060101010101" pitchFamily="2" charset="-122"/>
          <a:cs typeface="+mn-cs"/>
        </a:defRPr>
      </a:lvl1pPr>
      <a:lvl2pPr marL="908050" indent="-436880" algn="l" rtl="0" eaLnBrk="1" fontAlgn="base" hangingPunct="1">
        <a:spcBef>
          <a:spcPct val="20000"/>
        </a:spcBef>
        <a:spcAft>
          <a:spcPct val="0"/>
        </a:spcAft>
        <a:buClr>
          <a:srgbClr val="7030A0"/>
        </a:buClr>
        <a:buFont typeface="Wingdings" panose="05000000000000000000" pitchFamily="2" charset="2"/>
        <a:buChar char="n"/>
        <a:defRPr sz="2000">
          <a:solidFill>
            <a:schemeClr val="tx1"/>
          </a:solidFill>
          <a:latin typeface="+mn-lt"/>
          <a:ea typeface="黑体" panose="02010609060101010101" pitchFamily="2" charset="-122"/>
        </a:defRPr>
      </a:lvl2pPr>
      <a:lvl3pPr marL="1304925" indent="-395605" algn="l" rtl="0" eaLnBrk="1" fontAlgn="base" hangingPunct="1">
        <a:spcBef>
          <a:spcPct val="20000"/>
        </a:spcBef>
        <a:spcAft>
          <a:spcPct val="0"/>
        </a:spcAft>
        <a:buClr>
          <a:srgbClr val="7030A0"/>
        </a:buClr>
        <a:buFont typeface="Wingdings" panose="05000000000000000000" pitchFamily="2" charset="2"/>
        <a:buChar char="o"/>
        <a:defRPr sz="1800">
          <a:solidFill>
            <a:schemeClr val="tx1"/>
          </a:solidFill>
          <a:latin typeface="+mn-lt"/>
          <a:ea typeface="黑体" panose="02010609060101010101" pitchFamily="2" charset="-122"/>
        </a:defRPr>
      </a:lvl3pPr>
      <a:lvl4pPr marL="1694180" indent="-387350" algn="l" rtl="0" eaLnBrk="1" fontAlgn="base" hangingPunct="1">
        <a:spcBef>
          <a:spcPct val="20000"/>
        </a:spcBef>
        <a:spcAft>
          <a:spcPct val="0"/>
        </a:spcAft>
        <a:buClr>
          <a:srgbClr val="7030A0"/>
        </a:buClr>
        <a:buFont typeface="Wingdings" panose="05000000000000000000" pitchFamily="2" charset="2"/>
        <a:buChar char="n"/>
        <a:defRPr>
          <a:solidFill>
            <a:schemeClr val="tx1"/>
          </a:solidFill>
          <a:latin typeface="+mn-lt"/>
          <a:ea typeface="黑体" panose="02010609060101010101" pitchFamily="2" charset="-122"/>
        </a:defRPr>
      </a:lvl4pPr>
      <a:lvl5pPr marL="2094230" indent="-398780" algn="l" rtl="0" eaLnBrk="1" fontAlgn="base" hangingPunct="1">
        <a:spcBef>
          <a:spcPct val="25000"/>
        </a:spcBef>
        <a:spcAft>
          <a:spcPct val="0"/>
        </a:spcAft>
        <a:buClr>
          <a:srgbClr val="7030A0"/>
        </a:buClr>
        <a:buFont typeface="Wingdings" panose="05000000000000000000" pitchFamily="2" charset="2"/>
        <a:buChar char="§"/>
        <a:defRPr>
          <a:solidFill>
            <a:schemeClr val="tx1"/>
          </a:solidFill>
          <a:latin typeface="+mn-lt"/>
          <a:ea typeface="黑体" panose="02010609060101010101" pitchFamily="2" charset="-122"/>
        </a:defRPr>
      </a:lvl5pPr>
      <a:lvl6pPr marL="25514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160658" y="1530387"/>
            <a:ext cx="9826473" cy="1467112"/>
          </a:xfrm>
        </p:spPr>
        <p:txBody>
          <a:bodyPr/>
          <a:lstStyle/>
          <a:p>
            <a:pPr algn="ctr"/>
            <a:r>
              <a:rPr lang="zh-CN" altLang="en-US" sz="3200" dirty="0"/>
              <a:t>考虑订单随机到达与取消</a:t>
            </a:r>
            <a:r>
              <a:rPr lang="zh-CN" altLang="en-US" sz="3200" dirty="0" smtClean="0"/>
              <a:t>的</a:t>
            </a:r>
            <a:r>
              <a:rPr lang="en-US" altLang="zh-CN" sz="3200" dirty="0" smtClean="0">
                <a:latin typeface="宋体" panose="02010600030101010101" pitchFamily="2" charset="-122"/>
                <a:ea typeface="宋体" panose="02010600030101010101" pitchFamily="2" charset="-122"/>
              </a:rPr>
              <a:t>××</a:t>
            </a:r>
            <a:r>
              <a:rPr lang="zh-CN" altLang="en-US" sz="3200" dirty="0" smtClean="0"/>
              <a:t>策略研究</a:t>
            </a:r>
            <a:endParaRPr lang="zh-CN" altLang="en-US" sz="3200" dirty="0"/>
          </a:p>
        </p:txBody>
      </p:sp>
      <p:sp>
        <p:nvSpPr>
          <p:cNvPr id="5" name="内容占位符 4"/>
          <p:cNvSpPr>
            <a:spLocks noGrp="1"/>
          </p:cNvSpPr>
          <p:nvPr>
            <p:ph sz="quarter" idx="10"/>
          </p:nvPr>
        </p:nvSpPr>
        <p:spPr>
          <a:xfrm>
            <a:off x="1114359" y="3147237"/>
            <a:ext cx="10174816" cy="1951545"/>
          </a:xfrm>
        </p:spPr>
        <p:txBody>
          <a:bodyPr/>
          <a:lstStyle/>
          <a:p>
            <a:pPr algn="ctr"/>
            <a:r>
              <a:rPr lang="zh-CN" altLang="en-US" dirty="0" smtClean="0">
                <a:latin typeface="Times New Roman" panose="02020603050405020304" pitchFamily="18" charset="0"/>
              </a:rPr>
              <a:t>第</a:t>
            </a:r>
            <a:r>
              <a:rPr lang="en-US" altLang="zh-CN" dirty="0">
                <a:latin typeface="Times New Roman" panose="02020603050405020304" pitchFamily="18" charset="0"/>
              </a:rPr>
              <a:t>×</a:t>
            </a:r>
            <a:r>
              <a:rPr lang="zh-CN" altLang="en-US" dirty="0" smtClean="0">
                <a:latin typeface="Times New Roman" panose="02020603050405020304" pitchFamily="18" charset="0"/>
              </a:rPr>
              <a:t>组：</a:t>
            </a:r>
            <a:r>
              <a:rPr lang="en-US" altLang="zh-CN" dirty="0">
                <a:latin typeface="Times New Roman" panose="02020603050405020304" pitchFamily="18" charset="0"/>
              </a:rPr>
              <a:t>××× </a:t>
            </a:r>
            <a:r>
              <a:rPr lang="zh-CN" altLang="en-US" dirty="0" smtClean="0">
                <a:latin typeface="Times New Roman" panose="02020603050405020304" pitchFamily="18" charset="0"/>
              </a:rPr>
              <a:t>，</a:t>
            </a:r>
            <a:r>
              <a:rPr lang="en-US" altLang="zh-CN" dirty="0">
                <a:latin typeface="Times New Roman" panose="02020603050405020304" pitchFamily="18" charset="0"/>
              </a:rPr>
              <a:t>××× </a:t>
            </a:r>
            <a:r>
              <a:rPr lang="zh-CN" altLang="en-US" dirty="0" smtClean="0">
                <a:latin typeface="Times New Roman" panose="02020603050405020304" pitchFamily="18" charset="0"/>
              </a:rPr>
              <a:t>，</a:t>
            </a:r>
            <a:r>
              <a:rPr lang="en-US" altLang="zh-CN" dirty="0">
                <a:latin typeface="Times New Roman" panose="02020603050405020304" pitchFamily="18" charset="0"/>
              </a:rPr>
              <a:t>×××</a:t>
            </a:r>
            <a:endParaRPr lang="en-US" altLang="zh-CN" dirty="0" smtClean="0">
              <a:latin typeface="Times New Roman" panose="02020603050405020304" pitchFamily="18" charset="0"/>
            </a:endParaRPr>
          </a:p>
          <a:p>
            <a:pPr algn="ctr"/>
            <a:r>
              <a:rPr lang="zh-CN" altLang="en-US" dirty="0" smtClean="0">
                <a:latin typeface="Times New Roman" panose="02020603050405020304" pitchFamily="18" charset="0"/>
              </a:rPr>
              <a:t>指导老师：</a:t>
            </a:r>
            <a:r>
              <a:rPr lang="en-US" altLang="zh-CN" dirty="0">
                <a:latin typeface="Times New Roman" panose="02020603050405020304" pitchFamily="18" charset="0"/>
              </a:rPr>
              <a:t> </a:t>
            </a:r>
            <a:r>
              <a:rPr lang="en-US" altLang="zh-CN" dirty="0" smtClean="0">
                <a:latin typeface="Times New Roman" panose="02020603050405020304" pitchFamily="18" charset="0"/>
              </a:rPr>
              <a:t>××</a:t>
            </a:r>
            <a:r>
              <a:rPr lang="en-US" altLang="zh-CN" dirty="0">
                <a:latin typeface="Times New Roman" panose="02020603050405020304" pitchFamily="18" charset="0"/>
              </a:rPr>
              <a:t> </a:t>
            </a:r>
            <a:r>
              <a:rPr lang="en-US" altLang="zh-CN" dirty="0" smtClean="0">
                <a:latin typeface="Times New Roman" panose="02020603050405020304" pitchFamily="18" charset="0"/>
              </a:rPr>
              <a:t>×</a:t>
            </a:r>
            <a:endParaRPr lang="en-US" altLang="zh-CN" dirty="0" smtClean="0">
              <a:latin typeface="Times New Roman" panose="02020603050405020304" pitchFamily="18" charset="0"/>
            </a:endParaRPr>
          </a:p>
          <a:p>
            <a:pPr algn="ctr"/>
            <a:r>
              <a:rPr lang="en-US" altLang="zh-CN" dirty="0" smtClean="0">
                <a:latin typeface="Times New Roman" panose="02020603050405020304" pitchFamily="18" charset="0"/>
              </a:rPr>
              <a:t>2023</a:t>
            </a:r>
            <a:r>
              <a:rPr lang="zh-CN" altLang="en-US" dirty="0" smtClean="0">
                <a:latin typeface="Times New Roman" panose="02020603050405020304" pitchFamily="18" charset="0"/>
              </a:rPr>
              <a:t>年</a:t>
            </a:r>
            <a:r>
              <a:rPr lang="en-US" altLang="zh-CN" dirty="0">
                <a:latin typeface="Times New Roman" panose="02020603050405020304" pitchFamily="18" charset="0"/>
              </a:rPr>
              <a:t>×</a:t>
            </a:r>
            <a:r>
              <a:rPr lang="zh-CN" altLang="en-US" dirty="0" smtClean="0">
                <a:latin typeface="Times New Roman" panose="02020603050405020304" pitchFamily="18" charset="0"/>
              </a:rPr>
              <a:t>月</a:t>
            </a:r>
            <a:r>
              <a:rPr lang="en-US" altLang="zh-CN" dirty="0">
                <a:latin typeface="Times New Roman" panose="02020603050405020304" pitchFamily="18" charset="0"/>
              </a:rPr>
              <a:t>×</a:t>
            </a:r>
            <a:r>
              <a:rPr lang="zh-CN" altLang="en-US" dirty="0" smtClean="0">
                <a:latin typeface="Times New Roman" panose="02020603050405020304" pitchFamily="18" charset="0"/>
              </a:rPr>
              <a:t>日</a:t>
            </a:r>
            <a:endParaRPr lang="en-US" altLang="zh-CN" dirty="0">
              <a:latin typeface="Times New Roman" panose="02020603050405020304" pitchFamily="18" charset="0"/>
            </a:endParaRPr>
          </a:p>
        </p:txBody>
      </p:sp>
      <p:sp>
        <p:nvSpPr>
          <p:cNvPr id="6" name="TextBox 5"/>
          <p:cNvSpPr txBox="1"/>
          <p:nvPr/>
        </p:nvSpPr>
        <p:spPr>
          <a:xfrm>
            <a:off x="4790247" y="829354"/>
            <a:ext cx="6853158" cy="1015663"/>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pPr algn="just"/>
            <a:r>
              <a:rPr lang="zh-CN" altLang="en-US" sz="2000" dirty="0" smtClean="0">
                <a:solidFill>
                  <a:srgbClr val="FF0000"/>
                </a:solidFill>
                <a:latin typeface="黑体" panose="02010609060101010101" pitchFamily="2" charset="-122"/>
                <a:ea typeface="黑体" panose="02010609060101010101" pitchFamily="2" charset="-122"/>
              </a:rPr>
              <a:t>首页应包含：所选题目、小组及成员、指导老师、汇报日期</a:t>
            </a:r>
            <a:endParaRPr lang="en-US" altLang="zh-CN" sz="2000" dirty="0" smtClean="0">
              <a:solidFill>
                <a:srgbClr val="FF0000"/>
              </a:solidFill>
              <a:latin typeface="黑体" panose="02010609060101010101" pitchFamily="2" charset="-122"/>
              <a:ea typeface="黑体" panose="02010609060101010101" pitchFamily="2" charset="-122"/>
            </a:endParaRPr>
          </a:p>
          <a:p>
            <a:pPr algn="just"/>
            <a:r>
              <a:rPr lang="en-US" altLang="zh-CN" sz="2000" dirty="0" smtClean="0">
                <a:solidFill>
                  <a:srgbClr val="0000FF"/>
                </a:solidFill>
                <a:latin typeface="黑体" panose="02010609060101010101" pitchFamily="2" charset="-122"/>
                <a:ea typeface="黑体" panose="02010609060101010101" pitchFamily="2" charset="-122"/>
              </a:rPr>
              <a:t>PPT</a:t>
            </a:r>
            <a:r>
              <a:rPr lang="zh-CN" altLang="en-US" sz="2000" dirty="0" smtClean="0">
                <a:solidFill>
                  <a:srgbClr val="0000FF"/>
                </a:solidFill>
                <a:latin typeface="黑体" panose="02010609060101010101" pitchFamily="2" charset="-122"/>
                <a:ea typeface="黑体" panose="02010609060101010101" pitchFamily="2" charset="-122"/>
              </a:rPr>
              <a:t>版式及风格不限，可根据各小组喜好自由选择</a:t>
            </a:r>
            <a:endParaRPr lang="en-US" altLang="zh-CN" sz="2000" dirty="0" smtClean="0">
              <a:solidFill>
                <a:srgbClr val="0000FF"/>
              </a:solidFill>
              <a:latin typeface="黑体" panose="02010609060101010101" pitchFamily="2" charset="-122"/>
              <a:ea typeface="黑体" panose="02010609060101010101" pitchFamily="2" charset="-122"/>
            </a:endParaRPr>
          </a:p>
          <a:p>
            <a:pPr algn="just"/>
            <a:r>
              <a:rPr lang="en-US" altLang="zh-CN" sz="2000" dirty="0" smtClean="0">
                <a:solidFill>
                  <a:srgbClr val="FF0000"/>
                </a:solidFill>
                <a:latin typeface="黑体" panose="02010609060101010101" pitchFamily="2" charset="-122"/>
                <a:ea typeface="黑体" panose="02010609060101010101" pitchFamily="2" charset="-122"/>
              </a:rPr>
              <a:t>PPT</a:t>
            </a:r>
            <a:r>
              <a:rPr lang="zh-CN" altLang="en-US" sz="2000" dirty="0" smtClean="0">
                <a:solidFill>
                  <a:srgbClr val="FF0000"/>
                </a:solidFill>
                <a:latin typeface="黑体" panose="02010609060101010101" pitchFamily="2" charset="-122"/>
                <a:ea typeface="黑体" panose="02010609060101010101" pitchFamily="2" charset="-122"/>
              </a:rPr>
              <a:t>主要内容不超过</a:t>
            </a:r>
            <a:r>
              <a:rPr lang="en-US" altLang="zh-CN" sz="2000" dirty="0" smtClean="0">
                <a:solidFill>
                  <a:srgbClr val="FF0000"/>
                </a:solidFill>
                <a:latin typeface="黑体" panose="02010609060101010101" pitchFamily="2" charset="-122"/>
                <a:ea typeface="黑体" panose="02010609060101010101" pitchFamily="2" charset="-122"/>
              </a:rPr>
              <a:t>10</a:t>
            </a:r>
            <a:r>
              <a:rPr lang="zh-CN" altLang="en-US" sz="2000" dirty="0" smtClean="0">
                <a:solidFill>
                  <a:srgbClr val="FF0000"/>
                </a:solidFill>
                <a:latin typeface="黑体" panose="02010609060101010101" pitchFamily="2" charset="-122"/>
                <a:ea typeface="黑体" panose="02010609060101010101" pitchFamily="2" charset="-122"/>
              </a:rPr>
              <a:t>页</a:t>
            </a:r>
            <a:endParaRPr lang="zh-CN" altLang="en-US" sz="2000" dirty="0">
              <a:solidFill>
                <a:srgbClr val="FF0000"/>
              </a:solidFill>
              <a:latin typeface="黑体" panose="02010609060101010101" pitchFamily="2" charset="-122"/>
              <a:ea typeface="黑体" panose="0201060906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汇报提纲</a:t>
            </a:r>
            <a:endParaRPr lang="zh-CN" altLang="en-US" dirty="0"/>
          </a:p>
        </p:txBody>
      </p:sp>
      <p:sp>
        <p:nvSpPr>
          <p:cNvPr id="7" name="内容占位符 6"/>
          <p:cNvSpPr>
            <a:spLocks noGrp="1"/>
          </p:cNvSpPr>
          <p:nvPr>
            <p:ph idx="1"/>
          </p:nvPr>
        </p:nvSpPr>
        <p:spPr/>
        <p:txBody>
          <a:bodyPr/>
          <a:lstStyle/>
          <a:p>
            <a:pPr marL="539750" indent="-539750">
              <a:spcBef>
                <a:spcPts val="600"/>
              </a:spcBef>
              <a:spcAft>
                <a:spcPts val="600"/>
              </a:spcAft>
              <a:buFont typeface="+mj-lt"/>
              <a:buAutoNum type="arabicPeriod"/>
            </a:pPr>
            <a:r>
              <a:rPr lang="zh-CN" altLang="en-US" dirty="0">
                <a:latin typeface="黑体" panose="02010609060101010101" pitchFamily="2" charset="-122"/>
                <a:ea typeface="黑体" panose="02010609060101010101" pitchFamily="2" charset="-122"/>
              </a:rPr>
              <a:t>课题</a:t>
            </a:r>
            <a:r>
              <a:rPr lang="zh-CN" altLang="en-US" dirty="0" smtClean="0">
                <a:latin typeface="黑体" panose="02010609060101010101" pitchFamily="2" charset="-122"/>
                <a:ea typeface="黑体" panose="02010609060101010101" pitchFamily="2" charset="-122"/>
              </a:rPr>
              <a:t>背景</a:t>
            </a:r>
            <a:endParaRPr lang="en-US" altLang="zh-CN" dirty="0" smtClean="0">
              <a:latin typeface="黑体" panose="02010609060101010101" pitchFamily="2" charset="-122"/>
              <a:ea typeface="黑体" panose="02010609060101010101" pitchFamily="2" charset="-122"/>
            </a:endParaRPr>
          </a:p>
          <a:p>
            <a:pPr marL="539750" indent="-539750">
              <a:spcBef>
                <a:spcPts val="600"/>
              </a:spcBef>
              <a:spcAft>
                <a:spcPts val="600"/>
              </a:spcAft>
              <a:buFont typeface="+mj-lt"/>
              <a:buAutoNum type="arabicPeriod"/>
            </a:pPr>
            <a:r>
              <a:rPr lang="zh-CN" altLang="en-US" dirty="0" smtClean="0">
                <a:latin typeface="黑体" panose="02010609060101010101" pitchFamily="2" charset="-122"/>
                <a:ea typeface="黑体" panose="02010609060101010101" pitchFamily="2" charset="-122"/>
              </a:rPr>
              <a:t>研究内容</a:t>
            </a:r>
            <a:endParaRPr lang="en-US" altLang="zh-CN" dirty="0">
              <a:latin typeface="黑体" panose="02010609060101010101" pitchFamily="2" charset="-122"/>
              <a:ea typeface="黑体" panose="02010609060101010101" pitchFamily="2" charset="-122"/>
            </a:endParaRPr>
          </a:p>
          <a:p>
            <a:pPr marL="539750" indent="-539750">
              <a:spcBef>
                <a:spcPts val="600"/>
              </a:spcBef>
              <a:spcAft>
                <a:spcPts val="600"/>
              </a:spcAft>
              <a:buFont typeface="+mj-lt"/>
              <a:buAutoNum type="arabicPeriod"/>
            </a:pPr>
            <a:r>
              <a:rPr lang="zh-CN" altLang="en-US" dirty="0" smtClean="0">
                <a:latin typeface="黑体" panose="02010609060101010101" pitchFamily="2" charset="-122"/>
                <a:ea typeface="黑体" panose="02010609060101010101" pitchFamily="2" charset="-122"/>
              </a:rPr>
              <a:t>文献</a:t>
            </a:r>
            <a:r>
              <a:rPr lang="zh-CN" altLang="en-US" dirty="0">
                <a:latin typeface="黑体" panose="02010609060101010101" pitchFamily="2" charset="-122"/>
                <a:ea typeface="黑体" panose="02010609060101010101" pitchFamily="2" charset="-122"/>
              </a:rPr>
              <a:t>调研</a:t>
            </a:r>
            <a:endParaRPr lang="en-US" altLang="zh-CN" dirty="0">
              <a:latin typeface="黑体" panose="02010609060101010101" pitchFamily="2" charset="-122"/>
              <a:ea typeface="黑体" panose="02010609060101010101" pitchFamily="2" charset="-122"/>
            </a:endParaRPr>
          </a:p>
          <a:p>
            <a:pPr marL="539750" indent="-539750">
              <a:spcBef>
                <a:spcPts val="600"/>
              </a:spcBef>
              <a:spcAft>
                <a:spcPts val="600"/>
              </a:spcAft>
              <a:buFont typeface="+mj-lt"/>
              <a:buAutoNum type="arabicPeriod"/>
            </a:pPr>
            <a:r>
              <a:rPr lang="zh-CN" altLang="en-US" dirty="0" smtClean="0">
                <a:latin typeface="黑体" panose="02010609060101010101" pitchFamily="2" charset="-122"/>
                <a:ea typeface="黑体" panose="02010609060101010101" pitchFamily="2" charset="-122"/>
              </a:rPr>
              <a:t>实施方案</a:t>
            </a:r>
            <a:endParaRPr lang="en-US" altLang="zh-CN" dirty="0">
              <a:latin typeface="黑体" panose="02010609060101010101" pitchFamily="2" charset="-122"/>
              <a:ea typeface="黑体" panose="02010609060101010101" pitchFamily="2" charset="-122"/>
            </a:endParaRPr>
          </a:p>
          <a:p>
            <a:pPr marL="539750" indent="-539750">
              <a:spcBef>
                <a:spcPts val="600"/>
              </a:spcBef>
              <a:spcAft>
                <a:spcPts val="600"/>
              </a:spcAft>
              <a:buFont typeface="+mj-lt"/>
              <a:buAutoNum type="arabicPeriod"/>
            </a:pPr>
            <a:r>
              <a:rPr lang="zh-CN" altLang="en-US" dirty="0" smtClean="0">
                <a:latin typeface="黑体" panose="02010609060101010101" pitchFamily="2" charset="-122"/>
                <a:ea typeface="黑体" panose="02010609060101010101" pitchFamily="2" charset="-122"/>
              </a:rPr>
              <a:t>进度</a:t>
            </a:r>
            <a:r>
              <a:rPr lang="zh-CN" altLang="en-US" dirty="0">
                <a:latin typeface="黑体" panose="02010609060101010101" pitchFamily="2" charset="-122"/>
                <a:ea typeface="黑体" panose="02010609060101010101" pitchFamily="2" charset="-122"/>
              </a:rPr>
              <a:t>计划</a:t>
            </a:r>
            <a:endParaRPr lang="en-US" altLang="zh-CN" dirty="0">
              <a:latin typeface="黑体" panose="02010609060101010101" pitchFamily="2" charset="-122"/>
              <a:ea typeface="黑体" panose="02010609060101010101" pitchFamily="2" charset="-122"/>
            </a:endParaRPr>
          </a:p>
        </p:txBody>
      </p:sp>
      <p:sp>
        <p:nvSpPr>
          <p:cNvPr id="3" name="灯片编号占位符 2"/>
          <p:cNvSpPr>
            <a:spLocks noGrp="1"/>
          </p:cNvSpPr>
          <p:nvPr>
            <p:ph type="sldNum" sz="quarter" idx="11"/>
          </p:nvPr>
        </p:nvSpPr>
        <p:spPr/>
        <p:txBody>
          <a:bodyPr/>
          <a:lstStyle/>
          <a:p>
            <a:fld id="{FD7D2133-84E4-4D49-B786-7B5C0B54D116}" type="slidenum">
              <a:rPr lang="zh-CN" altLang="en-US" smtClean="0"/>
            </a:fld>
            <a:endParaRPr lang="zh-CN" altLang="en-US"/>
          </a:p>
        </p:txBody>
      </p:sp>
      <p:sp>
        <p:nvSpPr>
          <p:cNvPr id="8" name="内容占位符 7"/>
          <p:cNvSpPr>
            <a:spLocks noGrp="1"/>
          </p:cNvSpPr>
          <p:nvPr>
            <p:ph idx="12"/>
          </p:nvPr>
        </p:nvSpPr>
        <p:spPr/>
        <p:txBody>
          <a:bodyPr/>
          <a:lstStyle/>
          <a:p>
            <a:endParaRPr lang="zh-CN" altLang="en-US"/>
          </a:p>
        </p:txBody>
      </p:sp>
      <p:sp>
        <p:nvSpPr>
          <p:cNvPr id="6" name="TextBox 5"/>
          <p:cNvSpPr txBox="1"/>
          <p:nvPr/>
        </p:nvSpPr>
        <p:spPr>
          <a:xfrm>
            <a:off x="5762027" y="1307808"/>
            <a:ext cx="5667973"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000" dirty="0" smtClean="0">
                <a:solidFill>
                  <a:srgbClr val="FF0000"/>
                </a:solidFill>
                <a:latin typeface="黑体" panose="02010609060101010101" pitchFamily="2" charset="-122"/>
                <a:ea typeface="黑体" panose="02010609060101010101" pitchFamily="2" charset="-122"/>
              </a:rPr>
              <a:t>本页列出开题汇报的内容提纲，大体包含这</a:t>
            </a:r>
            <a:r>
              <a:rPr lang="en-US" altLang="zh-CN" sz="2000" dirty="0" smtClean="0">
                <a:solidFill>
                  <a:srgbClr val="FF0000"/>
                </a:solidFill>
                <a:latin typeface="黑体" panose="02010609060101010101" pitchFamily="2" charset="-122"/>
                <a:ea typeface="黑体" panose="02010609060101010101" pitchFamily="2" charset="-122"/>
              </a:rPr>
              <a:t>5</a:t>
            </a:r>
            <a:r>
              <a:rPr lang="zh-CN" altLang="en-US" sz="2000" dirty="0" smtClean="0">
                <a:solidFill>
                  <a:srgbClr val="FF0000"/>
                </a:solidFill>
                <a:latin typeface="黑体" panose="02010609060101010101" pitchFamily="2" charset="-122"/>
                <a:ea typeface="黑体" panose="02010609060101010101" pitchFamily="2" charset="-122"/>
              </a:rPr>
              <a:t>部分内容，可根据所选课题及小组实际情况进行增减。</a:t>
            </a:r>
            <a:endParaRPr lang="zh-CN" altLang="en-US" sz="2000" dirty="0">
              <a:solidFill>
                <a:srgbClr val="FF0000"/>
              </a:solidFill>
              <a:latin typeface="黑体" panose="02010609060101010101" pitchFamily="2" charset="-122"/>
              <a:ea typeface="黑体" panose="0201060906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课题</a:t>
            </a:r>
            <a:r>
              <a:rPr lang="zh-CN" altLang="en-US" dirty="0" smtClean="0"/>
              <a:t>背景</a:t>
            </a:r>
            <a:endParaRPr lang="zh-CN" altLang="en-US" dirty="0"/>
          </a:p>
        </p:txBody>
      </p:sp>
      <p:sp>
        <p:nvSpPr>
          <p:cNvPr id="7" name="内容占位符 6"/>
          <p:cNvSpPr>
            <a:spLocks noGrp="1"/>
          </p:cNvSpPr>
          <p:nvPr>
            <p:ph idx="12"/>
          </p:nvPr>
        </p:nvSpPr>
        <p:spPr>
          <a:xfrm>
            <a:off x="502303" y="1215859"/>
            <a:ext cx="10948962" cy="5078615"/>
          </a:xfrm>
        </p:spPr>
        <p:txBody>
          <a:bodyPr/>
          <a:lstStyle/>
          <a:p>
            <a:pPr>
              <a:spcBef>
                <a:spcPts val="1200"/>
              </a:spcBef>
              <a:spcAft>
                <a:spcPts val="1200"/>
              </a:spcAft>
            </a:pPr>
            <a:r>
              <a:rPr lang="zh-CN" altLang="en-US" dirty="0" smtClean="0"/>
              <a:t>随着电商业务快速增长订单</a:t>
            </a:r>
            <a:r>
              <a:rPr lang="zh-CN" altLang="en-US" dirty="0"/>
              <a:t>履约受到广泛重视</a:t>
            </a:r>
            <a:endParaRPr lang="en-US" altLang="zh-CN" dirty="0"/>
          </a:p>
          <a:p>
            <a:pPr lvl="1">
              <a:spcBef>
                <a:spcPts val="600"/>
              </a:spcBef>
              <a:spcAft>
                <a:spcPts val="600"/>
              </a:spcAft>
            </a:pPr>
            <a:r>
              <a:rPr lang="en-US" altLang="zh-CN" dirty="0"/>
              <a:t>《2020</a:t>
            </a:r>
            <a:r>
              <a:rPr lang="zh-CN" altLang="en-US" dirty="0"/>
              <a:t>年邮政行业发展统计公报</a:t>
            </a:r>
            <a:r>
              <a:rPr lang="en-US" altLang="zh-CN" dirty="0"/>
              <a:t>》</a:t>
            </a:r>
            <a:r>
              <a:rPr lang="zh-CN" altLang="en-US" dirty="0"/>
              <a:t>显示，快递业务快速增长。全年快递服务企业业务量完成</a:t>
            </a:r>
            <a:r>
              <a:rPr lang="en-US" altLang="zh-CN" dirty="0"/>
              <a:t>833.6</a:t>
            </a:r>
            <a:r>
              <a:rPr lang="zh-CN" altLang="en-US" dirty="0"/>
              <a:t>亿件，同比增长</a:t>
            </a:r>
            <a:r>
              <a:rPr lang="en-US" altLang="zh-CN" dirty="0"/>
              <a:t>31.2%</a:t>
            </a:r>
            <a:r>
              <a:rPr lang="zh-CN" altLang="en-US" dirty="0"/>
              <a:t>；快递业务收入完成</a:t>
            </a:r>
            <a:r>
              <a:rPr lang="en-US" altLang="zh-CN" dirty="0"/>
              <a:t>8,795.4</a:t>
            </a:r>
            <a:r>
              <a:rPr lang="zh-CN" altLang="en-US" dirty="0"/>
              <a:t>亿元，同比增长</a:t>
            </a:r>
            <a:r>
              <a:rPr lang="en-US" altLang="zh-CN" dirty="0"/>
              <a:t>17.3%</a:t>
            </a:r>
            <a:r>
              <a:rPr lang="zh-CN" altLang="en-US" dirty="0"/>
              <a:t>。</a:t>
            </a:r>
            <a:endParaRPr lang="zh-CN" altLang="en-US" dirty="0"/>
          </a:p>
        </p:txBody>
      </p:sp>
      <p:sp>
        <p:nvSpPr>
          <p:cNvPr id="8" name="内容占位符 7"/>
          <p:cNvSpPr>
            <a:spLocks noGrp="1"/>
          </p:cNvSpPr>
          <p:nvPr>
            <p:ph idx="13"/>
          </p:nvPr>
        </p:nvSpPr>
        <p:spPr>
          <a:xfrm>
            <a:off x="812799" y="6053999"/>
            <a:ext cx="10566401" cy="270000"/>
          </a:xfrm>
        </p:spPr>
        <p:txBody>
          <a:bodyPr/>
          <a:lstStyle/>
          <a:p>
            <a:r>
              <a:rPr lang="en-US" altLang="zh-CN" dirty="0">
                <a:ea typeface="宋体" panose="02010600030101010101" pitchFamily="2" charset="-122"/>
              </a:rPr>
              <a:t>Source:</a:t>
            </a:r>
            <a:r>
              <a:rPr lang="zh-CN" altLang="en-US" dirty="0">
                <a:ea typeface="宋体" panose="02010600030101010101" pitchFamily="2" charset="-122"/>
              </a:rPr>
              <a:t>中商产业研究院、易观分析、中国数字发展指数报告（</a:t>
            </a:r>
            <a:r>
              <a:rPr lang="en-US" altLang="zh-CN" dirty="0">
                <a:ea typeface="宋体" panose="02010600030101010101" pitchFamily="2" charset="-122"/>
              </a:rPr>
              <a:t>2021</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4" name="灯片编号占位符 3"/>
          <p:cNvSpPr>
            <a:spLocks noGrp="1"/>
          </p:cNvSpPr>
          <p:nvPr>
            <p:ph type="sldNum" sz="quarter" idx="11"/>
          </p:nvPr>
        </p:nvSpPr>
        <p:spPr/>
        <p:txBody>
          <a:bodyPr/>
          <a:lstStyle/>
          <a:p>
            <a:fld id="{FD7D2133-84E4-4D49-B786-7B5C0B54D116}" type="slidenum">
              <a:rPr lang="zh-CN" altLang="en-US" smtClean="0"/>
            </a:fld>
            <a:endParaRPr lang="zh-CN" altLang="en-US"/>
          </a:p>
        </p:txBody>
      </p:sp>
      <p:pic>
        <p:nvPicPr>
          <p:cNvPr id="9" name="Picture 2" descr="https://imagepphcloud.thepaper.cn/pph/image/131/258/55.jpg"/>
          <p:cNvPicPr>
            <a:picLocks noChangeAspect="1" noChangeArrowheads="1"/>
          </p:cNvPicPr>
          <p:nvPr/>
        </p:nvPicPr>
        <p:blipFill rotWithShape="1">
          <a:blip r:embed="rId1">
            <a:extLst>
              <a:ext uri="{28A0092B-C50C-407E-A947-70E740481C1C}">
                <a14:useLocalDpi xmlns:a14="http://schemas.microsoft.com/office/drawing/2010/main" val="0"/>
              </a:ext>
            </a:extLst>
          </a:blip>
          <a:srcRect t="12796"/>
          <a:stretch>
            <a:fillRect/>
          </a:stretch>
        </p:blipFill>
        <p:spPr bwMode="auto">
          <a:xfrm>
            <a:off x="1500825" y="2580642"/>
            <a:ext cx="9615136" cy="308344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8371916" y="1137711"/>
            <a:ext cx="2999200" cy="40011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000" dirty="0" smtClean="0">
                <a:solidFill>
                  <a:srgbClr val="FF0000"/>
                </a:solidFill>
                <a:latin typeface="黑体" panose="02010609060101010101" pitchFamily="2" charset="-122"/>
                <a:ea typeface="黑体" panose="02010609060101010101" pitchFamily="2" charset="-122"/>
              </a:rPr>
              <a:t>简单</a:t>
            </a:r>
            <a:r>
              <a:rPr lang="zh-CN" altLang="en-US" sz="2000" dirty="0">
                <a:solidFill>
                  <a:srgbClr val="FF0000"/>
                </a:solidFill>
                <a:latin typeface="黑体" panose="02010609060101010101" pitchFamily="2" charset="-122"/>
                <a:ea typeface="黑体" panose="02010609060101010101" pitchFamily="2" charset="-122"/>
              </a:rPr>
              <a:t>介绍</a:t>
            </a:r>
            <a:r>
              <a:rPr lang="zh-CN" altLang="en-US" sz="2000" dirty="0" smtClean="0">
                <a:solidFill>
                  <a:srgbClr val="FF0000"/>
                </a:solidFill>
                <a:latin typeface="黑体" panose="02010609060101010101" pitchFamily="2" charset="-122"/>
                <a:ea typeface="黑体" panose="02010609060101010101" pitchFamily="2" charset="-122"/>
              </a:rPr>
              <a:t>课题的背景。</a:t>
            </a:r>
            <a:endParaRPr lang="zh-CN" altLang="en-US" sz="2000" dirty="0">
              <a:solidFill>
                <a:srgbClr val="FF0000"/>
              </a:solidFill>
              <a:latin typeface="黑体" panose="02010609060101010101" pitchFamily="2" charset="-122"/>
              <a:ea typeface="黑体" panose="02010609060101010101" pitchFamily="2" charset="-122"/>
            </a:endParaRPr>
          </a:p>
        </p:txBody>
      </p:sp>
      <p:sp>
        <p:nvSpPr>
          <p:cNvPr id="5" name="矩形 4"/>
          <p:cNvSpPr/>
          <p:nvPr/>
        </p:nvSpPr>
        <p:spPr>
          <a:xfrm>
            <a:off x="4419159" y="5755862"/>
            <a:ext cx="3775393" cy="338554"/>
          </a:xfrm>
          <a:prstGeom prst="rect">
            <a:avLst/>
          </a:prstGeom>
        </p:spPr>
        <p:txBody>
          <a:bodyPr wrap="none">
            <a:spAutoFit/>
          </a:bodyPr>
          <a:lstStyle/>
          <a:p>
            <a:r>
              <a:rPr lang="zh-CN" altLang="en-US" sz="1600" dirty="0" smtClean="0">
                <a:latin typeface="黑体" panose="02010609060101010101" pitchFamily="2" charset="-122"/>
                <a:ea typeface="黑体" panose="02010609060101010101" pitchFamily="2" charset="-122"/>
              </a:rPr>
              <a:t>图</a:t>
            </a:r>
            <a:r>
              <a:rPr lang="en-US" altLang="zh-CN" sz="1600" dirty="0" smtClean="0">
                <a:latin typeface="黑体" panose="02010609060101010101" pitchFamily="2" charset="-122"/>
                <a:ea typeface="黑体" panose="02010609060101010101" pitchFamily="2" charset="-122"/>
              </a:rPr>
              <a:t>1 2016-2020</a:t>
            </a:r>
            <a:r>
              <a:rPr lang="zh-CN" altLang="en-US" sz="1600" dirty="0" smtClean="0">
                <a:latin typeface="黑体" panose="02010609060101010101" pitchFamily="2" charset="-122"/>
                <a:ea typeface="黑体" panose="02010609060101010101" pitchFamily="2" charset="-122"/>
              </a:rPr>
              <a:t>年</a:t>
            </a:r>
            <a:r>
              <a:rPr lang="zh-CN" altLang="en-US" sz="1600" dirty="0">
                <a:latin typeface="黑体" panose="02010609060101010101" pitchFamily="2" charset="-122"/>
                <a:ea typeface="黑体" panose="02010609060101010101" pitchFamily="2" charset="-122"/>
              </a:rPr>
              <a:t>快递</a:t>
            </a:r>
            <a:r>
              <a:rPr lang="zh-CN" altLang="en-US" sz="1600" dirty="0" smtClean="0">
                <a:latin typeface="黑体" panose="02010609060101010101" pitchFamily="2" charset="-122"/>
                <a:ea typeface="黑体" panose="02010609060101010101" pitchFamily="2" charset="-122"/>
              </a:rPr>
              <a:t>行业</a:t>
            </a:r>
            <a:r>
              <a:rPr lang="zh-CN" altLang="en-US" sz="1600" dirty="0">
                <a:latin typeface="黑体" panose="02010609060101010101" pitchFamily="2" charset="-122"/>
                <a:ea typeface="黑体" panose="02010609060101010101" pitchFamily="2" charset="-122"/>
              </a:rPr>
              <a:t>业务发展情况</a:t>
            </a:r>
            <a:endParaRPr lang="zh-CN" altLang="en-US" sz="1600" dirty="0">
              <a:latin typeface="黑体" panose="02010609060101010101" pitchFamily="2" charset="-122"/>
              <a:ea typeface="黑体" panose="0201060906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研究内容</a:t>
            </a:r>
            <a:endParaRPr lang="zh-CN" altLang="en-US" dirty="0"/>
          </a:p>
        </p:txBody>
      </p:sp>
      <p:sp>
        <p:nvSpPr>
          <p:cNvPr id="4" name="内容占位符 3"/>
          <p:cNvSpPr>
            <a:spLocks noGrp="1"/>
          </p:cNvSpPr>
          <p:nvPr>
            <p:ph idx="1"/>
          </p:nvPr>
        </p:nvSpPr>
        <p:spPr/>
        <p:txBody>
          <a:bodyPr/>
          <a:lstStyle/>
          <a:p>
            <a:pPr>
              <a:spcBef>
                <a:spcPts val="1200"/>
              </a:spcBef>
              <a:spcAft>
                <a:spcPts val="1200"/>
              </a:spcAft>
            </a:pPr>
            <a:r>
              <a:rPr lang="zh-CN" altLang="en-US" kern="1200" dirty="0" smtClean="0"/>
              <a:t>研究的问题</a:t>
            </a:r>
            <a:endParaRPr lang="en-US" altLang="zh-CN" kern="1200" dirty="0"/>
          </a:p>
          <a:p>
            <a:pPr marL="0" indent="612140">
              <a:buNone/>
            </a:pPr>
            <a:r>
              <a:rPr lang="zh-CN" altLang="en-US" sz="2000" dirty="0"/>
              <a:t>某企业在全国建设了</a:t>
            </a:r>
            <a:r>
              <a:rPr lang="en-US" altLang="zh-CN" sz="2000" dirty="0"/>
              <a:t>8</a:t>
            </a:r>
            <a:r>
              <a:rPr lang="zh-CN" altLang="en-US" sz="2000" dirty="0"/>
              <a:t>个区域型配送中心和约</a:t>
            </a:r>
            <a:r>
              <a:rPr lang="en-US" altLang="zh-CN" sz="2000" dirty="0"/>
              <a:t>500</a:t>
            </a:r>
            <a:r>
              <a:rPr lang="zh-CN" altLang="en-US" sz="2000" dirty="0"/>
              <a:t>个大小仓库中储存了近千万不同种类的商品，每日配送</a:t>
            </a:r>
            <a:r>
              <a:rPr lang="en-US" altLang="zh-CN" sz="2000" dirty="0"/>
              <a:t>500</a:t>
            </a:r>
            <a:r>
              <a:rPr lang="zh-CN" altLang="en-US" sz="2000" dirty="0"/>
              <a:t>多万顾客订单，并且绝大多数订单需要满足</a:t>
            </a:r>
            <a:r>
              <a:rPr lang="en-US" altLang="zh-CN" sz="2000" dirty="0"/>
              <a:t>211</a:t>
            </a:r>
            <a:r>
              <a:rPr lang="zh-CN" altLang="en-US" sz="2000" dirty="0"/>
              <a:t>配送标准，即早上</a:t>
            </a:r>
            <a:r>
              <a:rPr lang="en-US" altLang="zh-CN" sz="2000" dirty="0"/>
              <a:t>11</a:t>
            </a:r>
            <a:r>
              <a:rPr lang="zh-CN" altLang="en-US" sz="2000" dirty="0"/>
              <a:t>点之前的订单当日送达，晚上</a:t>
            </a:r>
            <a:r>
              <a:rPr lang="en-US" altLang="zh-CN" sz="2000" dirty="0"/>
              <a:t>11</a:t>
            </a:r>
            <a:r>
              <a:rPr lang="zh-CN" altLang="en-US" sz="2000" dirty="0"/>
              <a:t>点之前的订单次日下午</a:t>
            </a:r>
            <a:r>
              <a:rPr lang="en-US" altLang="zh-CN" sz="2000" dirty="0"/>
              <a:t>3</a:t>
            </a:r>
            <a:r>
              <a:rPr lang="zh-CN" altLang="en-US" sz="2000" dirty="0"/>
              <a:t>点前送达。研究如何准确地预测各个地区的顾客对商品的需求，将顾客可能需要的货品备置在顾客附近的仓库，在保障时效的前提下，通过大数据分析和优化算法，降低运营成本。 </a:t>
            </a:r>
            <a:endParaRPr lang="en-US" altLang="zh-CN" sz="2000" dirty="0"/>
          </a:p>
          <a:p>
            <a:pPr marL="0" indent="0">
              <a:buNone/>
            </a:pPr>
            <a:endParaRPr lang="en-US" altLang="zh-CN" dirty="0"/>
          </a:p>
          <a:p>
            <a:endParaRPr lang="en-US" altLang="zh-CN" dirty="0"/>
          </a:p>
          <a:p>
            <a:pPr marL="0" indent="0">
              <a:buNone/>
            </a:pPr>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None/>
            </a:pPr>
            <a:r>
              <a:rPr lang="en-US" altLang="zh-CN" dirty="0"/>
              <a:t>	</a:t>
            </a:r>
            <a:endParaRPr lang="en-US" altLang="zh-CN" dirty="0"/>
          </a:p>
          <a:p>
            <a:endParaRPr lang="zh-CN" altLang="en-US" dirty="0"/>
          </a:p>
        </p:txBody>
      </p:sp>
      <p:sp>
        <p:nvSpPr>
          <p:cNvPr id="6" name="灯片编号占位符 5"/>
          <p:cNvSpPr>
            <a:spLocks noGrp="1"/>
          </p:cNvSpPr>
          <p:nvPr>
            <p:ph type="sldNum" sz="quarter" idx="11"/>
          </p:nvPr>
        </p:nvSpPr>
        <p:spPr/>
        <p:txBody>
          <a:bodyPr/>
          <a:lstStyle/>
          <a:p>
            <a:fld id="{FD7D2133-84E4-4D49-B786-7B5C0B54D116}" type="slidenum">
              <a:rPr lang="zh-CN" altLang="en-US" smtClean="0"/>
            </a:fld>
            <a:endParaRPr lang="zh-CN" altLang="en-US"/>
          </a:p>
        </p:txBody>
      </p:sp>
      <p:sp>
        <p:nvSpPr>
          <p:cNvPr id="2" name="矩形 1"/>
          <p:cNvSpPr/>
          <p:nvPr/>
        </p:nvSpPr>
        <p:spPr>
          <a:xfrm>
            <a:off x="730101" y="3513175"/>
            <a:ext cx="5277293" cy="2846933"/>
          </a:xfrm>
          <a:prstGeom prst="rect">
            <a:avLst/>
          </a:prstGeom>
        </p:spPr>
        <p:txBody>
          <a:bodyPr wrap="square">
            <a:spAutoFit/>
          </a:bodyPr>
          <a:lstStyle/>
          <a:p>
            <a:pPr marL="469900" indent="-469900" fontAlgn="base">
              <a:spcBef>
                <a:spcPts val="1200"/>
              </a:spcBef>
              <a:spcAft>
                <a:spcPts val="1200"/>
              </a:spcAft>
              <a:buClr>
                <a:srgbClr val="7030A0"/>
              </a:buClr>
              <a:buFont typeface="Wingdings" panose="05000000000000000000" pitchFamily="2" charset="2"/>
              <a:buChar char="o"/>
            </a:pPr>
            <a:r>
              <a:rPr lang="zh-CN" altLang="en-US" sz="2400" dirty="0">
                <a:latin typeface="Arial" panose="020B0604020202020204" pitchFamily="34" charset="0"/>
                <a:ea typeface="黑体" panose="02010609060101010101" pitchFamily="2" charset="-122"/>
              </a:rPr>
              <a:t>主要研究内容</a:t>
            </a:r>
            <a:endParaRPr lang="en-US" altLang="zh-CN" sz="2400" dirty="0">
              <a:latin typeface="Arial" panose="020B0604020202020204" pitchFamily="34" charset="0"/>
              <a:ea typeface="黑体" panose="02010609060101010101" pitchFamily="2" charset="-122"/>
            </a:endParaRPr>
          </a:p>
          <a:p>
            <a:pPr marL="908050" lvl="1" indent="-436880" fontAlgn="base">
              <a:spcBef>
                <a:spcPts val="600"/>
              </a:spcBef>
              <a:spcAft>
                <a:spcPts val="600"/>
              </a:spcAft>
              <a:buClr>
                <a:srgbClr val="7030A0"/>
              </a:buClr>
              <a:buFont typeface="Wingdings" panose="05000000000000000000" pitchFamily="2" charset="2"/>
              <a:buChar char="n"/>
            </a:pPr>
            <a:r>
              <a:rPr lang="zh-CN" altLang="en-US" sz="2000" dirty="0">
                <a:latin typeface="Arial" panose="020B0604020202020204" pitchFamily="34" charset="0"/>
                <a:ea typeface="黑体" panose="02010609060101010101" pitchFamily="2" charset="-122"/>
              </a:rPr>
              <a:t>对订单履约过程进行问题</a:t>
            </a:r>
            <a:r>
              <a:rPr lang="zh-CN" altLang="en-US" sz="2000" dirty="0" smtClean="0">
                <a:latin typeface="Arial" panose="020B0604020202020204" pitchFamily="34" charset="0"/>
                <a:ea typeface="黑体" panose="02010609060101010101" pitchFamily="2" charset="-122"/>
              </a:rPr>
              <a:t>建模；</a:t>
            </a:r>
            <a:endParaRPr lang="zh-CN" altLang="en-US" sz="2000" dirty="0">
              <a:latin typeface="Arial" panose="020B0604020202020204" pitchFamily="34" charset="0"/>
              <a:ea typeface="黑体" panose="02010609060101010101" pitchFamily="2" charset="-122"/>
            </a:endParaRPr>
          </a:p>
          <a:p>
            <a:pPr marL="908050" lvl="1" indent="-436880" fontAlgn="base">
              <a:spcBef>
                <a:spcPts val="600"/>
              </a:spcBef>
              <a:spcAft>
                <a:spcPts val="600"/>
              </a:spcAft>
              <a:buClr>
                <a:srgbClr val="7030A0"/>
              </a:buClr>
              <a:buFont typeface="Wingdings" panose="05000000000000000000" pitchFamily="2" charset="2"/>
              <a:buChar char="n"/>
            </a:pPr>
            <a:r>
              <a:rPr lang="zh-CN" altLang="en-US" sz="2000" dirty="0">
                <a:latin typeface="Arial" panose="020B0604020202020204" pitchFamily="34" charset="0"/>
                <a:ea typeface="黑体" panose="02010609060101010101" pitchFamily="2" charset="-122"/>
              </a:rPr>
              <a:t>对随机动态规划进行求解</a:t>
            </a:r>
            <a:r>
              <a:rPr lang="zh-CN" altLang="en-US" sz="2000" dirty="0" smtClean="0">
                <a:latin typeface="Arial" panose="020B0604020202020204" pitchFamily="34" charset="0"/>
                <a:ea typeface="黑体" panose="02010609060101010101" pitchFamily="2" charset="-122"/>
              </a:rPr>
              <a:t>，</a:t>
            </a:r>
            <a:r>
              <a:rPr lang="zh-CN" altLang="en-US" sz="2000" dirty="0">
                <a:latin typeface="Arial" panose="020B0604020202020204" pitchFamily="34" charset="0"/>
                <a:ea typeface="黑体" panose="02010609060101010101" pitchFamily="2" charset="-122"/>
              </a:rPr>
              <a:t>并利用成本函数近似的方法优化</a:t>
            </a:r>
            <a:r>
              <a:rPr lang="zh-CN" altLang="en-US" sz="2000" dirty="0" smtClean="0">
                <a:latin typeface="Arial" panose="020B0604020202020204" pitchFamily="34" charset="0"/>
                <a:ea typeface="黑体" panose="02010609060101010101" pitchFamily="2" charset="-122"/>
              </a:rPr>
              <a:t>策略；</a:t>
            </a:r>
            <a:endParaRPr lang="zh-CN" altLang="en-US" sz="2000" dirty="0">
              <a:latin typeface="Arial" panose="020B0604020202020204" pitchFamily="34" charset="0"/>
              <a:ea typeface="黑体" panose="02010609060101010101" pitchFamily="2" charset="-122"/>
            </a:endParaRPr>
          </a:p>
          <a:p>
            <a:pPr marL="908050" lvl="1" indent="-436880" fontAlgn="base">
              <a:spcBef>
                <a:spcPts val="600"/>
              </a:spcBef>
              <a:spcAft>
                <a:spcPts val="600"/>
              </a:spcAft>
              <a:buClr>
                <a:srgbClr val="7030A0"/>
              </a:buClr>
              <a:buFont typeface="Wingdings" panose="05000000000000000000" pitchFamily="2" charset="2"/>
              <a:buChar char="n"/>
            </a:pPr>
            <a:r>
              <a:rPr lang="zh-CN" altLang="en-US" sz="2000" dirty="0">
                <a:latin typeface="Arial" panose="020B0604020202020204" pitchFamily="34" charset="0"/>
                <a:ea typeface="黑体" panose="02010609060101010101" pitchFamily="2" charset="-122"/>
              </a:rPr>
              <a:t>通过启发式算法对参数进行求解，比较不同启发式算法下决策的成本变化，利用敏感性分析对参数进行</a:t>
            </a:r>
            <a:r>
              <a:rPr lang="zh-CN" altLang="en-US" sz="2000" dirty="0" smtClean="0">
                <a:latin typeface="Arial" panose="020B0604020202020204" pitchFamily="34" charset="0"/>
                <a:ea typeface="黑体" panose="02010609060101010101" pitchFamily="2" charset="-122"/>
              </a:rPr>
              <a:t>比较；</a:t>
            </a:r>
            <a:endParaRPr lang="en-US" altLang="zh-CN" sz="2000" dirty="0" smtClean="0">
              <a:latin typeface="Arial" panose="020B0604020202020204" pitchFamily="34" charset="0"/>
              <a:ea typeface="黑体" panose="02010609060101010101" pitchFamily="2" charset="-122"/>
            </a:endParaRPr>
          </a:p>
        </p:txBody>
      </p:sp>
      <p:sp>
        <p:nvSpPr>
          <p:cNvPr id="13" name="文本框 8"/>
          <p:cNvSpPr txBox="1"/>
          <p:nvPr/>
        </p:nvSpPr>
        <p:spPr>
          <a:xfrm>
            <a:off x="8258500" y="5673766"/>
            <a:ext cx="1826141" cy="338554"/>
          </a:xfrm>
          <a:prstGeom prst="rect">
            <a:avLst/>
          </a:prstGeom>
        </p:spPr>
        <p:txBody>
          <a:bodyPr wrap="none">
            <a:spAutoFit/>
          </a:bodyPr>
          <a:lstStyle>
            <a:defPPr>
              <a:defRPr lang="en-US"/>
            </a:defPPr>
            <a:lvl1pPr>
              <a:defRPr sz="1600"/>
            </a:lvl1pPr>
          </a:lstStyle>
          <a:p>
            <a:r>
              <a:rPr lang="zh-CN" altLang="en-US" dirty="0" smtClean="0">
                <a:latin typeface="黑体" panose="02010609060101010101" pitchFamily="2" charset="-122"/>
                <a:ea typeface="黑体" panose="02010609060101010101" pitchFamily="2" charset="-122"/>
              </a:rPr>
              <a:t>图</a:t>
            </a:r>
            <a:r>
              <a:rPr lang="en-US" altLang="zh-CN" dirty="0" smtClean="0">
                <a:latin typeface="黑体" panose="02010609060101010101" pitchFamily="2" charset="-122"/>
                <a:ea typeface="黑体" panose="02010609060101010101" pitchFamily="2" charset="-122"/>
              </a:rPr>
              <a:t>2 </a:t>
            </a:r>
            <a:r>
              <a:rPr lang="zh-CN" altLang="en-US" dirty="0" smtClean="0">
                <a:latin typeface="黑体" panose="02010609060101010101" pitchFamily="2" charset="-122"/>
                <a:ea typeface="黑体" panose="02010609060101010101" pitchFamily="2" charset="-122"/>
              </a:rPr>
              <a:t>订单履约过程</a:t>
            </a:r>
            <a:endParaRPr lang="zh-CN" altLang="en-US" dirty="0">
              <a:latin typeface="黑体" panose="02010609060101010101" pitchFamily="2" charset="-122"/>
              <a:ea typeface="黑体" panose="02010609060101010101" pitchFamily="2" charset="-122"/>
            </a:endParaRPr>
          </a:p>
        </p:txBody>
      </p:sp>
      <p:sp>
        <p:nvSpPr>
          <p:cNvPr id="14" name="TextBox 13"/>
          <p:cNvSpPr txBox="1"/>
          <p:nvPr/>
        </p:nvSpPr>
        <p:spPr>
          <a:xfrm>
            <a:off x="3880882" y="1158955"/>
            <a:ext cx="7389643" cy="40011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000" dirty="0" smtClean="0">
                <a:solidFill>
                  <a:srgbClr val="FF0000"/>
                </a:solidFill>
                <a:latin typeface="黑体" panose="02010609060101010101" pitchFamily="2" charset="-122"/>
                <a:ea typeface="黑体" panose="02010609060101010101" pitchFamily="2" charset="-122"/>
              </a:rPr>
              <a:t>详细描述研究的问题，以及问题的边界和规模，主要研究内容。</a:t>
            </a:r>
            <a:endParaRPr lang="zh-CN" altLang="en-US" sz="2000" dirty="0">
              <a:solidFill>
                <a:srgbClr val="FF0000"/>
              </a:solidFill>
              <a:latin typeface="黑体" panose="02010609060101010101" pitchFamily="2" charset="-122"/>
              <a:ea typeface="黑体" panose="02010609060101010101" pitchFamily="2" charset="-122"/>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76349" y="3513175"/>
            <a:ext cx="4545307" cy="16069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研究内容</a:t>
            </a:r>
            <a:endParaRPr lang="zh-CN" altLang="en-US" dirty="0"/>
          </a:p>
        </p:txBody>
      </p:sp>
      <p:sp>
        <p:nvSpPr>
          <p:cNvPr id="4" name="内容占位符 3"/>
          <p:cNvSpPr>
            <a:spLocks noGrp="1"/>
          </p:cNvSpPr>
          <p:nvPr>
            <p:ph idx="1"/>
          </p:nvPr>
        </p:nvSpPr>
        <p:spPr/>
        <p:txBody>
          <a:bodyPr/>
          <a:lstStyle/>
          <a:p>
            <a:pPr>
              <a:spcBef>
                <a:spcPts val="1200"/>
              </a:spcBef>
              <a:spcAft>
                <a:spcPts val="1200"/>
              </a:spcAft>
            </a:pPr>
            <a:r>
              <a:rPr lang="zh-CN" altLang="en-US" dirty="0"/>
              <a:t>研究</a:t>
            </a:r>
            <a:r>
              <a:rPr lang="zh-CN" altLang="en-US" dirty="0" smtClean="0"/>
              <a:t>意义</a:t>
            </a:r>
            <a:endParaRPr lang="en-US" altLang="zh-CN" dirty="0"/>
          </a:p>
          <a:p>
            <a:pPr marL="471170" lvl="1" indent="539750">
              <a:buNone/>
            </a:pPr>
            <a:r>
              <a:rPr lang="zh-CN" altLang="en-US" dirty="0" smtClean="0"/>
              <a:t>在</a:t>
            </a:r>
            <a:r>
              <a:rPr lang="zh-CN" altLang="en-US" dirty="0"/>
              <a:t>订单取消率不断提高的今天，如何平衡订单取消带来的成本压力与提高服务水平的竞争压力是面对电商平台的一个重要问题。目前，电商平台普遍采用的履约方式是订单到达时直接将订单下单。通过策略的选择在保持服务水平的前提下降低成本是电商平台迫切的需求</a:t>
            </a:r>
            <a:r>
              <a:rPr lang="zh-CN" altLang="en-US" dirty="0" smtClean="0"/>
              <a:t>。</a:t>
            </a:r>
            <a:endParaRPr lang="en-US" altLang="zh-CN" dirty="0" smtClean="0"/>
          </a:p>
          <a:p>
            <a:pPr marL="471170" lvl="1" indent="539750">
              <a:buNone/>
            </a:pPr>
            <a:endParaRPr lang="en-US" altLang="zh-CN" dirty="0"/>
          </a:p>
          <a:p>
            <a:pPr>
              <a:spcBef>
                <a:spcPts val="1200"/>
              </a:spcBef>
              <a:spcAft>
                <a:spcPts val="1200"/>
              </a:spcAft>
            </a:pPr>
            <a:r>
              <a:rPr lang="zh-CN" altLang="en-US" kern="1200" dirty="0"/>
              <a:t>课题目标</a:t>
            </a:r>
            <a:endParaRPr lang="en-US" altLang="zh-CN" kern="1200" dirty="0"/>
          </a:p>
          <a:p>
            <a:pPr marL="471170" lvl="1" indent="539750">
              <a:buNone/>
            </a:pPr>
            <a:r>
              <a:rPr lang="zh-CN" altLang="en-US" dirty="0"/>
              <a:t>课题对某电商平台的订单履约过程进行问题描述和建模，并进行优化、求解和验证，开发订单履约优化小软件，帮助企业解决因订单取消而造成的成本上升问题。</a:t>
            </a:r>
            <a:endParaRPr lang="en-US" altLang="zh-CN" dirty="0"/>
          </a:p>
          <a:p>
            <a:pPr marL="471170" lvl="1" indent="539750">
              <a:buNone/>
            </a:pPr>
            <a:endParaRPr lang="en-US" altLang="zh-CN" dirty="0"/>
          </a:p>
          <a:p>
            <a:pPr marL="0" indent="0">
              <a:buNone/>
            </a:pPr>
            <a:endParaRPr lang="en-US" altLang="zh-CN" dirty="0"/>
          </a:p>
          <a:p>
            <a:endParaRPr lang="en-US" altLang="zh-CN" dirty="0"/>
          </a:p>
          <a:p>
            <a:pPr marL="0" indent="0">
              <a:buNone/>
            </a:pPr>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None/>
            </a:pPr>
            <a:r>
              <a:rPr lang="en-US" altLang="zh-CN" dirty="0"/>
              <a:t>	</a:t>
            </a:r>
            <a:endParaRPr lang="en-US" altLang="zh-CN" dirty="0"/>
          </a:p>
          <a:p>
            <a:endParaRPr lang="zh-CN" altLang="en-US" dirty="0"/>
          </a:p>
        </p:txBody>
      </p:sp>
      <p:sp>
        <p:nvSpPr>
          <p:cNvPr id="5" name="内容占位符 4"/>
          <p:cNvSpPr>
            <a:spLocks noGrp="1"/>
          </p:cNvSpPr>
          <p:nvPr>
            <p:ph idx="12"/>
          </p:nvPr>
        </p:nvSpPr>
        <p:spPr/>
        <p:txBody>
          <a:bodyPr/>
          <a:lstStyle/>
          <a:p>
            <a:endParaRPr lang="zh-CN" altLang="en-US" dirty="0"/>
          </a:p>
        </p:txBody>
      </p:sp>
      <p:sp>
        <p:nvSpPr>
          <p:cNvPr id="6" name="灯片编号占位符 5"/>
          <p:cNvSpPr>
            <a:spLocks noGrp="1"/>
          </p:cNvSpPr>
          <p:nvPr>
            <p:ph type="sldNum" sz="quarter" idx="11"/>
          </p:nvPr>
        </p:nvSpPr>
        <p:spPr/>
        <p:txBody>
          <a:bodyPr/>
          <a:lstStyle/>
          <a:p>
            <a:fld id="{FD7D2133-84E4-4D49-B786-7B5C0B54D116}" type="slidenum">
              <a:rPr lang="zh-CN" altLang="en-US" smtClean="0"/>
            </a:fld>
            <a:endParaRPr lang="zh-CN" altLang="en-US"/>
          </a:p>
        </p:txBody>
      </p:sp>
      <p:sp>
        <p:nvSpPr>
          <p:cNvPr id="10" name="TextBox 9"/>
          <p:cNvSpPr txBox="1"/>
          <p:nvPr/>
        </p:nvSpPr>
        <p:spPr>
          <a:xfrm>
            <a:off x="6379536" y="1214090"/>
            <a:ext cx="4657058" cy="40011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000" dirty="0" smtClean="0">
                <a:solidFill>
                  <a:srgbClr val="FF0000"/>
                </a:solidFill>
                <a:latin typeface="黑体" panose="02010609060101010101" pitchFamily="2" charset="-122"/>
                <a:ea typeface="黑体" panose="02010609060101010101" pitchFamily="2" charset="-122"/>
              </a:rPr>
              <a:t>简单介绍课题研究的意义</a:t>
            </a:r>
            <a:r>
              <a:rPr lang="zh-CN" altLang="en-US" sz="2000" dirty="0">
                <a:solidFill>
                  <a:srgbClr val="FF0000"/>
                </a:solidFill>
                <a:latin typeface="黑体" panose="02010609060101010101" pitchFamily="2" charset="-122"/>
                <a:ea typeface="黑体" panose="02010609060101010101" pitchFamily="2" charset="-122"/>
              </a:rPr>
              <a:t>和</a:t>
            </a:r>
            <a:r>
              <a:rPr lang="zh-CN" altLang="en-US" sz="2000" dirty="0" smtClean="0">
                <a:solidFill>
                  <a:srgbClr val="FF0000"/>
                </a:solidFill>
                <a:latin typeface="黑体" panose="02010609060101010101" pitchFamily="2" charset="-122"/>
                <a:ea typeface="黑体" panose="02010609060101010101" pitchFamily="2" charset="-122"/>
              </a:rPr>
              <a:t>研究目标。</a:t>
            </a:r>
            <a:endParaRPr lang="zh-CN" altLang="en-US" sz="2000" dirty="0">
              <a:solidFill>
                <a:srgbClr val="FF0000"/>
              </a:solidFill>
              <a:latin typeface="黑体" panose="02010609060101010101" pitchFamily="2" charset="-122"/>
              <a:ea typeface="黑体" panose="0201060906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文献调研</a:t>
            </a:r>
            <a:endParaRPr lang="zh-CN" altLang="en-US" dirty="0"/>
          </a:p>
        </p:txBody>
      </p:sp>
      <p:sp>
        <p:nvSpPr>
          <p:cNvPr id="4" name="内容占位符 3"/>
          <p:cNvSpPr>
            <a:spLocks noGrp="1"/>
          </p:cNvSpPr>
          <p:nvPr>
            <p:ph idx="1"/>
          </p:nvPr>
        </p:nvSpPr>
        <p:spPr/>
        <p:txBody>
          <a:bodyPr/>
          <a:lstStyle/>
          <a:p>
            <a:pPr>
              <a:spcBef>
                <a:spcPts val="1200"/>
              </a:spcBef>
              <a:spcAft>
                <a:spcPts val="1200"/>
              </a:spcAft>
            </a:pPr>
            <a:r>
              <a:rPr lang="zh-CN" altLang="en-US" dirty="0"/>
              <a:t>随机优化问题模型</a:t>
            </a:r>
            <a:endParaRPr lang="en-US" altLang="zh-CN" dirty="0"/>
          </a:p>
          <a:p>
            <a:pPr lvl="1"/>
            <a:r>
              <a:rPr lang="en-US" altLang="zh-CN" dirty="0"/>
              <a:t>Powell</a:t>
            </a:r>
            <a:r>
              <a:rPr lang="zh-CN" altLang="en-US" dirty="0"/>
              <a:t>（</a:t>
            </a:r>
            <a:r>
              <a:rPr lang="en-US" altLang="zh-CN" dirty="0"/>
              <a:t>2019</a:t>
            </a:r>
            <a:r>
              <a:rPr lang="zh-CN" altLang="en-US" dirty="0"/>
              <a:t>）在论文中总结了随机优化的常见模型及描述方式，适应的问题以及常见的求解方法。本问题中，我们将主要使用马尔可夫决策过程的方式建立模型，并利用成本函数近似的方式优化策略。</a:t>
            </a:r>
            <a:endParaRPr lang="en-US" altLang="zh-CN" dirty="0"/>
          </a:p>
          <a:p>
            <a:pPr lvl="1"/>
            <a:r>
              <a:rPr lang="en-US" altLang="zh-CN" dirty="0"/>
              <a:t>Bellman</a:t>
            </a:r>
            <a:r>
              <a:rPr lang="zh-CN" altLang="en-US" dirty="0"/>
              <a:t>（</a:t>
            </a:r>
            <a:r>
              <a:rPr lang="en-US" altLang="zh-CN" dirty="0"/>
              <a:t>1957</a:t>
            </a:r>
            <a:r>
              <a:rPr lang="zh-CN" altLang="en-US" dirty="0"/>
              <a:t>）提出了马尔可夫决策过程，</a:t>
            </a:r>
            <a:r>
              <a:rPr lang="en-US" altLang="zh-CN" dirty="0"/>
              <a:t>Howard</a:t>
            </a:r>
            <a:r>
              <a:rPr lang="zh-CN" altLang="en-US" dirty="0"/>
              <a:t>（</a:t>
            </a:r>
            <a:r>
              <a:rPr lang="en-US" altLang="zh-CN" dirty="0"/>
              <a:t>1960</a:t>
            </a:r>
            <a:r>
              <a:rPr lang="zh-CN" altLang="en-US" dirty="0"/>
              <a:t>）继续了这一工作，</a:t>
            </a:r>
            <a:r>
              <a:rPr lang="en-US" altLang="zh-CN" dirty="0"/>
              <a:t> </a:t>
            </a:r>
            <a:r>
              <a:rPr lang="en-US" altLang="zh-CN" dirty="0" err="1"/>
              <a:t>Puterman</a:t>
            </a:r>
            <a:r>
              <a:rPr lang="zh-CN" altLang="en-US" dirty="0"/>
              <a:t>（</a:t>
            </a:r>
            <a:r>
              <a:rPr lang="en-US" altLang="zh-CN" dirty="0"/>
              <a:t>2005</a:t>
            </a:r>
            <a:r>
              <a:rPr lang="zh-CN" altLang="en-US" dirty="0"/>
              <a:t>）关于马尔可夫决策过程的书籍在之后被广泛引用。</a:t>
            </a:r>
            <a:endParaRPr lang="en-US" altLang="zh-CN" dirty="0"/>
          </a:p>
          <a:p>
            <a:pPr>
              <a:spcBef>
                <a:spcPts val="1200"/>
              </a:spcBef>
              <a:spcAft>
                <a:spcPts val="1200"/>
              </a:spcAft>
            </a:pPr>
            <a:r>
              <a:rPr lang="zh-CN" altLang="en-US" dirty="0"/>
              <a:t>成本函数近似</a:t>
            </a:r>
            <a:endParaRPr lang="en-US" altLang="zh-CN" dirty="0"/>
          </a:p>
          <a:p>
            <a:pPr marL="781050" lvl="1" indent="-342900"/>
            <a:r>
              <a:rPr lang="en-US" altLang="zh-CN" dirty="0"/>
              <a:t>Powell (2019) </a:t>
            </a:r>
            <a:r>
              <a:rPr lang="zh-CN" altLang="en-US" dirty="0"/>
              <a:t>的论文中总结了成本函数近似（</a:t>
            </a:r>
            <a:r>
              <a:rPr lang="en-US" altLang="zh-CN" dirty="0"/>
              <a:t>Cost function approximation, CFA</a:t>
            </a:r>
            <a:r>
              <a:rPr lang="zh-CN" altLang="en-US" dirty="0"/>
              <a:t>）、值函数近似（</a:t>
            </a:r>
            <a:r>
              <a:rPr lang="en-US" altLang="zh-CN" dirty="0"/>
              <a:t>Value function approximations, VFA</a:t>
            </a:r>
            <a:r>
              <a:rPr lang="zh-CN" altLang="en-US" dirty="0"/>
              <a:t>）、策略函数近似（</a:t>
            </a:r>
            <a:r>
              <a:rPr lang="en-US" altLang="zh-CN" dirty="0"/>
              <a:t>Policy function approximations, PLA</a:t>
            </a:r>
            <a:r>
              <a:rPr lang="zh-CN" altLang="en-US" dirty="0"/>
              <a:t>）</a:t>
            </a:r>
            <a:r>
              <a:rPr lang="en-US" altLang="zh-CN" dirty="0"/>
              <a:t> </a:t>
            </a:r>
            <a:r>
              <a:rPr lang="zh-CN" altLang="en-US" dirty="0"/>
              <a:t>和直接前瞻近似（</a:t>
            </a:r>
            <a:r>
              <a:rPr lang="en-US" altLang="zh-CN" dirty="0"/>
              <a:t>Direct lookahead, DLA</a:t>
            </a:r>
            <a:r>
              <a:rPr lang="zh-CN" altLang="en-US" dirty="0"/>
              <a:t>）的方法。</a:t>
            </a:r>
            <a:endParaRPr lang="en-US" altLang="zh-CN" dirty="0"/>
          </a:p>
          <a:p>
            <a:pPr marL="781050" lvl="1" indent="-342900"/>
            <a:r>
              <a:rPr lang="zh-CN" altLang="en-US" dirty="0"/>
              <a:t>在面对非确定性的问题时，</a:t>
            </a:r>
            <a:r>
              <a:rPr lang="en-US" altLang="zh-CN" dirty="0"/>
              <a:t>Perkins </a:t>
            </a:r>
            <a:r>
              <a:rPr lang="zh-CN" altLang="en-US" dirty="0"/>
              <a:t>和 </a:t>
            </a:r>
            <a:r>
              <a:rPr lang="en-US" altLang="zh-CN" dirty="0"/>
              <a:t>Powell </a:t>
            </a:r>
            <a:r>
              <a:rPr lang="zh-CN" altLang="en-US" dirty="0"/>
              <a:t>（</a:t>
            </a:r>
            <a:r>
              <a:rPr lang="en-US" altLang="zh-CN" dirty="0"/>
              <a:t>2017</a:t>
            </a:r>
            <a:r>
              <a:rPr lang="zh-CN" altLang="en-US" dirty="0"/>
              <a:t>）提出了成本函数近似的方法。分别介绍了成本函数近似的具体内容，适用模型以及求解方法。提出了梯度下降等求解方法</a:t>
            </a:r>
            <a:r>
              <a:rPr lang="zh-CN" altLang="en-US" dirty="0" smtClean="0"/>
              <a:t>。</a:t>
            </a:r>
            <a:endParaRPr lang="en-US" altLang="zh-CN" dirty="0"/>
          </a:p>
          <a:p>
            <a:pPr marL="0" indent="0">
              <a:buNone/>
            </a:pPr>
            <a:endParaRPr lang="en-US" altLang="zh-CN" dirty="0"/>
          </a:p>
          <a:p>
            <a:endParaRPr lang="en-US" altLang="zh-CN" dirty="0"/>
          </a:p>
          <a:p>
            <a:pPr marL="0" indent="0">
              <a:buNone/>
            </a:pPr>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None/>
            </a:pPr>
            <a:r>
              <a:rPr lang="en-US" altLang="zh-CN" dirty="0"/>
              <a:t>	</a:t>
            </a:r>
            <a:endParaRPr lang="en-US" altLang="zh-CN" dirty="0"/>
          </a:p>
          <a:p>
            <a:endParaRPr lang="zh-CN" altLang="en-US" dirty="0"/>
          </a:p>
        </p:txBody>
      </p:sp>
      <p:sp>
        <p:nvSpPr>
          <p:cNvPr id="5" name="内容占位符 4"/>
          <p:cNvSpPr>
            <a:spLocks noGrp="1"/>
          </p:cNvSpPr>
          <p:nvPr>
            <p:ph idx="12"/>
          </p:nvPr>
        </p:nvSpPr>
        <p:spPr/>
        <p:txBody>
          <a:bodyPr/>
          <a:lstStyle/>
          <a:p>
            <a:endParaRPr lang="zh-CN" altLang="en-US" dirty="0"/>
          </a:p>
        </p:txBody>
      </p:sp>
      <p:sp>
        <p:nvSpPr>
          <p:cNvPr id="6" name="灯片编号占位符 5"/>
          <p:cNvSpPr>
            <a:spLocks noGrp="1"/>
          </p:cNvSpPr>
          <p:nvPr>
            <p:ph type="sldNum" sz="quarter" idx="11"/>
          </p:nvPr>
        </p:nvSpPr>
        <p:spPr/>
        <p:txBody>
          <a:bodyPr/>
          <a:lstStyle/>
          <a:p>
            <a:fld id="{FD7D2133-84E4-4D49-B786-7B5C0B54D116}" type="slidenum">
              <a:rPr lang="zh-CN" altLang="en-US" smtClean="0"/>
            </a:fld>
            <a:endParaRPr lang="zh-CN" altLang="en-US" dirty="0"/>
          </a:p>
        </p:txBody>
      </p:sp>
      <p:sp>
        <p:nvSpPr>
          <p:cNvPr id="7" name="TextBox 6"/>
          <p:cNvSpPr txBox="1"/>
          <p:nvPr/>
        </p:nvSpPr>
        <p:spPr>
          <a:xfrm>
            <a:off x="5400519" y="1063262"/>
            <a:ext cx="5838095"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000" dirty="0">
                <a:solidFill>
                  <a:srgbClr val="FF0000"/>
                </a:solidFill>
                <a:latin typeface="黑体" panose="02010609060101010101" pitchFamily="2" charset="-122"/>
                <a:ea typeface="黑体" panose="02010609060101010101" pitchFamily="2" charset="-122"/>
              </a:rPr>
              <a:t>围绕研究课题</a:t>
            </a:r>
            <a:r>
              <a:rPr lang="zh-CN" altLang="en-US" sz="2000" dirty="0" smtClean="0">
                <a:solidFill>
                  <a:srgbClr val="FF0000"/>
                </a:solidFill>
                <a:latin typeface="黑体" panose="02010609060101010101" pitchFamily="2" charset="-122"/>
                <a:ea typeface="黑体" panose="02010609060101010101" pitchFamily="2" charset="-122"/>
              </a:rPr>
              <a:t>，查阅</a:t>
            </a:r>
            <a:r>
              <a:rPr lang="zh-CN" altLang="en-US" sz="2000" dirty="0">
                <a:solidFill>
                  <a:srgbClr val="FF0000"/>
                </a:solidFill>
                <a:latin typeface="黑体" panose="02010609060101010101" pitchFamily="2" charset="-122"/>
                <a:ea typeface="黑体" panose="02010609060101010101" pitchFamily="2" charset="-122"/>
              </a:rPr>
              <a:t>文献资料，总结与课题相关的现有知识、</a:t>
            </a:r>
            <a:r>
              <a:rPr lang="zh-CN" altLang="en-US" sz="2000" dirty="0" smtClean="0">
                <a:solidFill>
                  <a:srgbClr val="FF0000"/>
                </a:solidFill>
                <a:latin typeface="黑体" panose="02010609060101010101" pitchFamily="2" charset="-122"/>
                <a:ea typeface="黑体" panose="02010609060101010101" pitchFamily="2" charset="-122"/>
              </a:rPr>
              <a:t>技术、方法，以及对研究问题的帮助。</a:t>
            </a:r>
            <a:endParaRPr lang="zh-CN" altLang="en-US" sz="2000" dirty="0">
              <a:solidFill>
                <a:srgbClr val="FF0000"/>
              </a:solidFill>
              <a:latin typeface="黑体" panose="02010609060101010101" pitchFamily="2" charset="-122"/>
              <a:ea typeface="黑体" panose="0201060906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实施方案</a:t>
            </a:r>
            <a:endParaRPr lang="zh-CN" altLang="en-US" dirty="0"/>
          </a:p>
        </p:txBody>
      </p:sp>
      <p:sp>
        <p:nvSpPr>
          <p:cNvPr id="16" name="灯片编号占位符 15"/>
          <p:cNvSpPr>
            <a:spLocks noGrp="1"/>
          </p:cNvSpPr>
          <p:nvPr>
            <p:ph type="sldNum" sz="quarter" idx="11"/>
          </p:nvPr>
        </p:nvSpPr>
        <p:spPr/>
        <p:txBody>
          <a:bodyPr/>
          <a:lstStyle/>
          <a:p>
            <a:fld id="{FD7D2133-84E4-4D49-B786-7B5C0B54D116}" type="slidenum">
              <a:rPr lang="zh-CN" altLang="en-US" smtClean="0"/>
            </a:fld>
            <a:endParaRPr lang="zh-CN" altLang="en-US"/>
          </a:p>
        </p:txBody>
      </p:sp>
      <p:sp>
        <p:nvSpPr>
          <p:cNvPr id="8" name="矩形 7"/>
          <p:cNvSpPr/>
          <p:nvPr/>
        </p:nvSpPr>
        <p:spPr>
          <a:xfrm>
            <a:off x="5791200" y="5155565"/>
            <a:ext cx="158750" cy="212725"/>
          </a:xfrm>
          <a:prstGeom prst="rect">
            <a:avLst/>
          </a:prstGeom>
          <a:solidFill>
            <a:srgbClr val="F2F4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5696585" y="5098415"/>
            <a:ext cx="431800" cy="327025"/>
          </a:xfrm>
          <a:prstGeom prst="rect">
            <a:avLst/>
          </a:prstGeom>
          <a:noFill/>
        </p:spPr>
        <p:txBody>
          <a:bodyPr wrap="square" rtlCol="0">
            <a:noAutofit/>
          </a:bodyPr>
          <a:p>
            <a:r>
              <a:rPr lang="zh-CN" altLang="en-US" sz="1200">
                <a:latin typeface="华文细黑" panose="02010600040101010101" charset="-122"/>
                <a:ea typeface="华文细黑" panose="02010600040101010101" charset="-122"/>
              </a:rPr>
              <a:t>迭</a:t>
            </a:r>
            <a:endParaRPr lang="zh-CN" altLang="en-US" sz="1200">
              <a:latin typeface="华文细黑" panose="02010600040101010101" charset="-122"/>
              <a:ea typeface="华文细黑" panose="02010600040101010101" charset="-122"/>
            </a:endParaRPr>
          </a:p>
        </p:txBody>
      </p:sp>
      <p:pic>
        <p:nvPicPr>
          <p:cNvPr id="12" name="内容占位符 11"/>
          <p:cNvPicPr>
            <a:picLocks noChangeAspect="1"/>
          </p:cNvPicPr>
          <p:nvPr>
            <p:ph idx="13"/>
          </p:nvPr>
        </p:nvPicPr>
        <p:blipFill>
          <a:blip r:embed="rId1"/>
          <a:srcRect t="9510" b="4186"/>
          <a:stretch>
            <a:fillRect/>
          </a:stretch>
        </p:blipFill>
        <p:spPr>
          <a:xfrm>
            <a:off x="1599565" y="1040765"/>
            <a:ext cx="9144635" cy="5233035"/>
          </a:xfrm>
          <a:prstGeom prst="rect">
            <a:avLst/>
          </a:prstGeom>
        </p:spPr>
      </p:pic>
      <p:sp>
        <p:nvSpPr>
          <p:cNvPr id="13" name="矩形 12"/>
          <p:cNvSpPr/>
          <p:nvPr/>
        </p:nvSpPr>
        <p:spPr>
          <a:xfrm>
            <a:off x="9143365" y="5003165"/>
            <a:ext cx="1760855" cy="1295400"/>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实施方案</a:t>
            </a:r>
            <a:endParaRPr lang="zh-CN" altLang="en-US" dirty="0"/>
          </a:p>
        </p:txBody>
      </p:sp>
      <p:sp>
        <p:nvSpPr>
          <p:cNvPr id="4" name="内容占位符 3"/>
          <p:cNvSpPr>
            <a:spLocks noGrp="1"/>
          </p:cNvSpPr>
          <p:nvPr>
            <p:ph idx="1"/>
          </p:nvPr>
        </p:nvSpPr>
        <p:spPr>
          <a:xfrm>
            <a:off x="521970" y="980440"/>
            <a:ext cx="11014075" cy="5104765"/>
          </a:xfrm>
        </p:spPr>
        <p:txBody>
          <a:bodyPr/>
          <a:lstStyle/>
          <a:p>
            <a:pPr>
              <a:spcBef>
                <a:spcPts val="1200"/>
              </a:spcBef>
              <a:spcAft>
                <a:spcPts val="1200"/>
              </a:spcAft>
            </a:pPr>
            <a:r>
              <a:rPr lang="zh-CN" altLang="en-US" dirty="0"/>
              <a:t>实施</a:t>
            </a:r>
            <a:r>
              <a:rPr lang="zh-CN" altLang="en-US" dirty="0" smtClean="0"/>
              <a:t>方案详细内容</a:t>
            </a:r>
            <a:endParaRPr lang="zh-CN" altLang="en-US" sz="2000" dirty="0">
              <a:latin typeface="宋体" panose="02010600030101010101" pitchFamily="2" charset="-122"/>
              <a:ea typeface="宋体" panose="02010600030101010101" pitchFamily="2" charset="-122"/>
              <a:cs typeface="+mn-ea"/>
            </a:endParaRPr>
          </a:p>
          <a:p>
            <a:pPr lvl="1">
              <a:spcBef>
                <a:spcPts val="600"/>
              </a:spcBef>
              <a:spcAft>
                <a:spcPts val="600"/>
              </a:spcAft>
            </a:pPr>
            <a:r>
              <a:rPr lang="zh-CN" altLang="en-US" dirty="0"/>
              <a:t>数</a:t>
            </a:r>
            <a:r>
              <a:rPr lang="zh-CN" altLang="en-US" dirty="0" smtClean="0">
                <a:cs typeface="+mn-ea"/>
              </a:rPr>
              <a:t>据处理与工艺物流建模</a:t>
            </a:r>
            <a:endParaRPr lang="zh-CN" altLang="en-US" dirty="0"/>
          </a:p>
          <a:p>
            <a:pPr marL="471170" lvl="1" indent="457200">
              <a:spcBef>
                <a:spcPts val="600"/>
              </a:spcBef>
              <a:spcAft>
                <a:spcPts val="600"/>
              </a:spcAft>
              <a:buNone/>
            </a:pPr>
            <a:r>
              <a:rPr lang="zh-CN" altLang="en-US" dirty="0" smtClean="0">
                <a:latin typeface="宋体" panose="02010600030101010101" pitchFamily="2" charset="-122"/>
                <a:ea typeface="宋体" panose="02010600030101010101" pitchFamily="2" charset="-122"/>
              </a:rPr>
              <a:t>梳理设备、工序、物流及空间属性数据，完成清洗与关联，构建工艺路径图和设备物流关系。</a:t>
            </a:r>
            <a:endParaRPr lang="en-US" altLang="zh-CN" dirty="0" smtClean="0">
              <a:latin typeface="宋体" panose="02010600030101010101" pitchFamily="2" charset="-122"/>
              <a:ea typeface="宋体" panose="02010600030101010101" pitchFamily="2" charset="-122"/>
            </a:endParaRPr>
          </a:p>
          <a:p>
            <a:pPr lvl="1">
              <a:spcBef>
                <a:spcPts val="600"/>
              </a:spcBef>
              <a:spcAft>
                <a:spcPts val="600"/>
              </a:spcAft>
            </a:pPr>
            <a:r>
              <a:rPr lang="zh-CN" altLang="en-US" dirty="0" smtClean="0">
                <a:cs typeface="+mn-ea"/>
              </a:rPr>
              <a:t>布局方案设计与生成</a:t>
            </a:r>
            <a:endParaRPr lang="zh-CN" altLang="en-US" dirty="0" smtClean="0">
              <a:latin typeface="宋体" panose="02010600030101010101" pitchFamily="2" charset="-122"/>
              <a:ea typeface="宋体" panose="02010600030101010101" pitchFamily="2" charset="-122"/>
            </a:endParaRPr>
          </a:p>
          <a:p>
            <a:pPr marL="471170" lvl="1" indent="457200">
              <a:spcBef>
                <a:spcPts val="600"/>
              </a:spcBef>
              <a:spcAft>
                <a:spcPts val="600"/>
              </a:spcAft>
              <a:buNone/>
            </a:pPr>
            <a:r>
              <a:rPr lang="zh-CN" altLang="en-US" dirty="0">
                <a:latin typeface="宋体" panose="02010600030101010101" pitchFamily="2" charset="-122"/>
                <a:ea typeface="宋体" panose="02010600030101010101" pitchFamily="2" charset="-122"/>
              </a:rPr>
              <a:t>结合物流关系、设备尺寸、间距及洁净分区要求，生成多组候选布局方案，并输出设备坐标与区域划分。</a:t>
            </a:r>
            <a:endParaRPr lang="zh-CN" altLang="en-US" dirty="0">
              <a:latin typeface="宋体" panose="02010600030101010101" pitchFamily="2" charset="-122"/>
              <a:ea typeface="宋体" panose="02010600030101010101" pitchFamily="2" charset="-122"/>
            </a:endParaRPr>
          </a:p>
          <a:p>
            <a:pPr lvl="1">
              <a:spcBef>
                <a:spcPts val="600"/>
              </a:spcBef>
              <a:spcAft>
                <a:spcPts val="600"/>
              </a:spcAft>
            </a:pPr>
            <a:r>
              <a:rPr lang="zh-CN" altLang="en-US" dirty="0" smtClean="0">
                <a:cs typeface="+mn-ea"/>
              </a:rPr>
              <a:t>仿真系统构建与运行验证</a:t>
            </a:r>
            <a:endParaRPr lang="zh-CN" altLang="en-US" dirty="0">
              <a:latin typeface="宋体" panose="02010600030101010101" pitchFamily="2" charset="-122"/>
              <a:ea typeface="宋体" panose="02010600030101010101" pitchFamily="2" charset="-122"/>
            </a:endParaRPr>
          </a:p>
          <a:p>
            <a:pPr marL="471170" lvl="1" indent="457200">
              <a:spcBef>
                <a:spcPts val="600"/>
              </a:spcBef>
              <a:spcAft>
                <a:spcPts val="600"/>
              </a:spcAft>
              <a:buNone/>
            </a:pPr>
            <a:r>
              <a:rPr lang="zh-CN" altLang="en-US" dirty="0">
                <a:latin typeface="宋体" panose="02010600030101010101" pitchFamily="2" charset="-122"/>
                <a:ea typeface="宋体" panose="02010600030101010101" pitchFamily="2" charset="-122"/>
              </a:rPr>
              <a:t>将候选布局导入仿真环境，模拟物流运行过程并采集评价指标，结合实体 </a:t>
            </a:r>
            <a:r>
              <a:rPr lang="en-US" altLang="zh-CN" dirty="0">
                <a:latin typeface="宋体" panose="02010600030101010101" pitchFamily="2" charset="-122"/>
                <a:ea typeface="宋体" panose="02010600030101010101" pitchFamily="2" charset="-122"/>
              </a:rPr>
              <a:t>UGV </a:t>
            </a:r>
            <a:r>
              <a:rPr lang="zh-CN" altLang="en-US" dirty="0">
                <a:latin typeface="宋体" panose="02010600030101010101" pitchFamily="2" charset="-122"/>
                <a:ea typeface="宋体" panose="02010600030101010101" pitchFamily="2" charset="-122"/>
              </a:rPr>
              <a:t>进行验证</a:t>
            </a:r>
            <a:r>
              <a:rPr lang="zh-CN" altLang="en-US" dirty="0" smtClean="0">
                <a:latin typeface="宋体" panose="02010600030101010101" pitchFamily="2" charset="-122"/>
                <a:ea typeface="宋体" panose="02010600030101010101" pitchFamily="2" charset="-122"/>
              </a:rPr>
              <a:t>。</a:t>
            </a:r>
            <a:endParaRPr lang="zh-CN" altLang="en-US" dirty="0" smtClean="0">
              <a:latin typeface="宋体" panose="02010600030101010101" pitchFamily="2" charset="-122"/>
              <a:ea typeface="宋体" panose="02010600030101010101" pitchFamily="2" charset="-122"/>
            </a:endParaRPr>
          </a:p>
          <a:p>
            <a:pPr lvl="1" algn="l">
              <a:spcBef>
                <a:spcPts val="600"/>
              </a:spcBef>
              <a:spcAft>
                <a:spcPts val="600"/>
              </a:spcAft>
              <a:buSzTx/>
            </a:pPr>
            <a:r>
              <a:rPr lang="zh-CN" altLang="en-US" dirty="0" smtClean="0">
                <a:cs typeface="+mn-ea"/>
              </a:rPr>
              <a:t>多方案评价与迭代优化</a:t>
            </a:r>
            <a:endParaRPr lang="zh-CN" altLang="en-US" dirty="0" smtClean="0">
              <a:cs typeface="+mn-ea"/>
            </a:endParaRPr>
          </a:p>
          <a:p>
            <a:pPr marL="471170" lvl="1" indent="457200" algn="l">
              <a:spcBef>
                <a:spcPts val="600"/>
              </a:spcBef>
              <a:spcAft>
                <a:spcPts val="600"/>
              </a:spcAft>
              <a:buSzTx/>
              <a:buNone/>
            </a:pPr>
            <a:r>
              <a:rPr lang="zh-CN" altLang="en-US" dirty="0">
                <a:latin typeface="宋体" panose="02010600030101010101" pitchFamily="2" charset="-122"/>
                <a:ea typeface="宋体" panose="02010600030101010101" pitchFamily="2" charset="-122"/>
                <a:cs typeface="+mn-ea"/>
              </a:rPr>
              <a:t>对比不同方案的物流效率、空间利用率和分区合理性，开展敏感性分析并迭代形成推荐方案。</a:t>
            </a:r>
            <a:endParaRPr lang="zh-CN" altLang="en-US" dirty="0">
              <a:latin typeface="宋体" panose="02010600030101010101" pitchFamily="2" charset="-122"/>
              <a:ea typeface="宋体" panose="02010600030101010101" pitchFamily="2" charset="-122"/>
              <a:cs typeface="+mn-ea"/>
            </a:endParaRPr>
          </a:p>
          <a:p>
            <a:pPr marL="471170" lvl="1" indent="457200">
              <a:spcBef>
                <a:spcPts val="600"/>
              </a:spcBef>
              <a:spcAft>
                <a:spcPts val="600"/>
              </a:spcAft>
              <a:buNone/>
            </a:pPr>
            <a:endParaRPr lang="zh-CN" altLang="en-US" dirty="0" smtClean="0">
              <a:latin typeface="宋体" panose="02010600030101010101" pitchFamily="2" charset="-122"/>
              <a:ea typeface="宋体" panose="02010600030101010101" pitchFamily="2" charset="-122"/>
            </a:endParaRPr>
          </a:p>
          <a:p>
            <a:pPr marL="471170" lvl="1" indent="0">
              <a:buNone/>
            </a:pPr>
            <a:endParaRPr lang="zh-CN" altLang="en-US" dirty="0">
              <a:latin typeface="宋体" panose="02010600030101010101" pitchFamily="2" charset="-122"/>
              <a:ea typeface="宋体" panose="02010600030101010101" pitchFamily="2" charset="-122"/>
              <a:cs typeface="+mn-ea"/>
            </a:endParaRPr>
          </a:p>
          <a:p>
            <a:pPr marL="0" indent="0">
              <a:buNone/>
            </a:pPr>
            <a:endParaRPr lang="zh-CN" altLang="en-US" sz="2000" dirty="0">
              <a:latin typeface="宋体" panose="02010600030101010101" pitchFamily="2" charset="-122"/>
              <a:ea typeface="宋体" panose="02010600030101010101" pitchFamily="2" charset="-122"/>
              <a:cs typeface="+mn-ea"/>
            </a:endParaRPr>
          </a:p>
          <a:p>
            <a:endParaRPr lang="zh-CN" altLang="en-US" sz="2000" dirty="0" smtClean="0">
              <a:cs typeface="+mn-ea"/>
            </a:endParaRPr>
          </a:p>
          <a:p>
            <a:pPr marL="0" indent="0">
              <a:buNone/>
            </a:pPr>
            <a:endParaRPr lang="zh-CN" altLang="en-US" sz="2000" dirty="0">
              <a:latin typeface="宋体" panose="02010600030101010101" pitchFamily="2" charset="-122"/>
              <a:ea typeface="宋体" panose="02010600030101010101" pitchFamily="2" charset="-122"/>
              <a:cs typeface="+mn-ea"/>
            </a:endParaRPr>
          </a:p>
          <a:p>
            <a:endParaRPr lang="zh-CN" altLang="en-US" sz="2000" dirty="0" smtClean="0">
              <a:cs typeface="+mn-ea"/>
            </a:endParaRPr>
          </a:p>
          <a:p>
            <a:endParaRPr lang="en-US" altLang="zh-CN" dirty="0"/>
          </a:p>
          <a:p>
            <a:endParaRPr lang="en-US" altLang="zh-CN" dirty="0"/>
          </a:p>
          <a:p>
            <a:endParaRPr lang="en-US" altLang="zh-CN" dirty="0"/>
          </a:p>
          <a:p>
            <a:endParaRPr lang="en-US" altLang="zh-CN" dirty="0"/>
          </a:p>
          <a:p>
            <a:pPr marL="0" indent="0">
              <a:buNone/>
            </a:pPr>
            <a:r>
              <a:rPr lang="en-US" altLang="zh-CN" dirty="0"/>
              <a:t>	</a:t>
            </a:r>
            <a:endParaRPr lang="en-US" altLang="zh-CN" dirty="0"/>
          </a:p>
          <a:p>
            <a:endParaRPr lang="zh-CN" altLang="en-US" dirty="0"/>
          </a:p>
        </p:txBody>
      </p:sp>
      <p:sp>
        <p:nvSpPr>
          <p:cNvPr id="6" name="灯片编号占位符 5"/>
          <p:cNvSpPr>
            <a:spLocks noGrp="1"/>
          </p:cNvSpPr>
          <p:nvPr>
            <p:ph type="sldNum" sz="quarter" idx="11"/>
          </p:nvPr>
        </p:nvSpPr>
        <p:spPr/>
        <p:txBody>
          <a:bodyPr/>
          <a:lstStyle/>
          <a:p>
            <a:fld id="{FD7D2133-84E4-4D49-B786-7B5C0B54D116}" type="slidenum">
              <a:rPr lang="zh-CN" altLang="en-US" smtClean="0"/>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进度计划</a:t>
            </a:r>
            <a:endParaRPr lang="zh-CN" altLang="en-US" dirty="0"/>
          </a:p>
        </p:txBody>
      </p:sp>
      <p:graphicFrame>
        <p:nvGraphicFramePr>
          <p:cNvPr id="3" name="内容占位符 2"/>
          <p:cNvGraphicFramePr>
            <a:graphicFrameLocks noGrp="1"/>
          </p:cNvGraphicFramePr>
          <p:nvPr>
            <p:ph idx="12"/>
            <p:custDataLst>
              <p:tags r:id="rId1"/>
            </p:custDataLst>
          </p:nvPr>
        </p:nvGraphicFramePr>
        <p:xfrm>
          <a:off x="766445" y="1618615"/>
          <a:ext cx="10657205" cy="4349750"/>
        </p:xfrm>
        <a:graphic>
          <a:graphicData uri="http://schemas.openxmlformats.org/drawingml/2006/table">
            <a:tbl>
              <a:tblPr firstRow="1" firstCol="1" bandRow="1">
                <a:tableStyleId>{0505E3EF-67EA-436B-97B2-0124C06EBD24}</a:tableStyleId>
              </a:tblPr>
              <a:tblGrid>
                <a:gridCol w="1414145"/>
                <a:gridCol w="5615305"/>
                <a:gridCol w="1819910"/>
                <a:gridCol w="1807845"/>
              </a:tblGrid>
              <a:tr h="607695">
                <a:tc>
                  <a:txBody>
                    <a:bodyPr/>
                    <a:lstStyle/>
                    <a:p>
                      <a:pPr algn="ctr">
                        <a:lnSpc>
                          <a:spcPct val="150000"/>
                        </a:lnSpc>
                        <a:spcAft>
                          <a:spcPts val="0"/>
                        </a:spcAft>
                      </a:pPr>
                      <a:r>
                        <a:rPr lang="zh-CN" sz="1800" kern="100" dirty="0">
                          <a:effectLst/>
                          <a:latin typeface="黑体" panose="02010609060101010101" pitchFamily="2" charset="-122"/>
                          <a:ea typeface="黑体" panose="02010609060101010101" pitchFamily="2" charset="-122"/>
                        </a:rPr>
                        <a:t>时间节点</a:t>
                      </a:r>
                      <a:endParaRPr lang="zh-CN" sz="1800" kern="100" dirty="0">
                        <a:effectLst/>
                        <a:latin typeface="黑体" panose="02010609060101010101" pitchFamily="2" charset="-122"/>
                        <a:ea typeface="黑体" panose="0201060906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zh-CN" sz="1800" kern="100" dirty="0" smtClean="0">
                          <a:effectLst/>
                          <a:latin typeface="黑体" panose="02010609060101010101" pitchFamily="2" charset="-122"/>
                          <a:ea typeface="黑体" panose="02010609060101010101" pitchFamily="2" charset="-122"/>
                        </a:rPr>
                        <a:t>工作</a:t>
                      </a:r>
                      <a:r>
                        <a:rPr lang="zh-CN" altLang="en-US" sz="1800" kern="100" dirty="0" smtClean="0">
                          <a:effectLst/>
                          <a:latin typeface="黑体" panose="02010609060101010101" pitchFamily="2" charset="-122"/>
                          <a:ea typeface="黑体" panose="02010609060101010101" pitchFamily="2" charset="-122"/>
                        </a:rPr>
                        <a:t>任务</a:t>
                      </a:r>
                      <a:endParaRPr lang="zh-CN" sz="1800" kern="100" dirty="0">
                        <a:effectLst/>
                        <a:latin typeface="黑体" panose="02010609060101010101" pitchFamily="2" charset="-122"/>
                        <a:ea typeface="黑体" panose="0201060906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zh-CN" altLang="en-US" sz="1800" kern="100" dirty="0" smtClean="0">
                          <a:effectLst/>
                          <a:latin typeface="黑体" panose="02010609060101010101" pitchFamily="2" charset="-122"/>
                          <a:ea typeface="黑体" panose="02010609060101010101" pitchFamily="2" charset="-122"/>
                        </a:rPr>
                        <a:t>负责人</a:t>
                      </a:r>
                      <a:endParaRPr lang="zh-CN" sz="1800" kern="100" dirty="0">
                        <a:effectLst/>
                        <a:latin typeface="黑体" panose="02010609060101010101" pitchFamily="2" charset="-122"/>
                        <a:ea typeface="黑体" panose="0201060906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algn="ctr">
                        <a:lnSpc>
                          <a:spcPct val="150000"/>
                        </a:lnSpc>
                        <a:spcAft>
                          <a:spcPts val="0"/>
                        </a:spcAft>
                        <a:buNone/>
                      </a:pPr>
                      <a:r>
                        <a:rPr lang="zh-CN" altLang="en-US" sz="1800" kern="100" dirty="0">
                          <a:effectLst/>
                          <a:latin typeface="黑体" panose="02010609060101010101" pitchFamily="2" charset="-122"/>
                          <a:ea typeface="黑体" panose="02010609060101010101" pitchFamily="2" charset="-122"/>
                        </a:rPr>
                        <a:t>协助人</a:t>
                      </a:r>
                      <a:endParaRPr lang="zh-CN" altLang="en-US" sz="1800" kern="100" dirty="0">
                        <a:effectLst/>
                        <a:latin typeface="黑体" panose="02010609060101010101" pitchFamily="2" charset="-122"/>
                        <a:ea typeface="黑体" panose="0201060906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02945">
                <a:tc>
                  <a:txBody>
                    <a:bodyPr/>
                    <a:lstStyle/>
                    <a:p>
                      <a:pPr marL="71755" algn="l">
                        <a:lnSpc>
                          <a:spcPct val="150000"/>
                        </a:lnSpc>
                        <a:spcBef>
                          <a:spcPts val="0"/>
                        </a:spcBef>
                        <a:spcAft>
                          <a:spcPts val="0"/>
                        </a:spcAft>
                      </a:pPr>
                      <a:r>
                        <a:rPr lang="zh-CN" altLang="en-US" sz="1800" b="0" kern="100" dirty="0" smtClean="0">
                          <a:effectLst/>
                        </a:rPr>
                        <a:t>第</a:t>
                      </a:r>
                      <a:r>
                        <a:rPr lang="en-US" sz="1800" b="0" kern="100" dirty="0" smtClean="0">
                          <a:effectLst/>
                        </a:rPr>
                        <a:t>1-2</a:t>
                      </a:r>
                      <a:r>
                        <a:rPr lang="zh-CN" sz="1800" b="0" kern="100" dirty="0">
                          <a:effectLst/>
                        </a:rPr>
                        <a:t>周</a:t>
                      </a:r>
                      <a:endParaRPr lang="zh-CN" sz="1800" b="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algn="l">
                        <a:lnSpc>
                          <a:spcPts val="2000"/>
                        </a:lnSpc>
                        <a:spcBef>
                          <a:spcPts val="0"/>
                        </a:spcBef>
                        <a:spcAft>
                          <a:spcPts val="600"/>
                        </a:spcAft>
                      </a:pPr>
                      <a:r>
                        <a:rPr lang="zh-CN" altLang="en-US" sz="1800" kern="100" dirty="0" smtClean="0">
                          <a:effectLst/>
                        </a:rPr>
                        <a:t>完成文献调研与任务需求分析；熟悉半导体制造工艺及数据集结构，明确总体技术路线和人员分工。</a:t>
                      </a:r>
                      <a:endParaRPr lang="zh-CN" sz="180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algn="l">
                        <a:lnSpc>
                          <a:spcPts val="2000"/>
                        </a:lnSpc>
                        <a:spcBef>
                          <a:spcPts val="0"/>
                        </a:spcBef>
                        <a:spcAft>
                          <a:spcPts val="0"/>
                        </a:spcAft>
                      </a:pPr>
                      <a:r>
                        <a:rPr lang="zh-CN" sz="1800" kern="100" dirty="0" smtClean="0">
                          <a:effectLst/>
                          <a:latin typeface="Times New Roman" panose="02020603050405020304"/>
                          <a:ea typeface="+mn-ea"/>
                        </a:rPr>
                        <a:t>王嘉赫、刘若石、</a:t>
                      </a:r>
                      <a:endParaRPr lang="zh-CN" sz="1800" kern="100" dirty="0" smtClean="0">
                        <a:effectLst/>
                        <a:latin typeface="Times New Roman" panose="02020603050405020304"/>
                        <a:ea typeface="+mn-ea"/>
                      </a:endParaRPr>
                    </a:p>
                    <a:p>
                      <a:pPr marL="71755" algn="l">
                        <a:lnSpc>
                          <a:spcPts val="2000"/>
                        </a:lnSpc>
                        <a:spcBef>
                          <a:spcPts val="0"/>
                        </a:spcBef>
                        <a:spcAft>
                          <a:spcPts val="0"/>
                        </a:spcAft>
                      </a:pPr>
                      <a:r>
                        <a:rPr lang="zh-CN" sz="1800" kern="100" dirty="0" smtClean="0">
                          <a:effectLst/>
                          <a:latin typeface="Times New Roman" panose="02020603050405020304"/>
                          <a:ea typeface="+mn-ea"/>
                        </a:rPr>
                        <a:t>孙奕扬、周钦铭</a:t>
                      </a:r>
                      <a:endParaRPr lang="zh-CN" sz="180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71755" algn="l">
                        <a:lnSpc>
                          <a:spcPts val="2000"/>
                        </a:lnSpc>
                        <a:spcBef>
                          <a:spcPts val="0"/>
                        </a:spcBef>
                        <a:spcAft>
                          <a:spcPts val="0"/>
                        </a:spcAft>
                        <a:buNone/>
                      </a:pPr>
                      <a:endParaRPr lang="zh-CN" altLang="en-US" sz="180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07695">
                <a:tc>
                  <a:txBody>
                    <a:bodyPr/>
                    <a:lstStyle/>
                    <a:p>
                      <a:pPr marL="71755" algn="l">
                        <a:lnSpc>
                          <a:spcPct val="150000"/>
                        </a:lnSpc>
                        <a:spcBef>
                          <a:spcPts val="0"/>
                        </a:spcBef>
                        <a:spcAft>
                          <a:spcPts val="0"/>
                        </a:spcAft>
                      </a:pPr>
                      <a:r>
                        <a:rPr lang="zh-CN" altLang="en-US" sz="1800" b="0" kern="100" dirty="0" smtClean="0">
                          <a:effectLst/>
                        </a:rPr>
                        <a:t>第</a:t>
                      </a:r>
                      <a:r>
                        <a:rPr lang="en-US" sz="1800" b="0" kern="100" dirty="0" smtClean="0">
                          <a:effectLst/>
                        </a:rPr>
                        <a:t>3</a:t>
                      </a:r>
                      <a:r>
                        <a:rPr lang="zh-CN" sz="1800" b="0" kern="100" dirty="0">
                          <a:effectLst/>
                        </a:rPr>
                        <a:t>周</a:t>
                      </a:r>
                      <a:endParaRPr lang="zh-CN" sz="1800" b="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algn="l">
                        <a:lnSpc>
                          <a:spcPts val="2000"/>
                        </a:lnSpc>
                        <a:spcBef>
                          <a:spcPts val="0"/>
                        </a:spcBef>
                        <a:spcAft>
                          <a:spcPts val="600"/>
                        </a:spcAft>
                      </a:pPr>
                      <a:r>
                        <a:rPr lang="zh-CN" altLang="en-US" sz="1800" kern="100" dirty="0">
                          <a:effectLst/>
                          <a:latin typeface="Times New Roman" panose="02020603050405020304"/>
                          <a:ea typeface="宋体" panose="02010600030101010101" pitchFamily="2" charset="-122"/>
                        </a:rPr>
                        <a:t>完成数据梳理与预处理；明确设备、工序、物流及空间属性，初步重构产品工艺流程。</a:t>
                      </a:r>
                      <a:endParaRPr lang="zh-CN" altLang="en-US" sz="180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marR="0" indent="0" algn="l" defTabSz="914400" rtl="0" eaLnBrk="1" fontAlgn="auto" latinLnBrk="0" hangingPunct="1">
                        <a:lnSpc>
                          <a:spcPts val="2000"/>
                        </a:lnSpc>
                        <a:spcBef>
                          <a:spcPts val="0"/>
                        </a:spcBef>
                        <a:spcAft>
                          <a:spcPts val="0"/>
                        </a:spcAft>
                        <a:buClrTx/>
                        <a:buSzTx/>
                        <a:buFontTx/>
                        <a:buNone/>
                        <a:defRPr/>
                      </a:pPr>
                      <a:r>
                        <a:rPr lang="zh-CN" sz="1800" kern="100" dirty="0" smtClean="0">
                          <a:effectLst/>
                          <a:latin typeface="Times New Roman" panose="02020603050405020304"/>
                          <a:ea typeface="+mn-ea"/>
                        </a:rPr>
                        <a:t>刘若石、王嘉赫</a:t>
                      </a:r>
                      <a:endParaRPr lang="zh-CN" sz="1800" kern="100" dirty="0" smtClean="0">
                        <a:effectLst/>
                        <a:latin typeface="Times New Roman" panose="02020603050405020304"/>
                        <a:ea typeface="+mn-ea"/>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71755" algn="l">
                        <a:lnSpc>
                          <a:spcPts val="2000"/>
                        </a:lnSpc>
                        <a:spcBef>
                          <a:spcPts val="0"/>
                        </a:spcBef>
                        <a:spcAft>
                          <a:spcPts val="0"/>
                        </a:spcAft>
                      </a:pPr>
                      <a:r>
                        <a:rPr lang="zh-CN" sz="1800" kern="100" dirty="0" smtClean="0">
                          <a:effectLst/>
                          <a:latin typeface="Times New Roman" panose="02020603050405020304"/>
                          <a:sym typeface="+mn-ea"/>
                        </a:rPr>
                        <a:t>孙奕扬、周钦铭</a:t>
                      </a:r>
                      <a:endParaRPr lang="zh-CN" altLang="en-US" sz="1800" kern="100" dirty="0" smtClean="0">
                        <a:effectLst/>
                        <a:latin typeface="Times New Roman" panose="02020603050405020304"/>
                        <a:ea typeface="+mn-ea"/>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08330">
                <a:tc>
                  <a:txBody>
                    <a:bodyPr/>
                    <a:lstStyle/>
                    <a:p>
                      <a:pPr marL="71755" algn="l">
                        <a:lnSpc>
                          <a:spcPct val="150000"/>
                        </a:lnSpc>
                        <a:spcBef>
                          <a:spcPts val="0"/>
                        </a:spcBef>
                        <a:spcAft>
                          <a:spcPts val="0"/>
                        </a:spcAft>
                      </a:pPr>
                      <a:r>
                        <a:rPr lang="zh-CN" altLang="en-US" sz="1800" b="0" kern="100" dirty="0" smtClean="0">
                          <a:effectLst/>
                        </a:rPr>
                        <a:t>第</a:t>
                      </a:r>
                      <a:r>
                        <a:rPr lang="en-US" sz="1800" b="0" kern="100" dirty="0" smtClean="0">
                          <a:effectLst/>
                        </a:rPr>
                        <a:t>4-5</a:t>
                      </a:r>
                      <a:r>
                        <a:rPr lang="zh-CN" sz="1800" b="0" kern="100" dirty="0">
                          <a:effectLst/>
                        </a:rPr>
                        <a:t>周</a:t>
                      </a:r>
                      <a:endParaRPr lang="zh-CN" sz="1800" b="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algn="l">
                        <a:lnSpc>
                          <a:spcPts val="2000"/>
                        </a:lnSpc>
                        <a:spcBef>
                          <a:spcPts val="0"/>
                        </a:spcBef>
                        <a:spcAft>
                          <a:spcPts val="600"/>
                        </a:spcAft>
                      </a:pPr>
                      <a:r>
                        <a:rPr lang="zh-CN" altLang="en-US" sz="1800" kern="100" dirty="0">
                          <a:effectLst/>
                          <a:latin typeface="Times New Roman" panose="02020603050405020304"/>
                          <a:ea typeface="宋体" panose="02010600030101010101" pitchFamily="2" charset="-122"/>
                        </a:rPr>
                        <a:t>构建产品工艺路径及设备物流关系；完成布局需求分析、约束条件整理和布局问题定义。</a:t>
                      </a:r>
                      <a:endParaRPr lang="zh-CN" altLang="en-US" sz="180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marR="0" indent="0" algn="l" defTabSz="914400" rtl="0" eaLnBrk="1" fontAlgn="auto" latinLnBrk="0" hangingPunct="1">
                        <a:lnSpc>
                          <a:spcPts val="2000"/>
                        </a:lnSpc>
                        <a:spcBef>
                          <a:spcPts val="0"/>
                        </a:spcBef>
                        <a:spcAft>
                          <a:spcPts val="0"/>
                        </a:spcAft>
                        <a:buClrTx/>
                        <a:buSzTx/>
                        <a:buFontTx/>
                        <a:buNone/>
                        <a:defRPr/>
                      </a:pPr>
                      <a:r>
                        <a:rPr lang="zh-CN" sz="1800" kern="100" dirty="0" smtClean="0">
                          <a:effectLst/>
                          <a:latin typeface="Times New Roman" panose="02020603050405020304"/>
                          <a:ea typeface="+mn-ea"/>
                        </a:rPr>
                        <a:t>王嘉赫、周钦铭</a:t>
                      </a:r>
                      <a:endParaRPr lang="zh-CN" sz="180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71755" algn="l">
                        <a:lnSpc>
                          <a:spcPts val="2000"/>
                        </a:lnSpc>
                        <a:spcBef>
                          <a:spcPts val="0"/>
                        </a:spcBef>
                        <a:spcAft>
                          <a:spcPts val="0"/>
                        </a:spcAft>
                        <a:buNone/>
                      </a:pPr>
                      <a:r>
                        <a:rPr lang="zh-CN" altLang="en-US" sz="1800" kern="100" dirty="0">
                          <a:effectLst/>
                          <a:latin typeface="Times New Roman" panose="02020603050405020304"/>
                          <a:ea typeface="宋体" panose="02010600030101010101" pitchFamily="2" charset="-122"/>
                        </a:rPr>
                        <a:t>刘若石、孙奕扬</a:t>
                      </a:r>
                      <a:endParaRPr lang="zh-CN" altLang="en-US" sz="180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07060">
                <a:tc>
                  <a:txBody>
                    <a:bodyPr/>
                    <a:lstStyle/>
                    <a:p>
                      <a:pPr marL="71755" algn="l">
                        <a:lnSpc>
                          <a:spcPct val="150000"/>
                        </a:lnSpc>
                        <a:spcBef>
                          <a:spcPts val="0"/>
                        </a:spcBef>
                        <a:spcAft>
                          <a:spcPts val="0"/>
                        </a:spcAft>
                      </a:pPr>
                      <a:r>
                        <a:rPr lang="zh-CN" altLang="en-US" sz="1800" b="0" kern="100" dirty="0" smtClean="0">
                          <a:effectLst/>
                        </a:rPr>
                        <a:t>第</a:t>
                      </a:r>
                      <a:r>
                        <a:rPr lang="en-US" sz="1800" b="0" kern="100" dirty="0" smtClean="0">
                          <a:effectLst/>
                        </a:rPr>
                        <a:t>6-9</a:t>
                      </a:r>
                      <a:r>
                        <a:rPr lang="zh-CN" sz="1800" b="0" kern="100" dirty="0">
                          <a:effectLst/>
                        </a:rPr>
                        <a:t>周</a:t>
                      </a:r>
                      <a:endParaRPr lang="zh-CN" sz="1800" b="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algn="l">
                        <a:lnSpc>
                          <a:spcPts val="2000"/>
                        </a:lnSpc>
                        <a:spcBef>
                          <a:spcPts val="0"/>
                        </a:spcBef>
                        <a:spcAft>
                          <a:spcPts val="600"/>
                        </a:spcAft>
                      </a:pPr>
                      <a:r>
                        <a:rPr lang="zh-CN" altLang="en-US" sz="1800" kern="100" dirty="0">
                          <a:effectLst/>
                          <a:latin typeface="Times New Roman" panose="02020603050405020304"/>
                          <a:ea typeface="宋体" panose="02010600030101010101" pitchFamily="2" charset="-122"/>
                        </a:rPr>
                        <a:t>生成并完善候选布局方案；同步搭建二维/三维仿真场景和物流运行环境。</a:t>
                      </a:r>
                      <a:endParaRPr lang="zh-CN" altLang="en-US" sz="180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marR="0" indent="0" algn="l" defTabSz="914400" rtl="0" eaLnBrk="1" fontAlgn="auto" latinLnBrk="0" hangingPunct="1">
                        <a:lnSpc>
                          <a:spcPts val="2000"/>
                        </a:lnSpc>
                        <a:spcBef>
                          <a:spcPts val="0"/>
                        </a:spcBef>
                        <a:spcAft>
                          <a:spcPts val="0"/>
                        </a:spcAft>
                        <a:buClrTx/>
                        <a:buSzTx/>
                        <a:buFontTx/>
                        <a:buNone/>
                        <a:defRPr/>
                      </a:pPr>
                      <a:r>
                        <a:rPr lang="zh-CN" sz="1800" kern="100" dirty="0" smtClean="0">
                          <a:effectLst/>
                          <a:latin typeface="Times New Roman" panose="02020603050405020304"/>
                          <a:ea typeface="+mn-ea"/>
                        </a:rPr>
                        <a:t>周钦铭、孙奕扬</a:t>
                      </a:r>
                      <a:endParaRPr lang="zh-CN" altLang="zh-CN" sz="1800" kern="100" dirty="0" smtClean="0">
                        <a:effectLst/>
                        <a:latin typeface="Times New Roman" panose="02020603050405020304"/>
                        <a:ea typeface="+mn-ea"/>
                      </a:endParaRPr>
                    </a:p>
                    <a:p>
                      <a:pPr marL="71755" algn="l">
                        <a:lnSpc>
                          <a:spcPts val="2000"/>
                        </a:lnSpc>
                        <a:spcBef>
                          <a:spcPts val="0"/>
                        </a:spcBef>
                        <a:spcAft>
                          <a:spcPts val="0"/>
                        </a:spcAft>
                      </a:pPr>
                      <a:endParaRPr lang="zh-CN" sz="180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71755" algn="l">
                        <a:lnSpc>
                          <a:spcPts val="2000"/>
                        </a:lnSpc>
                        <a:spcBef>
                          <a:spcPts val="0"/>
                        </a:spcBef>
                        <a:spcAft>
                          <a:spcPts val="0"/>
                        </a:spcAft>
                        <a:buNone/>
                      </a:pPr>
                      <a:r>
                        <a:rPr lang="zh-CN" sz="1800" kern="100" dirty="0" smtClean="0">
                          <a:effectLst/>
                          <a:latin typeface="Times New Roman" panose="02020603050405020304"/>
                          <a:sym typeface="+mn-ea"/>
                        </a:rPr>
                        <a:t>王嘉赫、刘若石</a:t>
                      </a:r>
                      <a:endParaRPr lang="zh-CN" altLang="en-US" sz="180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07695">
                <a:tc>
                  <a:txBody>
                    <a:bodyPr/>
                    <a:lstStyle/>
                    <a:p>
                      <a:pPr marL="71755" algn="l">
                        <a:lnSpc>
                          <a:spcPct val="150000"/>
                        </a:lnSpc>
                        <a:spcBef>
                          <a:spcPts val="0"/>
                        </a:spcBef>
                        <a:spcAft>
                          <a:spcPts val="0"/>
                        </a:spcAft>
                      </a:pPr>
                      <a:r>
                        <a:rPr lang="zh-CN" altLang="en-US" sz="1800" b="0" kern="100" dirty="0" smtClean="0">
                          <a:effectLst/>
                        </a:rPr>
                        <a:t>第</a:t>
                      </a:r>
                      <a:r>
                        <a:rPr lang="en-US" sz="1800" b="0" kern="100" dirty="0" smtClean="0">
                          <a:effectLst/>
                        </a:rPr>
                        <a:t>10-13</a:t>
                      </a:r>
                      <a:r>
                        <a:rPr lang="zh-CN" sz="1800" b="0" kern="100" dirty="0">
                          <a:effectLst/>
                        </a:rPr>
                        <a:t>周</a:t>
                      </a:r>
                      <a:endParaRPr lang="zh-CN" sz="1800" b="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algn="l">
                        <a:lnSpc>
                          <a:spcPts val="2000"/>
                        </a:lnSpc>
                        <a:spcBef>
                          <a:spcPts val="0"/>
                        </a:spcBef>
                        <a:spcAft>
                          <a:spcPts val="600"/>
                        </a:spcAft>
                      </a:pPr>
                      <a:r>
                        <a:rPr lang="zh-CN" altLang="en-US" sz="1800" kern="100" dirty="0" smtClean="0">
                          <a:effectLst/>
                        </a:rPr>
                        <a:t>开展多方案仿真评价与对比，完善物流运行过程；接入实验室 </a:t>
                      </a:r>
                      <a:r>
                        <a:rPr lang="en-US" altLang="zh-CN" sz="1800" kern="100" dirty="0" smtClean="0">
                          <a:effectLst/>
                        </a:rPr>
                        <a:t>UGV，</a:t>
                      </a:r>
                      <a:r>
                        <a:rPr lang="zh-CN" altLang="en-US" sz="1800" kern="100" dirty="0" smtClean="0">
                          <a:effectLst/>
                        </a:rPr>
                        <a:t>开展 </a:t>
                      </a:r>
                      <a:r>
                        <a:rPr lang="en-US" altLang="zh-CN" sz="1800" kern="100" dirty="0" smtClean="0">
                          <a:effectLst/>
                        </a:rPr>
                        <a:t>HIL </a:t>
                      </a:r>
                      <a:r>
                        <a:rPr lang="zh-CN" altLang="en-US" sz="1800" kern="100" dirty="0" smtClean="0">
                          <a:effectLst/>
                        </a:rPr>
                        <a:t>验证和方案迭代。</a:t>
                      </a:r>
                      <a:r>
                        <a:rPr lang="zh-CN" altLang="en-US" sz="1800" kern="100" dirty="0" smtClean="0">
                          <a:effectLst/>
                        </a:rPr>
                        <a:t>。</a:t>
                      </a:r>
                      <a:endParaRPr lang="zh-CN" sz="180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marR="0" indent="0" algn="l" defTabSz="914400" rtl="0" eaLnBrk="1" fontAlgn="auto" latinLnBrk="0" hangingPunct="1">
                        <a:lnSpc>
                          <a:spcPts val="2000"/>
                        </a:lnSpc>
                        <a:spcBef>
                          <a:spcPts val="0"/>
                        </a:spcBef>
                        <a:spcAft>
                          <a:spcPts val="0"/>
                        </a:spcAft>
                        <a:buClrTx/>
                        <a:buSzTx/>
                        <a:buFontTx/>
                        <a:buNone/>
                        <a:defRPr/>
                      </a:pPr>
                      <a:r>
                        <a:rPr lang="zh-CN" altLang="en-US" sz="1800" kern="100" dirty="0" smtClean="0">
                          <a:effectLst/>
                          <a:latin typeface="Times New Roman" panose="02020603050405020304"/>
                          <a:ea typeface="+mn-ea"/>
                        </a:rPr>
                        <a:t>孙奕扬、刘若石</a:t>
                      </a:r>
                      <a:endParaRPr lang="zh-CN" altLang="en-US" sz="1800" kern="100" dirty="0" smtClean="0">
                        <a:effectLst/>
                        <a:latin typeface="Times New Roman" panose="02020603050405020304"/>
                        <a:ea typeface="+mn-ea"/>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71755" marR="0" indent="0" algn="l" defTabSz="914400" rtl="0" eaLnBrk="1" fontAlgn="auto" latinLnBrk="0" hangingPunct="1">
                        <a:lnSpc>
                          <a:spcPts val="2000"/>
                        </a:lnSpc>
                        <a:spcBef>
                          <a:spcPts val="0"/>
                        </a:spcBef>
                        <a:spcAft>
                          <a:spcPts val="0"/>
                        </a:spcAft>
                        <a:buClrTx/>
                        <a:buSzTx/>
                        <a:buFontTx/>
                        <a:buNone/>
                        <a:defRPr/>
                      </a:pPr>
                      <a:r>
                        <a:rPr lang="zh-CN" sz="1800" kern="100" dirty="0" smtClean="0">
                          <a:effectLst/>
                          <a:latin typeface="Times New Roman" panose="02020603050405020304"/>
                          <a:sym typeface="+mn-ea"/>
                        </a:rPr>
                        <a:t>王嘉赫、周钦铭</a:t>
                      </a:r>
                      <a:endParaRPr lang="zh-CN" altLang="en-US" sz="1800" kern="100" dirty="0" smtClean="0">
                        <a:effectLst/>
                        <a:latin typeface="Times New Roman" panose="02020603050405020304"/>
                        <a:ea typeface="+mn-ea"/>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08330">
                <a:tc>
                  <a:txBody>
                    <a:bodyPr/>
                    <a:lstStyle/>
                    <a:p>
                      <a:pPr marL="71755" algn="l">
                        <a:lnSpc>
                          <a:spcPct val="150000"/>
                        </a:lnSpc>
                        <a:spcBef>
                          <a:spcPts val="0"/>
                        </a:spcBef>
                        <a:spcAft>
                          <a:spcPts val="0"/>
                        </a:spcAft>
                      </a:pPr>
                      <a:r>
                        <a:rPr lang="zh-CN" altLang="en-US" sz="1800" b="0" kern="100" dirty="0" smtClean="0">
                          <a:effectLst/>
                        </a:rPr>
                        <a:t>第</a:t>
                      </a:r>
                      <a:r>
                        <a:rPr lang="en-US" sz="1800" b="0" kern="100" dirty="0" smtClean="0">
                          <a:effectLst/>
                        </a:rPr>
                        <a:t>14-16</a:t>
                      </a:r>
                      <a:r>
                        <a:rPr lang="zh-CN" sz="1800" b="0" kern="100" dirty="0">
                          <a:effectLst/>
                        </a:rPr>
                        <a:t>周</a:t>
                      </a:r>
                      <a:endParaRPr lang="zh-CN" sz="1800" b="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algn="l">
                        <a:lnSpc>
                          <a:spcPts val="2000"/>
                        </a:lnSpc>
                        <a:spcBef>
                          <a:spcPts val="0"/>
                        </a:spcBef>
                        <a:spcAft>
                          <a:spcPts val="600"/>
                        </a:spcAft>
                      </a:pPr>
                      <a:r>
                        <a:rPr lang="zh-CN" altLang="en-US" sz="1800" kern="100" dirty="0" smtClean="0">
                          <a:effectLst/>
                        </a:rPr>
                        <a:t>开展敏感性分析和综合方案验证，确定推荐方案；完成系统整合、课程报告及终期展示。</a:t>
                      </a:r>
                      <a:endParaRPr lang="zh-CN" sz="180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algn="l">
                        <a:lnSpc>
                          <a:spcPts val="2000"/>
                        </a:lnSpc>
                        <a:spcBef>
                          <a:spcPts val="0"/>
                        </a:spcBef>
                        <a:spcAft>
                          <a:spcPts val="0"/>
                        </a:spcAft>
                      </a:pPr>
                      <a:r>
                        <a:rPr lang="zh-CN" sz="1800" kern="100" dirty="0" smtClean="0">
                          <a:effectLst/>
                          <a:latin typeface="Times New Roman" panose="02020603050405020304"/>
                          <a:sym typeface="+mn-ea"/>
                        </a:rPr>
                        <a:t>王嘉赫、刘若石、</a:t>
                      </a:r>
                      <a:endParaRPr lang="zh-CN" sz="1800" kern="100" dirty="0" smtClean="0">
                        <a:effectLst/>
                        <a:latin typeface="Times New Roman" panose="02020603050405020304"/>
                        <a:ea typeface="+mn-ea"/>
                      </a:endParaRPr>
                    </a:p>
                    <a:p>
                      <a:pPr marL="71755" algn="l">
                        <a:lnSpc>
                          <a:spcPts val="2000"/>
                        </a:lnSpc>
                        <a:spcBef>
                          <a:spcPts val="0"/>
                        </a:spcBef>
                        <a:spcAft>
                          <a:spcPts val="0"/>
                        </a:spcAft>
                      </a:pPr>
                      <a:r>
                        <a:rPr lang="zh-CN" sz="1800" kern="100" dirty="0" smtClean="0">
                          <a:effectLst/>
                          <a:latin typeface="Times New Roman" panose="02020603050405020304"/>
                          <a:sym typeface="+mn-ea"/>
                        </a:rPr>
                        <a:t>孙奕扬、周钦铭</a:t>
                      </a:r>
                      <a:endParaRPr lang="zh-CN" altLang="zh-CN" sz="1800" kern="100" dirty="0" smtClean="0">
                        <a:effectLst/>
                        <a:latin typeface="Times New Roman" panose="02020603050405020304"/>
                        <a:ea typeface="+mn-ea"/>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71755" marR="0" indent="0" algn="l" defTabSz="914400" rtl="0" eaLnBrk="1" fontAlgn="auto" latinLnBrk="0" hangingPunct="1">
                        <a:lnSpc>
                          <a:spcPts val="2000"/>
                        </a:lnSpc>
                        <a:spcBef>
                          <a:spcPts val="0"/>
                        </a:spcBef>
                        <a:spcAft>
                          <a:spcPts val="0"/>
                        </a:spcAft>
                        <a:buClrTx/>
                        <a:buSzTx/>
                        <a:buFontTx/>
                        <a:buNone/>
                        <a:defRPr/>
                      </a:pPr>
                      <a:endParaRPr lang="zh-CN" altLang="zh-CN" sz="1800" kern="100" dirty="0" smtClean="0">
                        <a:effectLst/>
                        <a:latin typeface="Times New Roman" panose="02020603050405020304"/>
                        <a:ea typeface="+mn-ea"/>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6" name="灯片编号占位符 5"/>
          <p:cNvSpPr>
            <a:spLocks noGrp="1"/>
          </p:cNvSpPr>
          <p:nvPr>
            <p:ph type="sldNum" sz="quarter" idx="11"/>
          </p:nvPr>
        </p:nvSpPr>
        <p:spPr/>
        <p:txBody>
          <a:bodyPr/>
          <a:lstStyle/>
          <a:p>
            <a:fld id="{FD7D2133-84E4-4D49-B786-7B5C0B54D116}" type="slidenum">
              <a:rPr lang="zh-CN" altLang="en-US" smtClean="0"/>
            </a:fld>
            <a:endParaRPr lang="zh-CN" altLang="en-US"/>
          </a:p>
        </p:txBody>
      </p:sp>
      <p:sp>
        <p:nvSpPr>
          <p:cNvPr id="10" name="内容占位符 3"/>
          <p:cNvSpPr>
            <a:spLocks noGrp="1"/>
          </p:cNvSpPr>
          <p:nvPr>
            <p:ph idx="1"/>
          </p:nvPr>
        </p:nvSpPr>
        <p:spPr>
          <a:xfrm>
            <a:off x="755650" y="1143000"/>
            <a:ext cx="10668000" cy="534670"/>
          </a:xfrm>
        </p:spPr>
        <p:txBody>
          <a:bodyPr/>
          <a:lstStyle/>
          <a:p>
            <a:r>
              <a:rPr lang="zh-CN" altLang="en-US" dirty="0" smtClean="0"/>
              <a:t>进度计划与</a:t>
            </a:r>
            <a:r>
              <a:rPr lang="zh-CN" altLang="en-US" dirty="0"/>
              <a:t>成员</a:t>
            </a:r>
            <a:r>
              <a:rPr lang="zh-CN" altLang="en-US" dirty="0" smtClean="0"/>
              <a:t>分工</a:t>
            </a:r>
            <a:endParaRPr lang="en-US" altLang="zh-C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参考文献</a:t>
            </a:r>
            <a:endParaRPr lang="zh-CN" altLang="en-US" dirty="0"/>
          </a:p>
        </p:txBody>
      </p:sp>
      <p:sp>
        <p:nvSpPr>
          <p:cNvPr id="3" name="内容占位符 2"/>
          <p:cNvSpPr>
            <a:spLocks noGrp="1"/>
          </p:cNvSpPr>
          <p:nvPr>
            <p:ph idx="1"/>
          </p:nvPr>
        </p:nvSpPr>
        <p:spPr/>
        <p:txBody>
          <a:bodyPr/>
          <a:lstStyle/>
          <a:p>
            <a:pPr>
              <a:spcBef>
                <a:spcPts val="600"/>
              </a:spcBef>
              <a:spcAft>
                <a:spcPts val="600"/>
              </a:spcAft>
            </a:pPr>
            <a:endParaRPr lang="en-US" altLang="zh-CN" sz="1800" dirty="0" smtClean="0"/>
          </a:p>
          <a:p>
            <a:pPr marL="0" indent="0">
              <a:spcBef>
                <a:spcPts val="600"/>
              </a:spcBef>
              <a:spcAft>
                <a:spcPts val="600"/>
              </a:spcAft>
              <a:buNone/>
            </a:pPr>
            <a:endParaRPr lang="en-US" altLang="zh-CN" sz="1800" dirty="0" smtClean="0"/>
          </a:p>
          <a:p>
            <a:pPr marL="360045" indent="-457200">
              <a:spcBef>
                <a:spcPts val="600"/>
              </a:spcBef>
              <a:spcAft>
                <a:spcPts val="600"/>
              </a:spcAft>
              <a:buNone/>
            </a:pPr>
            <a:r>
              <a:rPr lang="en-US" altLang="zh-CN" sz="1800" dirty="0" smtClean="0"/>
              <a:t>[1] Martin </a:t>
            </a:r>
            <a:r>
              <a:rPr lang="en-US" altLang="zh-CN" sz="1800" dirty="0"/>
              <a:t>I Reiman and </a:t>
            </a:r>
            <a:r>
              <a:rPr lang="en-US" altLang="zh-CN" sz="1800" dirty="0" err="1"/>
              <a:t>Qiong</a:t>
            </a:r>
            <a:r>
              <a:rPr lang="en-US" altLang="zh-CN" sz="1800" dirty="0"/>
              <a:t> Wang. An asymptotically optimal policy for a </a:t>
            </a:r>
            <a:r>
              <a:rPr lang="en-US" altLang="zh-CN" sz="1800" dirty="0" err="1"/>
              <a:t>quantity­based</a:t>
            </a:r>
            <a:r>
              <a:rPr lang="en-US" altLang="zh-CN" sz="1800" dirty="0"/>
              <a:t> network revenue management problem. Mathematics of Operations Research, 33(2):257–282, 2008. </a:t>
            </a:r>
            <a:endParaRPr lang="en-US" altLang="zh-CN" sz="1800" dirty="0"/>
          </a:p>
          <a:p>
            <a:pPr marL="360045" indent="-457200">
              <a:spcBef>
                <a:spcPts val="600"/>
              </a:spcBef>
              <a:spcAft>
                <a:spcPts val="600"/>
              </a:spcAft>
              <a:buNone/>
            </a:pPr>
            <a:r>
              <a:rPr lang="en-US" altLang="zh-CN" sz="1800" dirty="0"/>
              <a:t>[2] </a:t>
            </a:r>
            <a:r>
              <a:rPr lang="en-US" altLang="zh-CN" sz="1800" dirty="0" err="1"/>
              <a:t>Stefanus</a:t>
            </a:r>
            <a:r>
              <a:rPr lang="en-US" altLang="zh-CN" sz="1800" dirty="0"/>
              <a:t> </a:t>
            </a:r>
            <a:r>
              <a:rPr lang="en-US" altLang="zh-CN" sz="1800" dirty="0" err="1"/>
              <a:t>Jasin</a:t>
            </a:r>
            <a:r>
              <a:rPr lang="en-US" altLang="zh-CN" sz="1800" dirty="0"/>
              <a:t> and Sunil Kumar. A re­solving heuristic with bounded revenue loss for network revenue management with customer choice. Mathematics of Operations Research, 37(2):313– 345, 2012.</a:t>
            </a:r>
            <a:endParaRPr lang="en-US" altLang="zh-CN" sz="1800" dirty="0"/>
          </a:p>
          <a:p>
            <a:pPr marL="360045" indent="-457200">
              <a:spcBef>
                <a:spcPts val="600"/>
              </a:spcBef>
              <a:spcAft>
                <a:spcPts val="600"/>
              </a:spcAft>
              <a:buNone/>
            </a:pPr>
            <a:r>
              <a:rPr lang="en-US" altLang="zh-CN" sz="1800" dirty="0" smtClean="0"/>
              <a:t>[3] </a:t>
            </a:r>
            <a:r>
              <a:rPr lang="en-US" altLang="zh-CN" sz="1800" dirty="0" err="1" smtClean="0"/>
              <a:t>Stefanus</a:t>
            </a:r>
            <a:r>
              <a:rPr lang="en-US" altLang="zh-CN" sz="1800" dirty="0" smtClean="0"/>
              <a:t> </a:t>
            </a:r>
            <a:r>
              <a:rPr lang="en-US" altLang="zh-CN" sz="1800" dirty="0" err="1"/>
              <a:t>Jasin</a:t>
            </a:r>
            <a:r>
              <a:rPr lang="en-US" altLang="zh-CN" sz="1800" dirty="0"/>
              <a:t> and Sunil Kumar. Analysis of deterministic </a:t>
            </a:r>
            <a:r>
              <a:rPr lang="en-US" altLang="zh-CN" sz="1800" dirty="0" err="1"/>
              <a:t>lp­based</a:t>
            </a:r>
            <a:r>
              <a:rPr lang="en-US" altLang="zh-CN" sz="1800" dirty="0"/>
              <a:t> booking limit and bid price controls for revenue management. Operations Research, 61(6):1312–1320, 2013. </a:t>
            </a:r>
            <a:endParaRPr lang="en-US" altLang="zh-CN" sz="1800" dirty="0"/>
          </a:p>
          <a:p>
            <a:pPr marL="360045" indent="-457200">
              <a:spcBef>
                <a:spcPts val="600"/>
              </a:spcBef>
              <a:spcAft>
                <a:spcPts val="600"/>
              </a:spcAft>
              <a:buNone/>
            </a:pPr>
            <a:r>
              <a:rPr lang="en-US" altLang="zh-CN" sz="1800" dirty="0" smtClean="0"/>
              <a:t>[4] Jason </a:t>
            </a:r>
            <a:r>
              <a:rPr lang="en-US" altLang="zh-CN" sz="1800" dirty="0" err="1"/>
              <a:t>Acimovic</a:t>
            </a:r>
            <a:r>
              <a:rPr lang="en-US" altLang="zh-CN" sz="1800" dirty="0"/>
              <a:t> and Stephen C Graves. Making better fulfillment decisions on the fly in an online</a:t>
            </a:r>
            <a:endParaRPr lang="en-US" altLang="zh-CN" sz="1800" dirty="0"/>
          </a:p>
        </p:txBody>
      </p:sp>
      <p:sp>
        <p:nvSpPr>
          <p:cNvPr id="4" name="灯片编号占位符 3"/>
          <p:cNvSpPr>
            <a:spLocks noGrp="1"/>
          </p:cNvSpPr>
          <p:nvPr>
            <p:ph type="sldNum" sz="quarter" idx="11"/>
          </p:nvPr>
        </p:nvSpPr>
        <p:spPr/>
        <p:txBody>
          <a:bodyPr/>
          <a:lstStyle/>
          <a:p>
            <a:fld id="{FD7D2133-84E4-4D49-B786-7B5C0B54D116}" type="slidenum">
              <a:rPr lang="zh-CN" altLang="en-US" smtClean="0"/>
            </a:fld>
            <a:endParaRPr lang="zh-CN" altLang="en-US"/>
          </a:p>
        </p:txBody>
      </p:sp>
      <p:sp>
        <p:nvSpPr>
          <p:cNvPr id="5" name="内容占位符 4"/>
          <p:cNvSpPr>
            <a:spLocks noGrp="1"/>
          </p:cNvSpPr>
          <p:nvPr>
            <p:ph idx="12"/>
          </p:nvPr>
        </p:nvSpPr>
        <p:spPr/>
        <p:txBody>
          <a:bodyPr/>
          <a:lstStyle/>
          <a:p>
            <a:endParaRPr lang="zh-CN" altLang="en-US"/>
          </a:p>
        </p:txBody>
      </p:sp>
      <p:sp>
        <p:nvSpPr>
          <p:cNvPr id="6" name="TextBox 5"/>
          <p:cNvSpPr txBox="1"/>
          <p:nvPr/>
        </p:nvSpPr>
        <p:spPr>
          <a:xfrm>
            <a:off x="6815470" y="1244035"/>
            <a:ext cx="4242390" cy="40011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000" dirty="0" smtClean="0">
                <a:solidFill>
                  <a:srgbClr val="FF0000"/>
                </a:solidFill>
                <a:latin typeface="黑体" panose="02010609060101010101" pitchFamily="2" charset="-122"/>
                <a:ea typeface="黑体" panose="02010609060101010101" pitchFamily="2" charset="-122"/>
              </a:rPr>
              <a:t>列出开题阶段查阅的主要参考文献。</a:t>
            </a:r>
            <a:endParaRPr lang="zh-CN" altLang="en-US" sz="2000" dirty="0">
              <a:solidFill>
                <a:srgbClr val="FF0000"/>
              </a:solidFill>
              <a:latin typeface="黑体" panose="02010609060101010101" pitchFamily="2" charset="-122"/>
              <a:ea typeface="黑体" panose="02010609060101010101" pitchFamily="2" charset="-122"/>
            </a:endParaRPr>
          </a:p>
        </p:txBody>
      </p:sp>
    </p:spTree>
  </p:cSld>
  <p:clrMapOvr>
    <a:masterClrMapping/>
  </p:clrMapOvr>
</p:sld>
</file>

<file path=ppt/tags/tag1.xml><?xml version="1.0" encoding="utf-8"?>
<p:tagLst xmlns:p="http://schemas.openxmlformats.org/presentationml/2006/main">
  <p:tag name="TABLE_ENDDRAG_ORIGIN_RECT" val="839*342"/>
  <p:tag name="TABLE_ENDDRAG_RECT" val="60*127*839*342"/>
</p:tagLst>
</file>

<file path=ppt/theme/theme1.xml><?xml version="1.0" encoding="utf-8"?>
<a:theme xmlns:a="http://schemas.openxmlformats.org/drawingml/2006/main" name="tops-seminar-wid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tops-seminar-wide_20190817_1900(1)</Template>
  <TotalTime>0</TotalTime>
  <Words>2726</Words>
  <Application>WPS 演示</Application>
  <PresentationFormat>自定义</PresentationFormat>
  <Paragraphs>212</Paragraphs>
  <Slides>10</Slides>
  <Notes>9</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10</vt:i4>
      </vt:variant>
    </vt:vector>
  </HeadingPairs>
  <TitlesOfParts>
    <vt:vector size="24" baseType="lpstr">
      <vt:lpstr>Arial</vt:lpstr>
      <vt:lpstr>宋体</vt:lpstr>
      <vt:lpstr>Wingdings</vt:lpstr>
      <vt:lpstr>黑体</vt:lpstr>
      <vt:lpstr>Verdana</vt:lpstr>
      <vt:lpstr>Times New Roman</vt:lpstr>
      <vt:lpstr>Times New Roman</vt:lpstr>
      <vt:lpstr>微软雅黑</vt:lpstr>
      <vt:lpstr>Arial Unicode MS</vt:lpstr>
      <vt:lpstr>等线</vt:lpstr>
      <vt:lpstr>方正粗黑宋简体</vt:lpstr>
      <vt:lpstr>标准粗黑</vt:lpstr>
      <vt:lpstr>华文细黑</vt:lpstr>
      <vt:lpstr>tops-seminar-wide</vt:lpstr>
      <vt:lpstr>考虑订单随机到达与取消的××策略研究</vt:lpstr>
      <vt:lpstr>汇报提纲</vt:lpstr>
      <vt:lpstr>课题背景</vt:lpstr>
      <vt:lpstr>研究内容</vt:lpstr>
      <vt:lpstr>研究内容</vt:lpstr>
      <vt:lpstr>文献调研</vt:lpstr>
      <vt:lpstr>实施方案</vt:lpstr>
      <vt:lpstr>实施方案</vt:lpstr>
      <vt:lpstr>进度计划</vt:lpstr>
      <vt:lpstr>参考文献</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jiaqi wang</dc:creator>
  <cp:lastModifiedBy>王嘉赫(2023010355)</cp:lastModifiedBy>
  <cp:revision>579</cp:revision>
  <dcterms:created xsi:type="dcterms:W3CDTF">2021-11-06T05:43:00Z</dcterms:created>
  <dcterms:modified xsi:type="dcterms:W3CDTF">2026-09-19T08:59:01Z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DE2D9B838E944C298CC66516EB7067A9_13</vt:lpwstr>
  </property>
</Properties>
</file>