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55458ab7cb4717" /><Relationship Type="http://schemas.openxmlformats.org/officeDocument/2006/relationships/extended-properties" Target="/docProps/app.xml" Id="Rc70c3e11656144ad" /><Relationship Type="http://schemas.openxmlformats.org/officeDocument/2006/relationships/officeDocument" Target="/ppt/presentation.xml" Id="R3a4ba6b741cd4d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c0478445ba44bc"/>
  </p:sldMasterIdLst>
  <p:notesMasterIdLst>
    <p:notesMasterId xmlns:r="http://schemas.openxmlformats.org/officeDocument/2006/relationships" r:id="Rbff6f6cca79b4f15"/>
  </p:notesMasterIdLst>
  <p:sldIdLst>
    <p:sldId xmlns:r="http://schemas.openxmlformats.org/officeDocument/2006/relationships" id="256" r:id="Rd56dedc449d44a4b"/>
  </p:sldIdLst>
  <p:sldSz cx="13335000" cy="7500938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29ccc9135c4bb5" /><Relationship Type="http://schemas.openxmlformats.org/officeDocument/2006/relationships/slideMaster" Target="/ppt/slideMasters/slideMaster1.xml" Id="R9fc0478445ba44bc" /><Relationship Type="http://schemas.openxmlformats.org/officeDocument/2006/relationships/notesMaster" Target="/ppt/notesMasters/notesMaster1.xml" Id="Rbff6f6cca79b4f15" /><Relationship Type="http://schemas.openxmlformats.org/officeDocument/2006/relationships/presProps" Target="/ppt/presProps.xml" Id="R11e516aa95674c01" /><Relationship Type="http://schemas.openxmlformats.org/officeDocument/2006/relationships/tableStyles" Target="/ppt/tableStyles.xml" Id="R21f6fffb280f418f" /><Relationship Type="http://schemas.openxmlformats.org/officeDocument/2006/relationships/slide" Target="/ppt/slides/slide1.xml" Id="Rd56dedc449d44a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707dfa99bc4d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FandolHei"/>
        <a:ea typeface=""/>
        <a:cs typeface=""/>
      </a:majorFont>
      <a:minorFont>
        <a:latin typeface="Fandol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ce0845982741d8" /><Relationship Type="http://schemas.openxmlformats.org/officeDocument/2006/relationships/notesMaster" Target="/ppt/notesMasters/notesMaster1.xml" Id="R09dd948f4fa547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【新增结果解释，建议先讲，约 35 秒】</a:t>
            </a:r>
          </a:p>
          <a:p xmlns:a="http://schemas.openxmlformats.org/drawingml/2006/main">
            <a:r>
              <a:t>这里同时给出整体与受益部分的口径。全部 59 道工序的局部加权运输距离下降 0.582%。拆开后，收益全部来自 DE_BE_50 对应的 18 道工序，其基准成本为 83,172,889.195，优化后 81,399,450.989，按成本合计计算下降 2.132%；其余 41 道工序基本不变。受益工序占全部基准成本的 27.300%，因此总改善约等于 27.3%×2.13%=0.582%。这是加权成本分解，不能用 18/59 代替成本权重，也不是工序改善率的简单平均。受益集合来自本次结果分解，2.13% 不能作为全部工序的改善率。</a:t>
            </a:r>
          </a:p>
          <a:p xmlns:a="http://schemas.openxmlformats.org/drawingml/2006/main">
            <a:r>
              <a:t>基准固定布局 LP 已经优化加工和物流分配，本次是开放局部位置调整后的新增收益。现有槽位、设备组及尺寸数量、外部供需与轨道固定；本例没有正的区域内部直接转移流。因此本周定位为联合模型的局部验证，不据此宣称全厂或经济收益显著。6 个变化槽位是在主目标最优后尽量减少槽位改变的结果，并非预先限制最多只能动 6 个。</a:t>
            </a:r>
          </a:p>
          <a:p xmlns:a="http://schemas.openxmlformats.org/drawingml/2006/main">
            <a:r>
              <a:t>数据来源：week6/交互展示/milp-data.json 中 operations 与 groups，week6/汇报准备/MILP_A2_A3/summary.json。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【本页开场，约 40 秒】</a:t>
            </a:r>
          </a:p>
          <a:p xmlns:a="http://schemas.openxmlformats.org/drawingml/2006/main">
            <a:r>
              <a:t>我们在 A2、A3 两个 Bay 的 48 台真实设备上做局部 MILP 验证，覆盖 4 个设备组、59 道区域工序。外部供需、槽位端口与轨道、设备组及尺寸类别数量固定，联合决定设备放在哪个槽位、工序在哪里加工以及进出物流如何分配。目标是最小化“运输量×有向轨道最短距离”的总和。参考成本 304,663,194.167，优化后 302,889,755.960，降低 0.582%；6 个槽位调整，主目标 gap 为 0，独立检查及固定新布局后的 LP 重评通过。这些是给定边界和 0.25 倍需求下的局部结果，尚未计搬迁成本。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【点击本页下划线链接，按 HTML 讲解，约 2 分钟】</a:t>
            </a:r>
          </a:p>
          <a:p xmlns:a="http://schemas.openxmlformats.org/drawingml/2006/main">
            <a:r>
              <a:t>1. 布局怎么变了：先看默认槽位 S0146。颜色表示设备组，这里从组 48 变成组 50，是槽位上的设备换了，并非把机器改造成另一种类型。4 种颜色都属于后段干法刻蚀设备；同组聚集没有写进模型，因此少量颜色分散。黑框只有 6 个，另外 42 个槽位保持原组。</a:t>
            </a:r>
          </a:p>
          <a:p xmlns:a="http://schemas.openxmlformats.org/drawingml/2006/main">
            <a:r>
              <a:t>切换“跟随具体设备看”，选择 ECH0155：它始终属于 DE_BE_50，从 A3 的 S0155 移至 A2 的 S0146，并对接目标槽位端口 ECH0146_Port1。其他设备同步重排，这是同组设备可交换条件下的一种具体身份实现。</a:t>
            </a:r>
          </a:p>
          <a:p xmlns:a="http://schemas.openxmlformats.org/drawingml/2006/main">
            <a:r>
              <a:t>2. 哪些工序受益：59 道区域工序中，18 道改善、41 道基本不变。选择示例 part_5 第 169 步，进入实际路径页。</a:t>
            </a:r>
          </a:p>
          <a:p xmlns:a="http://schemas.openxmlformats.org/drawingml/2006/main">
            <a:r>
              <a:t>3. 实际路径为什么变短：固定外部源 LITH0213 与外部目标 ECH0498。该工序优化前由 A3 的 ECH0163 加工，优化后改由搬到 A2 的 ECH0155 加工。不要把这解释成优化前也是 ECH0155 加工。每 lot 入程距离 172.418→179.535，出程 286.202→269.243，总计 458.620→448.778，降低 2.146%（显示值均为千原始距离单位）。入程变长，但出程缩短得更多，说明模型在权衡完整进出路径。2.146% 是这道工序的收益，整段 59 道工序的加权总收益为 0.582%。可切换前后线路显示以说明走向。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【边界答辩】</a:t>
            </a:r>
          </a:p>
          <a:p xmlns:a="http://schemas.openxmlformats.org/drawingml/2006/main">
            <a:r>
              <a:t>这是两 Bay 的条件局部模型；保留每个外部源供给、每个外部目标接收量及区域工序量。本例没有正的区域内部直接转移流，主要验证设备配置、加工与进出物流耦合。gap=0 仅指当前数学模型的主目标最优，不能推出全厂改善率、实际周期时间或经济收益。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【链接使用】</a:t>
            </a:r>
          </a:p>
          <a:p xmlns:a="http://schemas.openxmlformats.org/drawingml/2006/main">
            <a:r>
              <a:t>本 PPTX 与 MILP交互展示.html 放在同一文件夹；合并到总汇报后也保留这一相对位置。放映时点击下划线链接；编辑模式可 Ctrl+单击。若演示软件询问打开本地文件，允许打开即可。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【数据来源】</a:t>
            </a:r>
          </a:p>
          <a:p xmlns:a="http://schemas.openxmlformats.org/drawingml/2006/main">
            <a:r>
              <a:t>week6/汇报准备/MILP_A2_A3/summary.json、layout_result.csv、processing_flow.csv、boundary_flow.csv、equipment_relocation.csv、independent_checks.json；week6/交互展示/milp-data.json；week6/汇报成稿/MILP交互展示.html。</a:t>
            </a:r>
          </a:p>
          <a:p xmlns:a="http://schemas.openxmlformats.org/drawingml/2006/main">
            <a:r>
              <a:t>样式参考：用户提供的“第六周汇报_正文前三页_兼容版.pptx”。本页顺接正文前三页，页脚编号为 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169ad06b1e47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6918d626b941f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99363b178343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cca61c74114f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05eb20d8f34c0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7959ef04074c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286B47-121E-44CD-97CB-F14656BD72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DDE515B-C255-4FAE-9DA6-671849976A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4305CF3-F02A-4AE6-B290-9FC1D0DB5B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819787-22D2-4159-BFCA-C790D1F297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B24046-02F0-4449-95CC-273919C84E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9A8D22-357C-433A-BB4A-40401A0944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F58B64-5DFF-4F02-BD73-ACDFB0B291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BAF54A3-4ABA-4BAE-8BEF-9EDB4D1570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469B0A-B2D6-4DFC-A589-CA1E4665C1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C36383-98CA-4B3B-894C-81A2D6DE5B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b2dd700029412b" /><Relationship Type="http://schemas.openxmlformats.org/officeDocument/2006/relationships/slideLayout" Target="/ppt/slideLayouts/slideLayout1.xml" Id="Rdc0f56dd37b1428f" /><Relationship Type="http://schemas.openxmlformats.org/officeDocument/2006/relationships/slideLayout" Target="/ppt/slideLayouts/slideLayout2.xml" Id="R916563a608024a88" /><Relationship Type="http://schemas.openxmlformats.org/officeDocument/2006/relationships/slideLayout" Target="/ppt/slideLayouts/slideLayout3.xml" Id="R5348d51b32424166" /><Relationship Type="http://schemas.openxmlformats.org/officeDocument/2006/relationships/slideLayout" Target="/ppt/slideLayouts/slideLayout4.xml" Id="Ra5a1fb67688b444d" /><Relationship Type="http://schemas.openxmlformats.org/officeDocument/2006/relationships/slideLayout" Target="/ppt/slideLayouts/slideLayout5.xml" Id="R0d7d2004f2054fbf" /><Relationship Type="http://schemas.openxmlformats.org/officeDocument/2006/relationships/slideLayout" Target="/ppt/slideLayouts/slideLayout6.xml" Id="R427629341d744d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0f56dd37b1428f"/>
    <p:sldLayoutId xmlns:r="http://schemas.openxmlformats.org/officeDocument/2006/relationships" id="2147483650" r:id="R916563a608024a88"/>
    <p:sldLayoutId xmlns:r="http://schemas.openxmlformats.org/officeDocument/2006/relationships" id="2147483651" r:id="R5348d51b32424166"/>
    <p:sldLayoutId xmlns:r="http://schemas.openxmlformats.org/officeDocument/2006/relationships" id="2147483652" r:id="Ra5a1fb67688b444d"/>
    <p:sldLayoutId xmlns:r="http://schemas.openxmlformats.org/officeDocument/2006/relationships" id="2147483653" r:id="R0d7d2004f2054fbf"/>
    <p:sldLayoutId xmlns:r="http://schemas.openxmlformats.org/officeDocument/2006/relationships" id="2147483654" r:id="R427629341d744d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FandolHei"/>
        <a:ea typeface=""/>
        <a:cs typeface=""/>
      </a:majorFont>
      <a:minorFont>
        <a:latin typeface="Fandol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36ebba582e4065" /><Relationship Type="http://schemas.openxmlformats.org/officeDocument/2006/relationships/hyperlink" Target="MILP&#20132;&#20114;&#23637;&#31034;.html" TargetMode="External" Id="Rb1741d910b344543" /><Relationship Type="http://schemas.openxmlformats.org/officeDocument/2006/relationships/notesSlide" Target="/ppt/notesSlides/notesSlide1.xml" Id="Rfea23cdcc8e64b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A9E51-5512-4302-8026-0A649817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122301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E2：两 Bay 局部优化验证</a:t>
            </a:r>
          </a:p>
        </p:txBody>
      </p:sp>
      <p:sp>
        <p:nvSpPr>
          <p:cNvPr id="3" name="framing">
            <a:extLst xmlns:a="http://schemas.openxmlformats.org/drawingml/2006/main">
              <a:ext uri="{FF2B5EF4-FFF2-40B4-BE49-F238E27FC236}">
                <a16:creationId xmlns:a16="http://schemas.microsoft.com/office/drawing/2014/main" id="{4EBA062E-1824-4645-BFFE-23FB0EC9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1223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在两 Bay 固定边界下验证联合优化，并进一步拆解运输收益来源。</a:t>
            </a:r>
          </a:p>
        </p:txBody>
      </p:sp>
      <p:sp>
        <p:nvSpPr>
          <p:cNvPr id="4" name="scope-heading">
            <a:extLst xmlns:a="http://schemas.openxmlformats.org/drawingml/2006/main">
              <a:ext uri="{FF2B5EF4-FFF2-40B4-BE49-F238E27FC236}">
                <a16:creationId xmlns:a16="http://schemas.microsoft.com/office/drawing/2014/main" id="{D8F12A94-588C-4DCA-AB85-8981CBDB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pPr>
            <a:r>
              <a: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rPr>
              <a:t>验证范围与优化内容</a:t>
            </a:r>
          </a:p>
        </p:txBody>
      </p:sp>
      <p:sp>
        <p:nvSpPr>
          <p:cNvPr id="5" name="scope-body">
            <a:extLst xmlns:a="http://schemas.openxmlformats.org/drawingml/2006/main">
              <a:ext uri="{FF2B5EF4-FFF2-40B4-BE49-F238E27FC236}">
                <a16:creationId xmlns:a16="http://schemas.microsoft.com/office/drawing/2014/main" id="{48C1A769-78D2-47FC-A695-C5A793F8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574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A2、A3：48 台设备、4 个设备组。</a:t>
            </a:r>
          </a:p>
        </p:txBody>
      </p:sp>
      <p:sp>
        <p:nvSpPr>
          <p:cNvPr id="6" name="scope-operations">
            <a:extLst xmlns:a="http://schemas.openxmlformats.org/drawingml/2006/main">
              <a:ext uri="{FF2B5EF4-FFF2-40B4-BE49-F238E27FC236}">
                <a16:creationId xmlns:a16="http://schemas.microsoft.com/office/drawing/2014/main" id="{632C49BA-7957-4AC9-BBDC-7E5C8DD7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覆盖 59 道区域工序，外部供需与槽位固定。</a:t>
            </a:r>
          </a:p>
        </p:txBody>
      </p:sp>
      <p:sp>
        <p:nvSpPr>
          <p:cNvPr id="7" name="optimization-body">
            <a:extLst xmlns:a="http://schemas.openxmlformats.org/drawingml/2006/main">
              <a:ext uri="{FF2B5EF4-FFF2-40B4-BE49-F238E27FC236}">
                <a16:creationId xmlns:a16="http://schemas.microsoft.com/office/drawing/2014/main" id="{24D141CD-D41C-457F-AEED-69F0747A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528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联合优化设备位置、加工量与进出物流。</a:t>
            </a:r>
          </a:p>
        </p:txBody>
      </p:sp>
      <p:sp>
        <p:nvSpPr>
          <p:cNvPr id="8" name="verification-heading">
            <a:extLst xmlns:a="http://schemas.openxmlformats.org/drawingml/2006/main">
              <a:ext uri="{FF2B5EF4-FFF2-40B4-BE49-F238E27FC236}">
                <a16:creationId xmlns:a16="http://schemas.microsoft.com/office/drawing/2014/main" id="{ADFFEDCF-48ED-4688-8DE6-7A32B962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pPr>
            <a:r>
              <a: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rPr>
              <a:t>模型验证结果</a:t>
            </a:r>
          </a:p>
        </p:txBody>
      </p:sp>
      <p:sp>
        <p:nvSpPr>
          <p:cNvPr id="9" name="verification-gap">
            <a:extLst xmlns:a="http://schemas.openxmlformats.org/drawingml/2006/main">
              <a:ext uri="{FF2B5EF4-FFF2-40B4-BE49-F238E27FC236}">
                <a16:creationId xmlns:a16="http://schemas.microsoft.com/office/drawing/2014/main" id="{32CC9798-CC3D-4903-B3F3-F345C757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720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调整 6 个槽位，主目标 gap = 0。</a:t>
            </a:r>
          </a:p>
        </p:txBody>
      </p:sp>
      <p:sp>
        <p:nvSpPr>
          <p:cNvPr id="10" name="verification-checks">
            <a:extLst xmlns:a="http://schemas.openxmlformats.org/drawingml/2006/main">
              <a:ext uri="{FF2B5EF4-FFF2-40B4-BE49-F238E27FC236}">
                <a16:creationId xmlns:a16="http://schemas.microsoft.com/office/drawing/2014/main" id="{9DF56492-65A7-4451-AB0B-598618E0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设备数量、产能与流量守恒检查通过。</a:t>
            </a:r>
          </a:p>
        </p:txBody>
      </p:sp>
      <p:sp>
        <p:nvSpPr>
          <p:cNvPr id="11" name="benefit-heading">
            <a:extLst xmlns:a="http://schemas.openxmlformats.org/drawingml/2006/main">
              <a:ext uri="{FF2B5EF4-FFF2-40B4-BE49-F238E27FC236}">
                <a16:creationId xmlns:a16="http://schemas.microsoft.com/office/drawing/2014/main" id="{10AE25C2-CCA5-401F-98D3-3954D434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1526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pPr>
            <a:r>
              <a: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rPr>
              <a:t>收益集中在 DE_BE_50</a:t>
            </a:r>
          </a:p>
        </p:txBody>
      </p:sp>
      <p:sp>
        <p:nvSpPr>
          <p:cNvPr id="12" name="benefit-scope">
            <a:extLst xmlns:a="http://schemas.openxmlformats.org/drawingml/2006/main">
              <a:ext uri="{FF2B5EF4-FFF2-40B4-BE49-F238E27FC236}">
                <a16:creationId xmlns:a16="http://schemas.microsoft.com/office/drawing/2014/main" id="{BDB37586-E32A-4FED-8041-E671E909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65747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18 道受益工序的加权运输距离</a:t>
            </a:r>
          </a:p>
        </p:txBody>
      </p:sp>
      <p:sp>
        <p:nvSpPr>
          <p:cNvPr id="13" name="benefit-rate">
            <a:extLst xmlns:a="http://schemas.openxmlformats.org/drawingml/2006/main">
              <a:ext uri="{FF2B5EF4-FFF2-40B4-BE49-F238E27FC236}">
                <a16:creationId xmlns:a16="http://schemas.microsoft.com/office/drawing/2014/main" id="{FBC33AC8-D243-4609-8D76-F769BAD7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480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降低 2.13%；其余 41 道基本不变。</a:t>
            </a:r>
          </a:p>
        </p:txBody>
      </p:sp>
      <p:sp>
        <p:nvSpPr>
          <p:cNvPr id="14" name="benefit-share">
            <a:extLst xmlns:a="http://schemas.openxmlformats.org/drawingml/2006/main">
              <a:ext uri="{FF2B5EF4-FFF2-40B4-BE49-F238E27FC236}">
                <a16:creationId xmlns:a16="http://schemas.microsoft.com/office/drawing/2014/main" id="{09013A93-7844-4E46-96FF-33878D05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55282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受益工序占基准运输成本的 27.3%。</a:t>
            </a:r>
          </a:p>
        </p:txBody>
      </p:sp>
      <p:sp>
        <p:nvSpPr>
          <p:cNvPr id="15" name="overall-heading">
            <a:extLst xmlns:a="http://schemas.openxmlformats.org/drawingml/2006/main">
              <a:ext uri="{FF2B5EF4-FFF2-40B4-BE49-F238E27FC236}">
                <a16:creationId xmlns:a16="http://schemas.microsoft.com/office/drawing/2014/main" id="{FB20F42F-B8EA-4F7F-B518-73DC9C9B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2862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pPr>
            <a:r>
              <a: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rPr>
              <a:t>整体改善率如何计算</a:t>
            </a:r>
          </a:p>
        </p:txBody>
      </p:sp>
      <p:sp>
        <p:nvSpPr>
          <p:cNvPr id="16" name="overall-formula">
            <a:extLst xmlns:a="http://schemas.openxmlformats.org/drawingml/2006/main">
              <a:ext uri="{FF2B5EF4-FFF2-40B4-BE49-F238E27FC236}">
                <a16:creationId xmlns:a16="http://schemas.microsoft.com/office/drawing/2014/main" id="{3FD9491D-91C2-45DB-AE9B-A8A14071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7202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27.3% × 2.13% ≈ 0.582%。</a:t>
            </a:r>
          </a:p>
        </p:txBody>
      </p:sp>
      <p:sp>
        <p:nvSpPr>
          <p:cNvPr id="17" name="overall-scope">
            <a:extLst xmlns:a="http://schemas.openxmlformats.org/drawingml/2006/main">
              <a:ext uri="{FF2B5EF4-FFF2-40B4-BE49-F238E27FC236}">
                <a16:creationId xmlns:a16="http://schemas.microsoft.com/office/drawing/2014/main" id="{09676AD2-1829-4FC7-9F15-7A03B7A2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23875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0.582% 为全部 59 道工序的加权结果。</a:t>
            </a:r>
          </a:p>
        </p:txBody>
      </p:sp>
      <p:sp>
        <p:nvSpPr>
          <p:cNvPr id="18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65E71628-99E7-461C-8D47-3FE2FCCF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81025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示例：part_5 第 169 步</a:t>
            </a:r>
          </a:p>
        </p:txBody>
      </p:sp>
      <p:sp>
        <p:nvSpPr>
          <p:cNvPr id="19" name="example-result">
            <a:extLst xmlns:a="http://schemas.openxmlformats.org/drawingml/2006/main">
              <a:ext uri="{FF2B5EF4-FFF2-40B4-BE49-F238E27FC236}">
                <a16:creationId xmlns:a16="http://schemas.microsoft.com/office/drawing/2014/main" id="{ED1A9633-A800-45E4-92B0-A6EF6A23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620077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进出总路径缩短 2.146%。</a:t>
            </a:r>
          </a:p>
        </p:txBody>
      </p:sp>
      <p:sp>
        <p:nvSpPr>
          <p:cNvPr id="20" name="OPEN_MILP_HTML">
            <a:extLst xmlns:a="http://schemas.openxmlformats.org/drawingml/2006/main">
              <a:ext uri="{FF2B5EF4-FFF2-40B4-BE49-F238E27FC236}">
                <a16:creationId xmlns:a16="http://schemas.microsoft.com/office/drawing/2014/main" id="{27321A4D-1841-4B8B-A105-C09A15CC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pPr>
            <a:r>
              <a:rPr sz="1920" b="0" u="sng">
                <a:solidFill>
                  <a:srgbClr val="713A80"/>
                </a:solidFill>
                <a:latin typeface="FandolHei"/>
                <a:ea typeface="FandolHei"/>
                <a:cs typeface="FandolHei"/>
                <a:hlinkClick xmlns:r="http://schemas.openxmlformats.org/officeDocument/2006/relationships" r:id="Rb1741d910b344543"/>
              </a:rPr>
              <a:t>打开 HTML 交互展示</a:t>
            </a:r>
          </a:p>
        </p:txBody>
      </p:sp>
      <p:sp>
        <p:nvSpPr>
          <p:cNvPr id="21" name="validation-note">
            <a:extLst xmlns:a="http://schemas.openxmlformats.org/drawingml/2006/main">
              <a:ext uri="{FF2B5EF4-FFF2-40B4-BE49-F238E27FC236}">
                <a16:creationId xmlns:a16="http://schemas.microsoft.com/office/drawing/2014/main" id="{91AE5DCA-11A0-41C8-BA69-5FA458F2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62750"/>
            <a:ext cx="1219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pPr>
            <a:r>
              <a: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rPr>
              <a:t>需求系数 0.25；基准已优化加工与物流分配。当前收益为局部位置调整的新增收益，未计搬迁成本。</a:t>
            </a:r>
          </a:p>
        </p:txBody>
      </p:sp>
      <p:sp>
        <p:nvSpPr>
          <p:cNvPr id="22" name="footer">
            <a:extLst xmlns:a="http://schemas.openxmlformats.org/drawingml/2006/main">
              <a:ext uri="{FF2B5EF4-FFF2-40B4-BE49-F238E27FC236}">
                <a16:creationId xmlns:a16="http://schemas.microsoft.com/office/drawing/2014/main" id="{1E07B714-94E3-40B6-945E-80C217CA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86600"/>
            <a:ext cx="619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pPr>
            <a:r>
              <a: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rPr>
              <a:t>A2 组   第六周课程设计</a:t>
            </a:r>
          </a:p>
        </p:txBody>
      </p:sp>
      <p:sp>
        <p:nvSpPr>
          <p:cNvPr id="2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3D73F91-3148-49A8-B89B-2C4D85C0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08660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defPPr>
            <a:lvl1pPr algn="r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1pPr>
            <a:lvl2pPr algn="r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2pPr>
            <a:lvl3pPr algn="r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3pPr>
            <a:lvl4pPr algn="r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4pPr>
            <a:lvl5pPr algn="r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5pPr>
            <a:lvl6pPr algn="r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6pPr>
            <a:lvl7pPr algn="r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7pPr>
            <a:lvl8pPr algn="r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8pPr>
            <a:lvl9pPr algn="r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r">
              <a:lnSpc>
                <a:spcPct val="125000"/>
              </a:lnSpc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pPr>
            <a:r>
              <a: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450203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FandolHei"/>
        <a:ea typeface=""/>
        <a:cs typeface=""/>
      </a:majorFont>
      <a:minorFont>
        <a:latin typeface="Fandol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2026-10-23T01:22:43.1840000Z</dcterms:created>
  <dcterms:modified xsi:type="dcterms:W3CDTF">2026-10-23T01:22:43.1840000Z</dcterms:modified>
</coreProperties>
</file>