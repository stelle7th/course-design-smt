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1" r:id="rId3"/>
    <p:sldId id="316" r:id="rId5"/>
    <p:sldId id="30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2F4F6"/>
    <a:srgbClr val="0000FF"/>
    <a:srgbClr val="4873C4"/>
    <a:srgbClr val="C6D3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2" autoAdjust="0"/>
    <p:restoredTop sz="82222" autoAdjust="0"/>
  </p:normalViewPr>
  <p:slideViewPr>
    <p:cSldViewPr snapToGrid="0">
      <p:cViewPr>
        <p:scale>
          <a:sx n="60" d="100"/>
          <a:sy n="60" d="100"/>
        </p:scale>
        <p:origin x="-2286" y="-804"/>
      </p:cViewPr>
      <p:guideLst>
        <p:guide orient="horz" pos="2160"/>
        <p:guide pos="38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309130-27B2-45F0-AA09-284A508870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002B64-FC5E-4859-ACC5-5828DA2ED3C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半角符号，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02B64-FC5E-4859-ACC5-5828DA2ED3C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半角符号，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02B64-FC5E-4859-ACC5-5828DA2ED3C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02B64-FC5E-4859-ACC5-5828DA2ED3C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 descr="C:\Documents and Settings\user\My Documents\Downloads\litan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600" y="3358800"/>
            <a:ext cx="4286250" cy="350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itle 20"/>
          <p:cNvSpPr>
            <a:spLocks noGrp="1"/>
          </p:cNvSpPr>
          <p:nvPr>
            <p:ph type="title"/>
          </p:nvPr>
        </p:nvSpPr>
        <p:spPr>
          <a:xfrm>
            <a:off x="1103445" y="2420888"/>
            <a:ext cx="10174155" cy="819944"/>
          </a:xfrm>
          <a:prstGeom prst="rect">
            <a:avLst/>
          </a:prstGeom>
        </p:spPr>
        <p:txBody>
          <a:bodyPr/>
          <a:lstStyle>
            <a:lvl1pPr algn="l">
              <a:defRPr baseline="0">
                <a:latin typeface="Arial" panose="020B0604020202020204" pitchFamily="34" charset="0"/>
                <a:ea typeface="黑体" panose="0201060906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0" hasCustomPrompt="1"/>
          </p:nvPr>
        </p:nvSpPr>
        <p:spPr>
          <a:xfrm>
            <a:off x="1102784" y="3888000"/>
            <a:ext cx="10174816" cy="1620000"/>
          </a:xfrm>
        </p:spPr>
        <p:txBody>
          <a:bodyPr/>
          <a:lstStyle>
            <a:lvl1pPr marL="0" indent="0">
              <a:buNone/>
              <a:defRPr sz="2400" baseline="0">
                <a:latin typeface="+mn-lt"/>
              </a:defRPr>
            </a:lvl1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pic>
        <p:nvPicPr>
          <p:cNvPr id="8" name="图片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91" y="5601392"/>
            <a:ext cx="1068916" cy="1073361"/>
          </a:xfrm>
          <a:prstGeom prst="rect">
            <a:avLst/>
          </a:prstGeom>
        </p:spPr>
      </p:pic>
      <p:sp>
        <p:nvSpPr>
          <p:cNvPr id="11" name="Rectangle 4"/>
          <p:cNvSpPr>
            <a:spLocks noChangeArrowheads="1"/>
          </p:cNvSpPr>
          <p:nvPr userDrawn="1"/>
        </p:nvSpPr>
        <p:spPr bwMode="auto">
          <a:xfrm>
            <a:off x="2293669" y="5845684"/>
            <a:ext cx="81618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800" b="0" dirty="0" smtClean="0">
                <a:latin typeface="黑体" panose="02010609060101010101" pitchFamily="2" charset="-122"/>
                <a:ea typeface="黑体" panose="02010609060101010101" pitchFamily="2" charset="-122"/>
              </a:rPr>
              <a:t>工业工程系课程设计开题汇报</a:t>
            </a:r>
            <a:endParaRPr lang="en-US" altLang="zh-CN" sz="1800" b="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.节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 flipV="1">
            <a:off x="812800" y="6324600"/>
            <a:ext cx="10566400" cy="0"/>
          </a:xfrm>
          <a:prstGeom prst="line">
            <a:avLst/>
          </a:prstGeom>
          <a:noFill/>
          <a:ln w="3175">
            <a:solidFill>
              <a:srgbClr val="7030A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19403" y="4581128"/>
            <a:ext cx="10668000" cy="819944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Footer Placeholder 7"/>
          <p:cNvSpPr>
            <a:spLocks noGrp="1" noChangeArrowheads="1"/>
          </p:cNvSpPr>
          <p:nvPr>
            <p:ph type="ftr" sz="quarter" idx="10"/>
          </p:nvPr>
        </p:nvSpPr>
        <p:spPr>
          <a:xfrm>
            <a:off x="814917" y="6400800"/>
            <a:ext cx="7719483" cy="268288"/>
          </a:xfrm>
          <a:prstGeom prst="rect">
            <a:avLst/>
          </a:prstGeom>
        </p:spPr>
        <p:txBody>
          <a:bodyPr tIns="0" bIns="0"/>
          <a:lstStyle>
            <a:lvl1pPr>
              <a:defRPr sz="1200" smtClean="0">
                <a:latin typeface="+mj-lt"/>
                <a:ea typeface="黑体" panose="0201060906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400800"/>
            <a:ext cx="2641600" cy="268288"/>
          </a:xfrm>
          <a:prstGeom prst="rect">
            <a:avLst/>
          </a:prstGeom>
        </p:spPr>
        <p:txBody>
          <a:bodyPr tIns="0" bIns="0"/>
          <a:lstStyle>
            <a:lvl1pPr algn="r">
              <a:defRPr sz="1200" smtClean="0">
                <a:latin typeface="+mj-lt"/>
                <a:ea typeface="黑体" panose="02010609060101010101" pitchFamily="2" charset="-122"/>
              </a:defRPr>
            </a:lvl1pPr>
          </a:lstStyle>
          <a:p>
            <a:fld id="{FD7D2133-84E4-4D49-B786-7B5C0B54D116}" type="slidenum">
              <a:rPr lang="zh-CN" altLang="en-US" smtClean="0"/>
            </a:fld>
            <a:endParaRPr lang="zh-CN" altLang="en-US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 flipV="1">
            <a:off x="812800" y="6324600"/>
            <a:ext cx="10566400" cy="0"/>
          </a:xfrm>
          <a:prstGeom prst="line">
            <a:avLst/>
          </a:prstGeom>
          <a:noFill/>
          <a:ln w="3175">
            <a:solidFill>
              <a:srgbClr val="7030A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dirty="0">
              <a:ea typeface="黑体" panose="02010609060101010101" pitchFamily="2" charset="-122"/>
            </a:endParaRPr>
          </a:p>
        </p:txBody>
      </p:sp>
      <p:pic>
        <p:nvPicPr>
          <p:cNvPr id="14" name="Picture 1" descr="D:\work\research\tops lab\design\TOpS_logo设计_060909_ws\TOpS_logo_color copy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7200" y="260350"/>
            <a:ext cx="700088" cy="103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.1.内容幻灯片_标题和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 flipV="1">
            <a:off x="812800" y="6324600"/>
            <a:ext cx="10566400" cy="0"/>
          </a:xfrm>
          <a:prstGeom prst="line">
            <a:avLst/>
          </a:prstGeom>
          <a:noFill/>
          <a:ln w="3175">
            <a:solidFill>
              <a:srgbClr val="7030A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233" y="188641"/>
            <a:ext cx="10668000" cy="7920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651" y="1143000"/>
            <a:ext cx="10668000" cy="5104800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0"/>
          </p:nvPr>
        </p:nvSpPr>
        <p:spPr>
          <a:xfrm>
            <a:off x="814917" y="6400800"/>
            <a:ext cx="7719483" cy="268288"/>
          </a:xfrm>
          <a:prstGeom prst="rect">
            <a:avLst/>
          </a:prstGeom>
        </p:spPr>
        <p:txBody>
          <a:bodyPr tIns="0" bIns="0"/>
          <a:lstStyle>
            <a:lvl1pPr>
              <a:defRPr sz="1200" smtClean="0">
                <a:latin typeface="+mj-lt"/>
                <a:ea typeface="黑体" panose="0201060906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400800"/>
            <a:ext cx="2641600" cy="268288"/>
          </a:xfrm>
          <a:prstGeom prst="rect">
            <a:avLst/>
          </a:prstGeom>
        </p:spPr>
        <p:txBody>
          <a:bodyPr tIns="0" bIns="0"/>
          <a:lstStyle>
            <a:lvl1pPr algn="r">
              <a:defRPr sz="1200" smtClean="0">
                <a:latin typeface="+mj-lt"/>
                <a:ea typeface="黑体" panose="02010609060101010101" pitchFamily="2" charset="-122"/>
              </a:defRPr>
            </a:lvl1pPr>
          </a:lstStyle>
          <a:p>
            <a:fld id="{FD7D2133-84E4-4D49-B786-7B5C0B54D116}" type="slidenum">
              <a:rPr lang="zh-CN" altLang="en-US" smtClean="0"/>
            </a:fld>
            <a:endParaRPr lang="zh-CN" altLang="en-US"/>
          </a:p>
        </p:txBody>
      </p:sp>
      <p:sp>
        <p:nvSpPr>
          <p:cNvPr id="13" name="Line 5"/>
          <p:cNvSpPr>
            <a:spLocks noChangeShapeType="1"/>
          </p:cNvSpPr>
          <p:nvPr/>
        </p:nvSpPr>
        <p:spPr bwMode="auto">
          <a:xfrm flipV="1">
            <a:off x="719400" y="982800"/>
            <a:ext cx="10742498" cy="0"/>
          </a:xfrm>
          <a:prstGeom prst="line">
            <a:avLst/>
          </a:prstGeom>
          <a:noFill/>
          <a:ln w="3175">
            <a:solidFill>
              <a:srgbClr val="7030A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812799" y="6053999"/>
            <a:ext cx="10566401" cy="270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baseline="0">
                <a:latin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 altLang="zh-CN" sz="1200" dirty="0"/>
              <a:t>Source: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2.1.内容幻灯片_标题和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 flipV="1">
            <a:off x="812800" y="6324600"/>
            <a:ext cx="10566400" cy="0"/>
          </a:xfrm>
          <a:prstGeom prst="line">
            <a:avLst/>
          </a:prstGeom>
          <a:noFill/>
          <a:ln w="3175">
            <a:solidFill>
              <a:srgbClr val="7030A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233" y="188641"/>
            <a:ext cx="10668000" cy="7920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2304" y="1142999"/>
            <a:ext cx="5181600" cy="5104800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0"/>
          </p:nvPr>
        </p:nvSpPr>
        <p:spPr>
          <a:xfrm>
            <a:off x="814917" y="6400800"/>
            <a:ext cx="7719483" cy="268288"/>
          </a:xfrm>
          <a:prstGeom prst="rect">
            <a:avLst/>
          </a:prstGeom>
        </p:spPr>
        <p:txBody>
          <a:bodyPr tIns="0" bIns="0"/>
          <a:lstStyle>
            <a:lvl1pPr>
              <a:defRPr sz="1200" smtClean="0">
                <a:latin typeface="+mj-lt"/>
                <a:ea typeface="黑体" panose="0201060906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400800"/>
            <a:ext cx="2641600" cy="268288"/>
          </a:xfrm>
          <a:prstGeom prst="rect">
            <a:avLst/>
          </a:prstGeom>
        </p:spPr>
        <p:txBody>
          <a:bodyPr tIns="0" bIns="0"/>
          <a:lstStyle>
            <a:lvl1pPr algn="r">
              <a:defRPr sz="1200" smtClean="0">
                <a:latin typeface="+mj-lt"/>
                <a:ea typeface="黑体" panose="02010609060101010101" pitchFamily="2" charset="-122"/>
              </a:defRPr>
            </a:lvl1pPr>
          </a:lstStyle>
          <a:p>
            <a:fld id="{FD7D2133-84E4-4D49-B786-7B5C0B54D116}" type="slidenum">
              <a:rPr lang="zh-CN" altLang="en-US" smtClean="0"/>
            </a:fld>
            <a:endParaRPr lang="zh-CN" altLang="en-US"/>
          </a:p>
        </p:txBody>
      </p:sp>
      <p:sp>
        <p:nvSpPr>
          <p:cNvPr id="9" name="Content Placeholder 2"/>
          <p:cNvSpPr>
            <a:spLocks noGrp="1"/>
          </p:cNvSpPr>
          <p:nvPr>
            <p:ph idx="12"/>
          </p:nvPr>
        </p:nvSpPr>
        <p:spPr>
          <a:xfrm>
            <a:off x="754161" y="1142999"/>
            <a:ext cx="5181600" cy="5104800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 flipV="1">
            <a:off x="719399" y="982800"/>
            <a:ext cx="10753131" cy="0"/>
          </a:xfrm>
          <a:prstGeom prst="line">
            <a:avLst/>
          </a:prstGeom>
          <a:noFill/>
          <a:ln w="3175">
            <a:solidFill>
              <a:srgbClr val="7030A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Content Placeholder 2"/>
          <p:cNvSpPr>
            <a:spLocks noGrp="1"/>
          </p:cNvSpPr>
          <p:nvPr>
            <p:ph idx="13" hasCustomPrompt="1"/>
          </p:nvPr>
        </p:nvSpPr>
        <p:spPr>
          <a:xfrm>
            <a:off x="812799" y="6053999"/>
            <a:ext cx="10566401" cy="270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baseline="0">
                <a:latin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 altLang="zh-CN" sz="1200" dirty="0"/>
              <a:t>Source: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2.1.内容幻灯片_标题和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 flipV="1">
            <a:off x="812800" y="6324600"/>
            <a:ext cx="10566400" cy="0"/>
          </a:xfrm>
          <a:prstGeom prst="line">
            <a:avLst/>
          </a:prstGeom>
          <a:noFill/>
          <a:ln w="3175">
            <a:solidFill>
              <a:srgbClr val="7030A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233" y="188641"/>
            <a:ext cx="10668000" cy="7920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4400" y="1142999"/>
            <a:ext cx="6908400" cy="5104800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0"/>
          </p:nvPr>
        </p:nvSpPr>
        <p:spPr>
          <a:xfrm>
            <a:off x="814917" y="6400800"/>
            <a:ext cx="7719483" cy="268288"/>
          </a:xfrm>
          <a:prstGeom prst="rect">
            <a:avLst/>
          </a:prstGeom>
        </p:spPr>
        <p:txBody>
          <a:bodyPr tIns="0" bIns="0"/>
          <a:lstStyle>
            <a:lvl1pPr>
              <a:defRPr sz="1200" smtClean="0">
                <a:latin typeface="+mj-lt"/>
                <a:ea typeface="黑体" panose="0201060906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400800"/>
            <a:ext cx="2641600" cy="268288"/>
          </a:xfrm>
          <a:prstGeom prst="rect">
            <a:avLst/>
          </a:prstGeom>
        </p:spPr>
        <p:txBody>
          <a:bodyPr tIns="0" bIns="0"/>
          <a:lstStyle>
            <a:lvl1pPr algn="r">
              <a:defRPr sz="1200" smtClean="0">
                <a:latin typeface="+mj-lt"/>
                <a:ea typeface="黑体" panose="02010609060101010101" pitchFamily="2" charset="-122"/>
              </a:defRPr>
            </a:lvl1pPr>
          </a:lstStyle>
          <a:p>
            <a:fld id="{FD7D2133-84E4-4D49-B786-7B5C0B54D116}" type="slidenum">
              <a:rPr lang="zh-CN" altLang="en-US" smtClean="0"/>
            </a:fld>
            <a:endParaRPr lang="zh-CN" altLang="en-US"/>
          </a:p>
        </p:txBody>
      </p:sp>
      <p:sp>
        <p:nvSpPr>
          <p:cNvPr id="9" name="Content Placeholder 2"/>
          <p:cNvSpPr>
            <a:spLocks noGrp="1"/>
          </p:cNvSpPr>
          <p:nvPr>
            <p:ph idx="12"/>
          </p:nvPr>
        </p:nvSpPr>
        <p:spPr>
          <a:xfrm>
            <a:off x="754161" y="1142999"/>
            <a:ext cx="3452400" cy="5104800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 flipV="1">
            <a:off x="719400" y="982800"/>
            <a:ext cx="10753130" cy="0"/>
          </a:xfrm>
          <a:prstGeom prst="line">
            <a:avLst/>
          </a:prstGeom>
          <a:noFill/>
          <a:ln w="3175">
            <a:solidFill>
              <a:srgbClr val="7030A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Content Placeholder 2"/>
          <p:cNvSpPr>
            <a:spLocks noGrp="1"/>
          </p:cNvSpPr>
          <p:nvPr>
            <p:ph idx="13" hasCustomPrompt="1"/>
          </p:nvPr>
        </p:nvSpPr>
        <p:spPr>
          <a:xfrm>
            <a:off x="812799" y="6053999"/>
            <a:ext cx="10566401" cy="270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baseline="0">
                <a:latin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 altLang="zh-CN" sz="1200" dirty="0"/>
              <a:t>Source: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2.1.内容幻灯片_标题和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 flipV="1">
            <a:off x="812800" y="6324600"/>
            <a:ext cx="10566400" cy="0"/>
          </a:xfrm>
          <a:prstGeom prst="line">
            <a:avLst/>
          </a:prstGeom>
          <a:noFill/>
          <a:ln w="3175">
            <a:solidFill>
              <a:srgbClr val="7030A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233" y="188641"/>
            <a:ext cx="10668000" cy="7920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70400" y="1142999"/>
            <a:ext cx="3452400" cy="5104800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0"/>
          </p:nvPr>
        </p:nvSpPr>
        <p:spPr>
          <a:xfrm>
            <a:off x="814917" y="6400800"/>
            <a:ext cx="7719483" cy="268288"/>
          </a:xfrm>
          <a:prstGeom prst="rect">
            <a:avLst/>
          </a:prstGeom>
        </p:spPr>
        <p:txBody>
          <a:bodyPr tIns="0" bIns="0"/>
          <a:lstStyle>
            <a:lvl1pPr>
              <a:defRPr sz="1200" smtClean="0">
                <a:latin typeface="+mj-lt"/>
                <a:ea typeface="黑体" panose="0201060906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400800"/>
            <a:ext cx="2641600" cy="268288"/>
          </a:xfrm>
          <a:prstGeom prst="rect">
            <a:avLst/>
          </a:prstGeom>
        </p:spPr>
        <p:txBody>
          <a:bodyPr tIns="0" bIns="0"/>
          <a:lstStyle>
            <a:lvl1pPr algn="r">
              <a:defRPr sz="1200" smtClean="0">
                <a:latin typeface="+mj-lt"/>
                <a:ea typeface="黑体" panose="02010609060101010101" pitchFamily="2" charset="-122"/>
              </a:defRPr>
            </a:lvl1pPr>
          </a:lstStyle>
          <a:p>
            <a:fld id="{FD7D2133-84E4-4D49-B786-7B5C0B54D116}" type="slidenum">
              <a:rPr lang="zh-CN" altLang="en-US" smtClean="0"/>
            </a:fld>
            <a:endParaRPr lang="zh-CN" altLang="en-US"/>
          </a:p>
        </p:txBody>
      </p:sp>
      <p:sp>
        <p:nvSpPr>
          <p:cNvPr id="9" name="Content Placeholder 2"/>
          <p:cNvSpPr>
            <a:spLocks noGrp="1"/>
          </p:cNvSpPr>
          <p:nvPr>
            <p:ph idx="12"/>
          </p:nvPr>
        </p:nvSpPr>
        <p:spPr>
          <a:xfrm>
            <a:off x="754161" y="1142999"/>
            <a:ext cx="6908400" cy="5104800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 flipV="1">
            <a:off x="719400" y="982800"/>
            <a:ext cx="10753130" cy="0"/>
          </a:xfrm>
          <a:prstGeom prst="line">
            <a:avLst/>
          </a:prstGeom>
          <a:noFill/>
          <a:ln w="3175">
            <a:solidFill>
              <a:srgbClr val="7030A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812799" y="6053999"/>
            <a:ext cx="10566401" cy="270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baseline="0">
                <a:latin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 altLang="zh-CN" sz="1200" dirty="0"/>
              <a:t>Source: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.2.内容幻灯片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5"/>
          <p:cNvSpPr>
            <a:spLocks noChangeShapeType="1"/>
          </p:cNvSpPr>
          <p:nvPr/>
        </p:nvSpPr>
        <p:spPr bwMode="auto">
          <a:xfrm flipV="1">
            <a:off x="812800" y="6324600"/>
            <a:ext cx="10566400" cy="0"/>
          </a:xfrm>
          <a:prstGeom prst="line">
            <a:avLst/>
          </a:prstGeom>
          <a:noFill/>
          <a:ln w="3175">
            <a:solidFill>
              <a:srgbClr val="7030A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2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233" y="188641"/>
            <a:ext cx="10668000" cy="7920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Footer Placeholder 7"/>
          <p:cNvSpPr>
            <a:spLocks noGrp="1" noChangeArrowheads="1"/>
          </p:cNvSpPr>
          <p:nvPr>
            <p:ph type="ftr" sz="quarter" idx="10"/>
          </p:nvPr>
        </p:nvSpPr>
        <p:spPr>
          <a:xfrm>
            <a:off x="814917" y="6400800"/>
            <a:ext cx="7719483" cy="268288"/>
          </a:xfrm>
          <a:prstGeom prst="rect">
            <a:avLst/>
          </a:prstGeom>
        </p:spPr>
        <p:txBody>
          <a:bodyPr tIns="0" bIns="0"/>
          <a:lstStyle>
            <a:lvl1pPr>
              <a:defRPr sz="1200" smtClean="0">
                <a:latin typeface="+mj-lt"/>
                <a:ea typeface="黑体" panose="0201060906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400800"/>
            <a:ext cx="2641600" cy="268288"/>
          </a:xfrm>
          <a:prstGeom prst="rect">
            <a:avLst/>
          </a:prstGeom>
        </p:spPr>
        <p:txBody>
          <a:bodyPr tIns="0" bIns="0"/>
          <a:lstStyle>
            <a:lvl1pPr algn="r">
              <a:defRPr sz="1200" smtClean="0">
                <a:latin typeface="+mj-lt"/>
                <a:ea typeface="黑体" panose="02010609060101010101" pitchFamily="2" charset="-122"/>
              </a:defRPr>
            </a:lvl1pPr>
          </a:lstStyle>
          <a:p>
            <a:fld id="{FD7D2133-84E4-4D49-B786-7B5C0B54D116}" type="slidenum">
              <a:rPr lang="zh-CN" altLang="en-US" smtClean="0"/>
            </a:fld>
            <a:endParaRPr lang="zh-CN" altLang="en-US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 flipV="1">
            <a:off x="719400" y="982800"/>
            <a:ext cx="10753130" cy="0"/>
          </a:xfrm>
          <a:prstGeom prst="line">
            <a:avLst/>
          </a:prstGeom>
          <a:noFill/>
          <a:ln w="3175">
            <a:solidFill>
              <a:srgbClr val="7030A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Content Placeholder 2"/>
          <p:cNvSpPr>
            <a:spLocks noGrp="1"/>
          </p:cNvSpPr>
          <p:nvPr>
            <p:ph idx="12" hasCustomPrompt="1"/>
          </p:nvPr>
        </p:nvSpPr>
        <p:spPr>
          <a:xfrm>
            <a:off x="812799" y="6053999"/>
            <a:ext cx="10566401" cy="270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baseline="0">
                <a:latin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 altLang="zh-CN" sz="1200" dirty="0"/>
              <a:t>Source: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2133-84E4-4D49-B786-7B5C0B54D1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524000"/>
            <a:ext cx="10668000" cy="449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黑体" panose="02010609060101010101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rgbClr val="7030A0"/>
        </a:buClr>
        <a:buFont typeface="Wingdings" panose="05000000000000000000" pitchFamily="2" charset="2"/>
        <a:buChar char="o"/>
        <a:defRPr sz="2400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908050" indent="-436880" algn="l" rtl="0" eaLnBrk="1" fontAlgn="base" hangingPunct="1">
        <a:spcBef>
          <a:spcPct val="20000"/>
        </a:spcBef>
        <a:spcAft>
          <a:spcPct val="0"/>
        </a:spcAft>
        <a:buClr>
          <a:srgbClr val="7030A0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304925" indent="-395605" algn="l" rtl="0" eaLnBrk="1" fontAlgn="base" hangingPunct="1">
        <a:spcBef>
          <a:spcPct val="20000"/>
        </a:spcBef>
        <a:spcAft>
          <a:spcPct val="0"/>
        </a:spcAft>
        <a:buClr>
          <a:srgbClr val="7030A0"/>
        </a:buClr>
        <a:buFont typeface="Wingdings" panose="05000000000000000000" pitchFamily="2" charset="2"/>
        <a:buChar char="o"/>
        <a:defRPr sz="1800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94180" indent="-387350" algn="l" rtl="0" eaLnBrk="1" fontAlgn="base" hangingPunct="1">
        <a:spcBef>
          <a:spcPct val="20000"/>
        </a:spcBef>
        <a:spcAft>
          <a:spcPct val="0"/>
        </a:spcAft>
        <a:buClr>
          <a:srgbClr val="7030A0"/>
        </a:buClr>
        <a:buFont typeface="Wingdings" panose="05000000000000000000" pitchFamily="2" charset="2"/>
        <a:buChar char="n"/>
        <a:defRPr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94230" indent="-398780" algn="l" rtl="0" eaLnBrk="1" fontAlgn="base" hangingPunct="1">
        <a:spcBef>
          <a:spcPct val="25000"/>
        </a:spcBef>
        <a:spcAft>
          <a:spcPct val="0"/>
        </a:spcAft>
        <a:buClr>
          <a:srgbClr val="7030A0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514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实施方案</a:t>
            </a:r>
            <a:endParaRPr lang="zh-CN" altLang="en-US" dirty="0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7D2133-84E4-4D49-B786-7B5C0B54D116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791200" y="5155565"/>
            <a:ext cx="158750" cy="212725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696585" y="5098415"/>
            <a:ext cx="431800" cy="327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>
                <a:latin typeface="华文细黑" panose="02010600040101010101" charset="-122"/>
                <a:ea typeface="华文细黑" panose="02010600040101010101" charset="-122"/>
              </a:rPr>
              <a:t>迭</a:t>
            </a:r>
            <a:endParaRPr lang="zh-CN" altLang="en-US" sz="1200">
              <a:latin typeface="华文细黑" panose="02010600040101010101" charset="-122"/>
              <a:ea typeface="华文细黑" panose="02010600040101010101" charset="-122"/>
            </a:endParaRPr>
          </a:p>
        </p:txBody>
      </p:sp>
      <p:pic>
        <p:nvPicPr>
          <p:cNvPr id="12" name="内容占位符 11"/>
          <p:cNvPicPr>
            <a:picLocks noChangeAspect="1"/>
          </p:cNvPicPr>
          <p:nvPr>
            <p:ph idx="13"/>
          </p:nvPr>
        </p:nvPicPr>
        <p:blipFill>
          <a:blip r:embed="rId1"/>
          <a:srcRect t="9510" b="4186"/>
          <a:stretch>
            <a:fillRect/>
          </a:stretch>
        </p:blipFill>
        <p:spPr>
          <a:xfrm>
            <a:off x="1599565" y="1040765"/>
            <a:ext cx="9144635" cy="5233035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9143365" y="5003165"/>
            <a:ext cx="1760855" cy="129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实施方案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521970" y="980440"/>
            <a:ext cx="11014075" cy="5104765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zh-CN" altLang="en-US" dirty="0"/>
              <a:t>实施</a:t>
            </a:r>
            <a:r>
              <a:rPr lang="zh-CN" altLang="en-US" dirty="0" smtClean="0"/>
              <a:t>方案详细内容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dirty="0"/>
              <a:t>数</a:t>
            </a:r>
            <a:r>
              <a:rPr lang="zh-CN" altLang="en-US" dirty="0" smtClean="0">
                <a:cs typeface="+mn-ea"/>
              </a:rPr>
              <a:t>据处理与工艺物流建模</a:t>
            </a:r>
            <a:endParaRPr lang="zh-CN" altLang="en-US" dirty="0"/>
          </a:p>
          <a:p>
            <a:pPr marL="471170" lvl="1" indent="457200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梳理设备、工序、物流及空间属性数据，完成清洗与关联，构建工艺路径图和设备物流关系。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dirty="0" smtClean="0">
                <a:cs typeface="+mn-ea"/>
              </a:rPr>
              <a:t>布局方案设计与生成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71170" lvl="1" indent="457200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结合物流关系、设备尺寸、间距及洁净分区要求，生成多组候选布局方案，并输出设备坐标与区域划分。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dirty="0" smtClean="0">
                <a:cs typeface="+mn-ea"/>
              </a:rPr>
              <a:t>仿真系统构建与运行验证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71170" lvl="1" indent="457200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将候选布局导入仿真环境，模拟物流运行过程并采集评价指标，结合实体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UGV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进行验证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algn="l">
              <a:spcBef>
                <a:spcPts val="600"/>
              </a:spcBef>
              <a:spcAft>
                <a:spcPts val="600"/>
              </a:spcAft>
              <a:buSzTx/>
            </a:pPr>
            <a:r>
              <a:rPr lang="zh-CN" altLang="en-US" dirty="0" smtClean="0">
                <a:cs typeface="+mn-ea"/>
              </a:rPr>
              <a:t>多方案评价与迭代优化</a:t>
            </a:r>
            <a:endParaRPr lang="zh-CN" altLang="en-US" dirty="0" smtClean="0">
              <a:cs typeface="+mn-ea"/>
            </a:endParaRPr>
          </a:p>
          <a:p>
            <a:pPr marL="471170" lvl="1" indent="457200" algn="l">
              <a:spcBef>
                <a:spcPts val="600"/>
              </a:spcBef>
              <a:spcAft>
                <a:spcPts val="600"/>
              </a:spcAft>
              <a:buSzTx/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对比不同方案的物流效率、空间利用率和分区合理性，开展敏感性分析并迭代形成推荐方案。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  <a:p>
            <a:pPr marL="471170" lvl="1" indent="457200">
              <a:spcBef>
                <a:spcPts val="600"/>
              </a:spcBef>
              <a:spcAft>
                <a:spcPts val="600"/>
              </a:spcAft>
              <a:buNone/>
            </a:pP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71170" lvl="1" indent="0">
              <a:buNone/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  <a:p>
            <a:endParaRPr lang="zh-CN" altLang="en-US" sz="2000" dirty="0" smtClean="0">
              <a:cs typeface="+mn-ea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  <a:p>
            <a:endParaRPr lang="zh-CN" altLang="en-US" sz="2000" dirty="0" smtClean="0">
              <a:cs typeface="+mn-ea"/>
            </a:endParaRP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7D2133-84E4-4D49-B786-7B5C0B54D1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进度计划</a:t>
            </a:r>
            <a:endParaRPr lang="zh-CN" altLang="en-US" dirty="0"/>
          </a:p>
        </p:txBody>
      </p:sp>
      <p:graphicFrame>
        <p:nvGraphicFramePr>
          <p:cNvPr id="3" name="内容占位符 2"/>
          <p:cNvGraphicFramePr>
            <a:graphicFrameLocks noGrp="1"/>
          </p:cNvGraphicFramePr>
          <p:nvPr>
            <p:ph idx="12"/>
            <p:custDataLst>
              <p:tags r:id="rId1"/>
            </p:custDataLst>
          </p:nvPr>
        </p:nvGraphicFramePr>
        <p:xfrm>
          <a:off x="766445" y="1618615"/>
          <a:ext cx="10657205" cy="4349750"/>
        </p:xfrm>
        <a:graphic>
          <a:graphicData uri="http://schemas.openxmlformats.org/drawingml/2006/table">
            <a:tbl>
              <a:tblPr firstRow="1" firstCol="1" bandRow="1">
                <a:tableStyleId>{0505E3EF-67EA-436B-97B2-0124C06EBD24}</a:tableStyleId>
              </a:tblPr>
              <a:tblGrid>
                <a:gridCol w="1414145"/>
                <a:gridCol w="5615305"/>
                <a:gridCol w="1819910"/>
                <a:gridCol w="1807845"/>
              </a:tblGrid>
              <a:tr h="6076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时间节点</a:t>
                      </a:r>
                      <a:endParaRPr lang="zh-CN" sz="1800" kern="100" dirty="0"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7287" marR="728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 smtClean="0"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工作</a:t>
                      </a:r>
                      <a:r>
                        <a:rPr lang="zh-CN" altLang="en-US" sz="1800" kern="100" dirty="0" smtClean="0"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任务</a:t>
                      </a:r>
                      <a:endParaRPr lang="zh-CN" sz="1800" kern="100" dirty="0"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7287" marR="728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00" dirty="0" smtClean="0"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负责人</a:t>
                      </a:r>
                      <a:endParaRPr lang="zh-CN" sz="1800" kern="100" dirty="0"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7287" marR="728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kern="100" dirty="0"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协助人</a:t>
                      </a:r>
                      <a:endParaRPr lang="zh-CN" altLang="en-US" sz="1800" kern="100" dirty="0"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7287" marR="728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2945">
                <a:tc>
                  <a:txBody>
                    <a:bodyPr/>
                    <a:lstStyle/>
                    <a:p>
                      <a:pPr marL="71755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 kern="100" dirty="0" smtClean="0">
                          <a:effectLst/>
                        </a:rPr>
                        <a:t>第</a:t>
                      </a:r>
                      <a:r>
                        <a:rPr lang="en-US" sz="1800" b="0" kern="100" dirty="0" smtClean="0">
                          <a:effectLst/>
                        </a:rPr>
                        <a:t>1-2</a:t>
                      </a:r>
                      <a:r>
                        <a:rPr lang="zh-CN" sz="1800" b="0" kern="100" dirty="0">
                          <a:effectLst/>
                        </a:rPr>
                        <a:t>周</a:t>
                      </a:r>
                      <a:endParaRPr lang="zh-CN" sz="1800" b="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7287" marR="728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algn="l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800" kern="100" dirty="0" smtClean="0">
                          <a:effectLst/>
                        </a:rPr>
                        <a:t>完成文献调研与任务需求分析；熟悉半导体制造工艺及数据集结构，明确总体技术路线和人员分工。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7287" marR="728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algn="l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dirty="0" smtClean="0">
                          <a:effectLst/>
                          <a:latin typeface="Times New Roman" panose="02020603050405020304"/>
                          <a:ea typeface="+mn-ea"/>
                        </a:rPr>
                        <a:t>王嘉赫、刘若石、</a:t>
                      </a:r>
                      <a:endParaRPr lang="zh-CN" sz="1800" kern="100" dirty="0" smtClean="0">
                        <a:effectLst/>
                        <a:latin typeface="Times New Roman" panose="02020603050405020304"/>
                        <a:ea typeface="+mn-ea"/>
                      </a:endParaRPr>
                    </a:p>
                    <a:p>
                      <a:pPr marL="71755" algn="l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dirty="0" smtClean="0">
                          <a:effectLst/>
                          <a:latin typeface="Times New Roman" panose="02020603050405020304"/>
                          <a:ea typeface="+mn-ea"/>
                        </a:rPr>
                        <a:t>孙奕扬、周钦铭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7287" marR="728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71755" algn="l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7287" marR="728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7695">
                <a:tc>
                  <a:txBody>
                    <a:bodyPr/>
                    <a:lstStyle/>
                    <a:p>
                      <a:pPr marL="71755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 kern="100" dirty="0" smtClean="0">
                          <a:effectLst/>
                        </a:rPr>
                        <a:t>第</a:t>
                      </a:r>
                      <a:r>
                        <a:rPr lang="en-US" sz="1800" b="0" kern="100" dirty="0" smtClean="0">
                          <a:effectLst/>
                        </a:rPr>
                        <a:t>3</a:t>
                      </a:r>
                      <a:r>
                        <a:rPr lang="zh-CN" sz="1800" b="0" kern="100" dirty="0">
                          <a:effectLst/>
                        </a:rPr>
                        <a:t>周</a:t>
                      </a:r>
                      <a:endParaRPr lang="zh-CN" sz="1800" b="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7287" marR="728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algn="l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800" kern="100" dirty="0"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完成数据梳理与预处理；明确设备、工序、物流及空间属性，初步重构产品工艺流程。</a:t>
                      </a:r>
                      <a:endParaRPr lang="zh-CN" altLang="en-US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7287" marR="728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0" indent="0" algn="l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800" kern="100" dirty="0" smtClean="0">
                          <a:effectLst/>
                          <a:latin typeface="Times New Roman" panose="02020603050405020304"/>
                          <a:ea typeface="+mn-ea"/>
                        </a:rPr>
                        <a:t>刘若石、王嘉赫</a:t>
                      </a:r>
                      <a:endParaRPr lang="zh-CN" sz="1800" kern="100" dirty="0" smtClean="0">
                        <a:effectLst/>
                        <a:latin typeface="Times New Roman" panose="02020603050405020304"/>
                        <a:ea typeface="+mn-ea"/>
                      </a:endParaRPr>
                    </a:p>
                  </a:txBody>
                  <a:tcPr marL="7287" marR="728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71755" algn="l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dirty="0" smtClean="0">
                          <a:effectLst/>
                          <a:latin typeface="Times New Roman" panose="02020603050405020304"/>
                          <a:sym typeface="+mn-ea"/>
                        </a:rPr>
                        <a:t>孙奕扬、周钦铭</a:t>
                      </a:r>
                      <a:endParaRPr lang="zh-CN" altLang="en-US" sz="1800" kern="100" dirty="0" smtClean="0">
                        <a:effectLst/>
                        <a:latin typeface="Times New Roman" panose="02020603050405020304"/>
                        <a:ea typeface="+mn-ea"/>
                      </a:endParaRPr>
                    </a:p>
                  </a:txBody>
                  <a:tcPr marL="7287" marR="728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8330">
                <a:tc>
                  <a:txBody>
                    <a:bodyPr/>
                    <a:lstStyle/>
                    <a:p>
                      <a:pPr marL="71755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 kern="100" dirty="0" smtClean="0">
                          <a:effectLst/>
                        </a:rPr>
                        <a:t>第</a:t>
                      </a:r>
                      <a:r>
                        <a:rPr lang="en-US" sz="1800" b="0" kern="100" dirty="0" smtClean="0">
                          <a:effectLst/>
                        </a:rPr>
                        <a:t>4-5</a:t>
                      </a:r>
                      <a:r>
                        <a:rPr lang="zh-CN" sz="1800" b="0" kern="100" dirty="0">
                          <a:effectLst/>
                        </a:rPr>
                        <a:t>周</a:t>
                      </a:r>
                      <a:endParaRPr lang="zh-CN" sz="1800" b="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7287" marR="728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algn="l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800" kern="100" dirty="0"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构建产品工艺路径及设备物流关系；完成布局需求分析、约束条件整理和布局问题定义。</a:t>
                      </a:r>
                      <a:endParaRPr lang="zh-CN" altLang="en-US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7287" marR="728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0" indent="0" algn="l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800" kern="100" dirty="0" smtClean="0">
                          <a:effectLst/>
                          <a:latin typeface="Times New Roman" panose="02020603050405020304"/>
                          <a:ea typeface="+mn-ea"/>
                        </a:rPr>
                        <a:t>王嘉赫、周钦铭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7287" marR="728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71755" algn="l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kern="100" dirty="0"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刘若石、孙奕扬</a:t>
                      </a:r>
                      <a:endParaRPr lang="zh-CN" altLang="en-US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7287" marR="728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7060">
                <a:tc>
                  <a:txBody>
                    <a:bodyPr/>
                    <a:lstStyle/>
                    <a:p>
                      <a:pPr marL="71755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 kern="100" dirty="0" smtClean="0">
                          <a:effectLst/>
                        </a:rPr>
                        <a:t>第</a:t>
                      </a:r>
                      <a:r>
                        <a:rPr lang="en-US" sz="1800" b="0" kern="100" dirty="0" smtClean="0">
                          <a:effectLst/>
                        </a:rPr>
                        <a:t>6-9</a:t>
                      </a:r>
                      <a:r>
                        <a:rPr lang="zh-CN" sz="1800" b="0" kern="100" dirty="0">
                          <a:effectLst/>
                        </a:rPr>
                        <a:t>周</a:t>
                      </a:r>
                      <a:endParaRPr lang="zh-CN" sz="1800" b="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7287" marR="728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algn="l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800" kern="100" dirty="0"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生成并完善候选布局方案；同步搭建二维/三维仿真场景和物流运行环境。</a:t>
                      </a:r>
                      <a:endParaRPr lang="zh-CN" altLang="en-US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7287" marR="728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0" indent="0" algn="l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800" kern="100" dirty="0" smtClean="0">
                          <a:effectLst/>
                          <a:latin typeface="Times New Roman" panose="02020603050405020304"/>
                          <a:ea typeface="+mn-ea"/>
                        </a:rPr>
                        <a:t>周钦铭、孙奕扬</a:t>
                      </a:r>
                      <a:endParaRPr lang="zh-CN" altLang="zh-CN" sz="1800" kern="100" dirty="0" smtClean="0">
                        <a:effectLst/>
                        <a:latin typeface="Times New Roman" panose="02020603050405020304"/>
                        <a:ea typeface="+mn-ea"/>
                      </a:endParaRPr>
                    </a:p>
                    <a:p>
                      <a:pPr marL="71755" algn="l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7287" marR="728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71755" algn="l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800" kern="100" dirty="0" smtClean="0">
                          <a:effectLst/>
                          <a:latin typeface="Times New Roman" panose="02020603050405020304"/>
                          <a:sym typeface="+mn-ea"/>
                        </a:rPr>
                        <a:t>王嘉赫、刘若石</a:t>
                      </a:r>
                      <a:endParaRPr lang="zh-CN" altLang="en-US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7287" marR="728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7695">
                <a:tc>
                  <a:txBody>
                    <a:bodyPr/>
                    <a:lstStyle/>
                    <a:p>
                      <a:pPr marL="71755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 kern="100" dirty="0" smtClean="0">
                          <a:effectLst/>
                        </a:rPr>
                        <a:t>第</a:t>
                      </a:r>
                      <a:r>
                        <a:rPr lang="en-US" sz="1800" b="0" kern="100" dirty="0" smtClean="0">
                          <a:effectLst/>
                        </a:rPr>
                        <a:t>10-13</a:t>
                      </a:r>
                      <a:r>
                        <a:rPr lang="zh-CN" sz="1800" b="0" kern="100" dirty="0">
                          <a:effectLst/>
                        </a:rPr>
                        <a:t>周</a:t>
                      </a:r>
                      <a:endParaRPr lang="zh-CN" sz="1800" b="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7287" marR="728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algn="l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800" kern="100" dirty="0" smtClean="0">
                          <a:effectLst/>
                        </a:rPr>
                        <a:t>开展多方案仿真评价与对比，完善物流运行过程；接入实验室 </a:t>
                      </a:r>
                      <a:r>
                        <a:rPr lang="en-US" altLang="zh-CN" sz="1800" kern="100" dirty="0" smtClean="0">
                          <a:effectLst/>
                        </a:rPr>
                        <a:t>UGV，</a:t>
                      </a:r>
                      <a:r>
                        <a:rPr lang="zh-CN" altLang="en-US" sz="1800" kern="100" dirty="0" smtClean="0">
                          <a:effectLst/>
                        </a:rPr>
                        <a:t>开展 </a:t>
                      </a:r>
                      <a:r>
                        <a:rPr lang="en-US" altLang="zh-CN" sz="1800" kern="100" dirty="0" smtClean="0">
                          <a:effectLst/>
                        </a:rPr>
                        <a:t>HIL </a:t>
                      </a:r>
                      <a:r>
                        <a:rPr lang="zh-CN" altLang="en-US" sz="1800" kern="100" dirty="0" smtClean="0">
                          <a:effectLst/>
                        </a:rPr>
                        <a:t>验证和方案迭代。</a:t>
                      </a:r>
                      <a:r>
                        <a:rPr lang="zh-CN" altLang="en-US" sz="1800" kern="100" dirty="0" smtClean="0">
                          <a:effectLst/>
                        </a:rPr>
                        <a:t>。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7287" marR="728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0" indent="0" algn="l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00" dirty="0" smtClean="0">
                          <a:effectLst/>
                          <a:latin typeface="Times New Roman" panose="02020603050405020304"/>
                          <a:ea typeface="+mn-ea"/>
                        </a:rPr>
                        <a:t>孙奕扬、刘若石</a:t>
                      </a:r>
                      <a:endParaRPr lang="zh-CN" altLang="en-US" sz="1800" kern="100" dirty="0" smtClean="0">
                        <a:effectLst/>
                        <a:latin typeface="Times New Roman" panose="02020603050405020304"/>
                        <a:ea typeface="+mn-ea"/>
                      </a:endParaRPr>
                    </a:p>
                  </a:txBody>
                  <a:tcPr marL="7287" marR="728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71755" marR="0" indent="0" algn="l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800" kern="100" dirty="0" smtClean="0">
                          <a:effectLst/>
                          <a:latin typeface="Times New Roman" panose="02020603050405020304"/>
                          <a:sym typeface="+mn-ea"/>
                        </a:rPr>
                        <a:t>王嘉赫、周钦铭</a:t>
                      </a:r>
                      <a:endParaRPr lang="zh-CN" altLang="en-US" sz="1800" kern="100" dirty="0" smtClean="0">
                        <a:effectLst/>
                        <a:latin typeface="Times New Roman" panose="02020603050405020304"/>
                        <a:ea typeface="+mn-ea"/>
                      </a:endParaRPr>
                    </a:p>
                  </a:txBody>
                  <a:tcPr marL="7287" marR="728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8330">
                <a:tc>
                  <a:txBody>
                    <a:bodyPr/>
                    <a:lstStyle/>
                    <a:p>
                      <a:pPr marL="71755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 kern="100" dirty="0" smtClean="0">
                          <a:effectLst/>
                        </a:rPr>
                        <a:t>第</a:t>
                      </a:r>
                      <a:r>
                        <a:rPr lang="en-US" sz="1800" b="0" kern="100" dirty="0" smtClean="0">
                          <a:effectLst/>
                        </a:rPr>
                        <a:t>14-16</a:t>
                      </a:r>
                      <a:r>
                        <a:rPr lang="zh-CN" sz="1800" b="0" kern="100" dirty="0">
                          <a:effectLst/>
                        </a:rPr>
                        <a:t>周</a:t>
                      </a:r>
                      <a:endParaRPr lang="zh-CN" sz="1800" b="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7287" marR="728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algn="l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800" kern="100" dirty="0" smtClean="0">
                          <a:effectLst/>
                        </a:rPr>
                        <a:t>开展敏感性分析和综合方案验证，确定推荐方案；完成系统整合、课程报告及终期展示。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7287" marR="728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algn="l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dirty="0" smtClean="0">
                          <a:effectLst/>
                          <a:latin typeface="Times New Roman" panose="02020603050405020304"/>
                          <a:sym typeface="+mn-ea"/>
                        </a:rPr>
                        <a:t>王嘉赫、刘若石、</a:t>
                      </a:r>
                      <a:endParaRPr lang="zh-CN" sz="1800" kern="100" dirty="0" smtClean="0">
                        <a:effectLst/>
                        <a:latin typeface="Times New Roman" panose="02020603050405020304"/>
                        <a:ea typeface="+mn-ea"/>
                      </a:endParaRPr>
                    </a:p>
                    <a:p>
                      <a:pPr marL="71755" algn="l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dirty="0" smtClean="0">
                          <a:effectLst/>
                          <a:latin typeface="Times New Roman" panose="02020603050405020304"/>
                          <a:sym typeface="+mn-ea"/>
                        </a:rPr>
                        <a:t>孙奕扬、周钦铭</a:t>
                      </a:r>
                      <a:endParaRPr lang="zh-CN" altLang="zh-CN" sz="1800" kern="100" dirty="0" smtClean="0">
                        <a:effectLst/>
                        <a:latin typeface="Times New Roman" panose="02020603050405020304"/>
                        <a:ea typeface="+mn-ea"/>
                      </a:endParaRPr>
                    </a:p>
                  </a:txBody>
                  <a:tcPr marL="7287" marR="728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71755" marR="0" indent="0" algn="l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zh-CN" sz="1800" kern="100" dirty="0" smtClean="0">
                        <a:effectLst/>
                        <a:latin typeface="Times New Roman" panose="02020603050405020304"/>
                        <a:ea typeface="+mn-ea"/>
                      </a:endParaRPr>
                    </a:p>
                  </a:txBody>
                  <a:tcPr marL="7287" marR="728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7D2133-84E4-4D49-B786-7B5C0B54D116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内容占位符 3"/>
          <p:cNvSpPr>
            <a:spLocks noGrp="1"/>
          </p:cNvSpPr>
          <p:nvPr>
            <p:ph idx="1"/>
          </p:nvPr>
        </p:nvSpPr>
        <p:spPr>
          <a:xfrm>
            <a:off x="755650" y="1143000"/>
            <a:ext cx="10668000" cy="534670"/>
          </a:xfrm>
        </p:spPr>
        <p:txBody>
          <a:bodyPr/>
          <a:lstStyle/>
          <a:p>
            <a:r>
              <a:rPr lang="zh-CN" altLang="en-US" dirty="0" smtClean="0"/>
              <a:t>进度计划与</a:t>
            </a:r>
            <a:r>
              <a:rPr lang="zh-CN" altLang="en-US" dirty="0"/>
              <a:t>成员</a:t>
            </a:r>
            <a:r>
              <a:rPr lang="zh-CN" altLang="en-US" dirty="0" smtClean="0"/>
              <a:t>分工</a:t>
            </a:r>
            <a:endParaRPr lang="en-US" altLang="zh-CN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39*342"/>
  <p:tag name="TABLE_ENDDRAG_RECT" val="60*127*839*342"/>
</p:tagLst>
</file>

<file path=ppt/theme/theme1.xml><?xml version="1.0" encoding="utf-8"?>
<a:theme xmlns:a="http://schemas.openxmlformats.org/drawingml/2006/main" name="tops-seminar-wid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tops-seminar-wide_20190817_1900(1)</Template>
  <TotalTime>0</TotalTime>
  <Words>618</Words>
  <Application>WPS 演示</Application>
  <PresentationFormat>自定义</PresentationFormat>
  <Paragraphs>93</Paragraphs>
  <Slides>3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7" baseType="lpstr">
      <vt:lpstr>Arial</vt:lpstr>
      <vt:lpstr>宋体</vt:lpstr>
      <vt:lpstr>Wingdings</vt:lpstr>
      <vt:lpstr>黑体</vt:lpstr>
      <vt:lpstr>Verdana</vt:lpstr>
      <vt:lpstr>Times New Roman</vt:lpstr>
      <vt:lpstr>Times New Roman</vt:lpstr>
      <vt:lpstr>微软雅黑</vt:lpstr>
      <vt:lpstr>Arial Unicode MS</vt:lpstr>
      <vt:lpstr>等线</vt:lpstr>
      <vt:lpstr>方正粗黑宋简体</vt:lpstr>
      <vt:lpstr>标准粗黑</vt:lpstr>
      <vt:lpstr>华文细黑</vt:lpstr>
      <vt:lpstr>tops-seminar-wide</vt:lpstr>
      <vt:lpstr>实施方案</vt:lpstr>
      <vt:lpstr>实施方案</vt:lpstr>
      <vt:lpstr>进度计划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jiaqi wang</dc:creator>
  <cp:lastModifiedBy>王嘉赫(2023010355)</cp:lastModifiedBy>
  <cp:revision>580</cp:revision>
  <dcterms:created xsi:type="dcterms:W3CDTF">2021-11-06T05:43:00Z</dcterms:created>
  <dcterms:modified xsi:type="dcterms:W3CDTF">2026-09-19T09:01:54Z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EB739F241C9545B4816F7CAEE4435A65_13</vt:lpwstr>
  </property>
</Properties>
</file>