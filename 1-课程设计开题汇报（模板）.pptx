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307" r:id="rId3"/>
    <p:sldId id="289" r:id="rId4"/>
    <p:sldId id="314" r:id="rId5"/>
    <p:sldId id="291" r:id="rId6"/>
    <p:sldId id="293" r:id="rId7"/>
    <p:sldId id="301" r:id="rId8"/>
    <p:sldId id="316" r:id="rId9"/>
    <p:sldId id="308" r:id="rId10"/>
    <p:sldId id="29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4873C4"/>
    <a:srgbClr val="C6D3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22" autoAdjust="0"/>
    <p:restoredTop sz="82222" autoAdjust="0"/>
  </p:normalViewPr>
  <p:slideViewPr>
    <p:cSldViewPr snapToGrid="0">
      <p:cViewPr>
        <p:scale>
          <a:sx n="60" d="100"/>
          <a:sy n="60" d="100"/>
        </p:scale>
        <p:origin x="-2286" y="-80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309130-27B2-45F0-AA09-284A50887054}" type="datetimeFigureOut">
              <a:rPr lang="zh-CN" altLang="en-US" smtClean="0"/>
              <a:t>2023/9/11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002B64-FC5E-4859-ACC5-5828DA2ED3C4}" type="slidenum">
              <a:rPr lang="zh-CN" altLang="en-US" smtClean="0"/>
              <a:t>‹#›</a:t>
            </a:fld>
            <a:endParaRPr lang="zh-CN" altLang="en-US"/>
          </a:p>
        </p:txBody>
      </p:sp>
    </p:spTree>
    <p:extLst>
      <p:ext uri="{BB962C8B-B14F-4D97-AF65-F5344CB8AC3E}">
        <p14:creationId xmlns:p14="http://schemas.microsoft.com/office/powerpoint/2010/main" val="3609206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002B64-FC5E-4859-ACC5-5828DA2ED3C4}" type="slidenum">
              <a:rPr lang="zh-CN" altLang="en-US" smtClean="0"/>
              <a:t>1</a:t>
            </a:fld>
            <a:endParaRPr lang="zh-CN" altLang="en-US"/>
          </a:p>
        </p:txBody>
      </p:sp>
    </p:spTree>
    <p:extLst>
      <p:ext uri="{BB962C8B-B14F-4D97-AF65-F5344CB8AC3E}">
        <p14:creationId xmlns:p14="http://schemas.microsoft.com/office/powerpoint/2010/main" val="1091999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4002B64-FC5E-4859-ACC5-5828DA2ED3C4}" type="slidenum">
              <a:rPr lang="zh-CN" altLang="en-US" smtClean="0"/>
              <a:t>2</a:t>
            </a:fld>
            <a:endParaRPr lang="zh-CN" altLang="en-US"/>
          </a:p>
        </p:txBody>
      </p:sp>
    </p:spTree>
    <p:extLst>
      <p:ext uri="{BB962C8B-B14F-4D97-AF65-F5344CB8AC3E}">
        <p14:creationId xmlns:p14="http://schemas.microsoft.com/office/powerpoint/2010/main" val="3392672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002B64-FC5E-4859-ACC5-5828DA2ED3C4}" type="slidenum">
              <a:rPr lang="zh-CN" altLang="en-US" smtClean="0"/>
              <a:t>3</a:t>
            </a:fld>
            <a:endParaRPr lang="zh-CN" altLang="en-US"/>
          </a:p>
        </p:txBody>
      </p:sp>
    </p:spTree>
    <p:extLst>
      <p:ext uri="{BB962C8B-B14F-4D97-AF65-F5344CB8AC3E}">
        <p14:creationId xmlns:p14="http://schemas.microsoft.com/office/powerpoint/2010/main" val="3848164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002B64-FC5E-4859-ACC5-5828DA2ED3C4}" type="slidenum">
              <a:rPr lang="zh-CN" altLang="en-US" smtClean="0"/>
              <a:t>4</a:t>
            </a:fld>
            <a:endParaRPr lang="zh-CN" altLang="en-US"/>
          </a:p>
        </p:txBody>
      </p:sp>
    </p:spTree>
    <p:extLst>
      <p:ext uri="{BB962C8B-B14F-4D97-AF65-F5344CB8AC3E}">
        <p14:creationId xmlns:p14="http://schemas.microsoft.com/office/powerpoint/2010/main" val="1133646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002B64-FC5E-4859-ACC5-5828DA2ED3C4}" type="slidenum">
              <a:rPr lang="zh-CN" altLang="en-US" smtClean="0"/>
              <a:t>5</a:t>
            </a:fld>
            <a:endParaRPr lang="zh-CN" altLang="en-US"/>
          </a:p>
        </p:txBody>
      </p:sp>
    </p:spTree>
    <p:extLst>
      <p:ext uri="{BB962C8B-B14F-4D97-AF65-F5344CB8AC3E}">
        <p14:creationId xmlns:p14="http://schemas.microsoft.com/office/powerpoint/2010/main" val="1133646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002B64-FC5E-4859-ACC5-5828DA2ED3C4}" type="slidenum">
              <a:rPr lang="zh-CN" altLang="en-US" smtClean="0"/>
              <a:t>6</a:t>
            </a:fld>
            <a:endParaRPr lang="zh-CN" altLang="en-US"/>
          </a:p>
        </p:txBody>
      </p:sp>
    </p:spTree>
    <p:extLst>
      <p:ext uri="{BB962C8B-B14F-4D97-AF65-F5344CB8AC3E}">
        <p14:creationId xmlns:p14="http://schemas.microsoft.com/office/powerpoint/2010/main" val="325425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半角符号，</a:t>
            </a:r>
          </a:p>
        </p:txBody>
      </p:sp>
      <p:sp>
        <p:nvSpPr>
          <p:cNvPr id="4" name="灯片编号占位符 3"/>
          <p:cNvSpPr>
            <a:spLocks noGrp="1"/>
          </p:cNvSpPr>
          <p:nvPr>
            <p:ph type="sldNum" sz="quarter" idx="5"/>
          </p:nvPr>
        </p:nvSpPr>
        <p:spPr/>
        <p:txBody>
          <a:bodyPr/>
          <a:lstStyle/>
          <a:p>
            <a:fld id="{A4002B64-FC5E-4859-ACC5-5828DA2ED3C4}" type="slidenum">
              <a:rPr lang="zh-CN" altLang="en-US" smtClean="0"/>
              <a:t>7</a:t>
            </a:fld>
            <a:endParaRPr lang="zh-CN" altLang="en-US"/>
          </a:p>
        </p:txBody>
      </p:sp>
    </p:spTree>
    <p:extLst>
      <p:ext uri="{BB962C8B-B14F-4D97-AF65-F5344CB8AC3E}">
        <p14:creationId xmlns:p14="http://schemas.microsoft.com/office/powerpoint/2010/main" val="1450330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半角符号，</a:t>
            </a:r>
          </a:p>
        </p:txBody>
      </p:sp>
      <p:sp>
        <p:nvSpPr>
          <p:cNvPr id="4" name="灯片编号占位符 3"/>
          <p:cNvSpPr>
            <a:spLocks noGrp="1"/>
          </p:cNvSpPr>
          <p:nvPr>
            <p:ph type="sldNum" sz="quarter" idx="5"/>
          </p:nvPr>
        </p:nvSpPr>
        <p:spPr/>
        <p:txBody>
          <a:bodyPr/>
          <a:lstStyle/>
          <a:p>
            <a:fld id="{A4002B64-FC5E-4859-ACC5-5828DA2ED3C4}" type="slidenum">
              <a:rPr lang="zh-CN" altLang="en-US" smtClean="0"/>
              <a:t>8</a:t>
            </a:fld>
            <a:endParaRPr lang="zh-CN" altLang="en-US"/>
          </a:p>
        </p:txBody>
      </p:sp>
    </p:spTree>
    <p:extLst>
      <p:ext uri="{BB962C8B-B14F-4D97-AF65-F5344CB8AC3E}">
        <p14:creationId xmlns:p14="http://schemas.microsoft.com/office/powerpoint/2010/main" val="2272754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4002B64-FC5E-4859-ACC5-5828DA2ED3C4}" type="slidenum">
              <a:rPr lang="zh-CN" altLang="en-US" smtClean="0"/>
              <a:t>9</a:t>
            </a:fld>
            <a:endParaRPr lang="zh-CN" altLang="en-US"/>
          </a:p>
        </p:txBody>
      </p:sp>
    </p:spTree>
    <p:extLst>
      <p:ext uri="{BB962C8B-B14F-4D97-AF65-F5344CB8AC3E}">
        <p14:creationId xmlns:p14="http://schemas.microsoft.com/office/powerpoint/2010/main" val="37844332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标题">
    <p:spTree>
      <p:nvGrpSpPr>
        <p:cNvPr id="1" name=""/>
        <p:cNvGrpSpPr/>
        <p:nvPr/>
      </p:nvGrpSpPr>
      <p:grpSpPr>
        <a:xfrm>
          <a:off x="0" y="0"/>
          <a:ext cx="0" cy="0"/>
          <a:chOff x="0" y="0"/>
          <a:chExt cx="0" cy="0"/>
        </a:xfrm>
      </p:grpSpPr>
      <p:pic>
        <p:nvPicPr>
          <p:cNvPr id="10" name="Picture 3" descr="C:\Documents and Settings\user\My Documents\Downloads\lita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5600" y="3358800"/>
            <a:ext cx="4286250"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itle 20"/>
          <p:cNvSpPr>
            <a:spLocks noGrp="1"/>
          </p:cNvSpPr>
          <p:nvPr>
            <p:ph type="title"/>
          </p:nvPr>
        </p:nvSpPr>
        <p:spPr>
          <a:xfrm>
            <a:off x="1103445" y="2420888"/>
            <a:ext cx="10174155" cy="819944"/>
          </a:xfrm>
          <a:prstGeom prst="rect">
            <a:avLst/>
          </a:prstGeom>
        </p:spPr>
        <p:txBody>
          <a:bodyPr/>
          <a:lstStyle>
            <a:lvl1pPr algn="l">
              <a:defRPr baseline="0">
                <a:latin typeface="Arial" pitchFamily="34" charset="0"/>
                <a:ea typeface="黑体" pitchFamily="2" charset="-122"/>
              </a:defRPr>
            </a:lvl1pPr>
          </a:lstStyle>
          <a:p>
            <a:r>
              <a:rPr lang="zh-CN" altLang="en-US"/>
              <a:t>单击此处编辑母版标题样式</a:t>
            </a:r>
            <a:endParaRPr lang="en-US" dirty="0"/>
          </a:p>
        </p:txBody>
      </p:sp>
      <p:sp>
        <p:nvSpPr>
          <p:cNvPr id="9" name="Content Placeholder 8"/>
          <p:cNvSpPr>
            <a:spLocks noGrp="1"/>
          </p:cNvSpPr>
          <p:nvPr>
            <p:ph sz="quarter" idx="10"/>
          </p:nvPr>
        </p:nvSpPr>
        <p:spPr>
          <a:xfrm>
            <a:off x="1102784" y="3888000"/>
            <a:ext cx="10174816" cy="1620000"/>
          </a:xfrm>
        </p:spPr>
        <p:txBody>
          <a:bodyPr/>
          <a:lstStyle>
            <a:lvl1pPr marL="0" indent="0">
              <a:buNone/>
              <a:defRPr sz="2400" baseline="0">
                <a:latin typeface="+mn-lt"/>
              </a:defRPr>
            </a:lvl1pPr>
          </a:lstStyle>
          <a:p>
            <a:pPr lvl="0"/>
            <a:r>
              <a:rPr lang="zh-CN" altLang="en-US"/>
              <a:t>编辑母版文本样式</a:t>
            </a:r>
          </a:p>
        </p:txBody>
      </p:sp>
      <p:pic>
        <p:nvPicPr>
          <p:cNvPr id="8" name="图片 5">
            <a:extLst>
              <a:ext uri="{FF2B5EF4-FFF2-40B4-BE49-F238E27FC236}">
                <a16:creationId xmlns:a16="http://schemas.microsoft.com/office/drawing/2014/main" xmlns="" id="{7D6E2894-B7F1-49BB-BD99-EAE79193D3F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0991" y="5601392"/>
            <a:ext cx="1068916" cy="1073361"/>
          </a:xfrm>
          <a:prstGeom prst="rect">
            <a:avLst/>
          </a:prstGeom>
        </p:spPr>
      </p:pic>
      <p:sp>
        <p:nvSpPr>
          <p:cNvPr id="11" name="Rectangle 4">
            <a:extLst>
              <a:ext uri="{FF2B5EF4-FFF2-40B4-BE49-F238E27FC236}">
                <a16:creationId xmlns:a16="http://schemas.microsoft.com/office/drawing/2014/main" xmlns="" id="{FCBF9182-9B1A-4110-8D2B-6491C830DBB0}"/>
              </a:ext>
            </a:extLst>
          </p:cNvPr>
          <p:cNvSpPr>
            <a:spLocks noChangeArrowheads="1"/>
          </p:cNvSpPr>
          <p:nvPr userDrawn="1"/>
        </p:nvSpPr>
        <p:spPr bwMode="auto">
          <a:xfrm>
            <a:off x="2293669" y="5845684"/>
            <a:ext cx="81618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charset="-122"/>
              </a:defRPr>
            </a:lvl1pPr>
            <a:lvl2pPr marL="742950" indent="-285750" eaLnBrk="0" hangingPunct="0">
              <a:defRPr>
                <a:solidFill>
                  <a:schemeClr val="tx1"/>
                </a:solidFill>
                <a:latin typeface="Verdana" pitchFamily="34" charset="0"/>
                <a:ea typeface="宋体" charset="-122"/>
              </a:defRPr>
            </a:lvl2pPr>
            <a:lvl3pPr marL="1143000" indent="-228600" eaLnBrk="0" hangingPunct="0">
              <a:defRPr>
                <a:solidFill>
                  <a:schemeClr val="tx1"/>
                </a:solidFill>
                <a:latin typeface="Verdana" pitchFamily="34" charset="0"/>
                <a:ea typeface="宋体" charset="-122"/>
              </a:defRPr>
            </a:lvl3pPr>
            <a:lvl4pPr marL="1600200" indent="-228600" eaLnBrk="0" hangingPunct="0">
              <a:defRPr>
                <a:solidFill>
                  <a:schemeClr val="tx1"/>
                </a:solidFill>
                <a:latin typeface="Verdana" pitchFamily="34" charset="0"/>
                <a:ea typeface="宋体" charset="-122"/>
              </a:defRPr>
            </a:lvl4pPr>
            <a:lvl5pPr marL="2057400" indent="-228600" eaLnBrk="0" hangingPunct="0">
              <a:defRPr>
                <a:solidFill>
                  <a:schemeClr val="tx1"/>
                </a:solidFill>
                <a:latin typeface="Verdana" pitchFamily="34" charset="0"/>
                <a:ea typeface="宋体" charset="-122"/>
              </a:defRPr>
            </a:lvl5pPr>
            <a:lvl6pPr marL="2514600" indent="-228600" eaLnBrk="0" fontAlgn="base" hangingPunct="0">
              <a:spcBef>
                <a:spcPct val="0"/>
              </a:spcBef>
              <a:spcAft>
                <a:spcPct val="0"/>
              </a:spcAft>
              <a:defRPr>
                <a:solidFill>
                  <a:schemeClr val="tx1"/>
                </a:solidFill>
                <a:latin typeface="Verdana" pitchFamily="34" charset="0"/>
                <a:ea typeface="宋体" charset="-122"/>
              </a:defRPr>
            </a:lvl6pPr>
            <a:lvl7pPr marL="2971800" indent="-228600" eaLnBrk="0" fontAlgn="base" hangingPunct="0">
              <a:spcBef>
                <a:spcPct val="0"/>
              </a:spcBef>
              <a:spcAft>
                <a:spcPct val="0"/>
              </a:spcAft>
              <a:defRPr>
                <a:solidFill>
                  <a:schemeClr val="tx1"/>
                </a:solidFill>
                <a:latin typeface="Verdana" pitchFamily="34" charset="0"/>
                <a:ea typeface="宋体" charset="-122"/>
              </a:defRPr>
            </a:lvl7pPr>
            <a:lvl8pPr marL="3429000" indent="-228600" eaLnBrk="0" fontAlgn="base" hangingPunct="0">
              <a:spcBef>
                <a:spcPct val="0"/>
              </a:spcBef>
              <a:spcAft>
                <a:spcPct val="0"/>
              </a:spcAft>
              <a:defRPr>
                <a:solidFill>
                  <a:schemeClr val="tx1"/>
                </a:solidFill>
                <a:latin typeface="Verdana" pitchFamily="34" charset="0"/>
                <a:ea typeface="宋体" charset="-122"/>
              </a:defRPr>
            </a:lvl8pPr>
            <a:lvl9pPr marL="3886200" indent="-228600" eaLnBrk="0" fontAlgn="base" hangingPunct="0">
              <a:spcBef>
                <a:spcPct val="0"/>
              </a:spcBef>
              <a:spcAft>
                <a:spcPct val="0"/>
              </a:spcAft>
              <a:defRPr>
                <a:solidFill>
                  <a:schemeClr val="tx1"/>
                </a:solidFill>
                <a:latin typeface="Verdana" pitchFamily="34" charset="0"/>
                <a:ea typeface="宋体" charset="-122"/>
              </a:defRPr>
            </a:lvl9pPr>
          </a:lstStyle>
          <a:p>
            <a:pPr eaLnBrk="1" hangingPunct="1">
              <a:defRPr/>
            </a:pPr>
            <a:r>
              <a:rPr lang="zh-CN" altLang="en-US" sz="1800" b="0" dirty="0" smtClean="0">
                <a:latin typeface="黑体" panose="02010609060101010101" pitchFamily="49" charset="-122"/>
                <a:ea typeface="黑体" panose="02010609060101010101" pitchFamily="49" charset="-122"/>
              </a:rPr>
              <a:t>工业工程系课程设计开题汇报</a:t>
            </a:r>
            <a:endParaRPr lang="en-US" altLang="zh-CN" sz="1800" b="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09848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3.节标题幻灯片">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Title 5"/>
          <p:cNvSpPr>
            <a:spLocks noGrp="1"/>
          </p:cNvSpPr>
          <p:nvPr>
            <p:ph type="title"/>
          </p:nvPr>
        </p:nvSpPr>
        <p:spPr>
          <a:xfrm>
            <a:off x="719403" y="4581128"/>
            <a:ext cx="10668000" cy="819944"/>
          </a:xfrm>
          <a:prstGeom prst="rect">
            <a:avLst/>
          </a:prstGeom>
        </p:spPr>
        <p:txBody>
          <a:bodyPr/>
          <a:lstStyle>
            <a:lvl1pPr>
              <a:defRPr baseline="0">
                <a:latin typeface="Arial" pitchFamily="34" charset="0"/>
                <a:ea typeface="黑体" pitchFamily="2" charset="-122"/>
              </a:defRPr>
            </a:lvl1pPr>
          </a:lstStyle>
          <a:p>
            <a:r>
              <a:rPr lang="zh-CN" altLang="en-US"/>
              <a:t>单击此处编辑母版标题样式</a:t>
            </a:r>
            <a:endParaRPr lang="en-US" dirty="0"/>
          </a:p>
        </p:txBody>
      </p:sp>
      <p:sp>
        <p:nvSpPr>
          <p:cNvPr id="8" name="Footer Placeholder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itchFamily="2" charset="-122"/>
              </a:defRPr>
            </a:lvl1pPr>
          </a:lstStyle>
          <a:p>
            <a:endParaRPr lang="zh-CN" altLang="en-US"/>
          </a:p>
        </p:txBody>
      </p:sp>
      <p:sp>
        <p:nvSpPr>
          <p:cNvPr id="9" name="Slide Number Placeholder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itchFamily="2" charset="-122"/>
              </a:defRPr>
            </a:lvl1pPr>
          </a:lstStyle>
          <a:p>
            <a:fld id="{FD7D2133-84E4-4D49-B786-7B5C0B54D116}" type="slidenum">
              <a:rPr lang="zh-CN" altLang="en-US" smtClean="0"/>
              <a:t>‹#›</a:t>
            </a:fld>
            <a:endParaRPr lang="zh-CN" altLang="en-US"/>
          </a:p>
        </p:txBody>
      </p:sp>
      <p:sp>
        <p:nvSpPr>
          <p:cNvPr id="10" name="Line 5"/>
          <p:cNvSpPr>
            <a:spLocks noChangeShapeType="1"/>
          </p:cNvSpPr>
          <p:nvPr/>
        </p:nvSpPr>
        <p:spPr bwMode="auto">
          <a:xfrm flipV="1">
            <a:off x="812800" y="6324600"/>
            <a:ext cx="10566400" cy="0"/>
          </a:xfrm>
          <a:prstGeom prst="line">
            <a:avLst/>
          </a:prstGeom>
          <a:noFill/>
          <a:ln w="3175">
            <a:solidFill>
              <a:srgbClr val="7030A0"/>
            </a:solidFill>
            <a:round/>
            <a:headEnd/>
            <a:tailEnd/>
          </a:ln>
          <a:effectLst/>
        </p:spPr>
        <p:txBody>
          <a:bodyPr/>
          <a:lstStyle/>
          <a:p>
            <a:pPr>
              <a:defRPr/>
            </a:pPr>
            <a:endParaRPr lang="zh-CN" altLang="en-US" dirty="0">
              <a:ea typeface="黑体" pitchFamily="49" charset="-122"/>
            </a:endParaRPr>
          </a:p>
        </p:txBody>
      </p:sp>
      <p:pic>
        <p:nvPicPr>
          <p:cNvPr id="14" name="Picture 1" descr="D:\work\research\tops lab\design\TOpS_logo设计_060909_ws\TOpS_logo_color cop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97200" y="260350"/>
            <a:ext cx="700088"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82965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1.内容幻灯片_标题和文字">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Title 1"/>
          <p:cNvSpPr>
            <a:spLocks noGrp="1"/>
          </p:cNvSpPr>
          <p:nvPr>
            <p:ph type="title"/>
          </p:nvPr>
        </p:nvSpPr>
        <p:spPr>
          <a:xfrm>
            <a:off x="766233" y="188641"/>
            <a:ext cx="10668000" cy="792088"/>
          </a:xfrm>
          <a:prstGeom prst="rect">
            <a:avLst/>
          </a:prstGeom>
        </p:spPr>
        <p:txBody>
          <a:bodyPr/>
          <a:lstStyle>
            <a:lvl1pPr>
              <a:defRPr>
                <a:latin typeface="+mj-lt"/>
              </a:defRPr>
            </a:lvl1pPr>
          </a:lstStyle>
          <a:p>
            <a:r>
              <a:rPr lang="zh-CN" altLang="en-US"/>
              <a:t>单击此处编辑母版标题样式</a:t>
            </a:r>
            <a:endParaRPr lang="zh-CN" altLang="en-US" dirty="0"/>
          </a:p>
        </p:txBody>
      </p:sp>
      <p:sp>
        <p:nvSpPr>
          <p:cNvPr id="3" name="Content Placeholder 2"/>
          <p:cNvSpPr>
            <a:spLocks noGrp="1"/>
          </p:cNvSpPr>
          <p:nvPr>
            <p:ph idx="1" hasCustomPrompt="1"/>
          </p:nvPr>
        </p:nvSpPr>
        <p:spPr>
          <a:xfrm>
            <a:off x="755651" y="1143000"/>
            <a:ext cx="10668000" cy="5104800"/>
          </a:xfrm>
          <a:prstGeom prst="rect">
            <a:avLst/>
          </a:prstGeom>
        </p:spPr>
        <p:txBody>
          <a:bodyPr/>
          <a:lstStyle>
            <a:lvl1pPr>
              <a:defRPr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7" name="Rectangle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itchFamily="2" charset="-122"/>
              </a:defRPr>
            </a:lvl1pPr>
          </a:lstStyle>
          <a:p>
            <a:endParaRPr lang="zh-CN" altLang="en-US"/>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itchFamily="2" charset="-122"/>
              </a:defRPr>
            </a:lvl1pPr>
          </a:lstStyle>
          <a:p>
            <a:fld id="{FD7D2133-84E4-4D49-B786-7B5C0B54D116}" type="slidenum">
              <a:rPr lang="zh-CN" altLang="en-US" smtClean="0"/>
              <a:t>‹#›</a:t>
            </a:fld>
            <a:endParaRPr lang="zh-CN" altLang="en-US"/>
          </a:p>
        </p:txBody>
      </p:sp>
      <p:sp>
        <p:nvSpPr>
          <p:cNvPr id="13" name="Line 5"/>
          <p:cNvSpPr>
            <a:spLocks noChangeShapeType="1"/>
          </p:cNvSpPr>
          <p:nvPr/>
        </p:nvSpPr>
        <p:spPr bwMode="auto">
          <a:xfrm flipV="1">
            <a:off x="719400" y="982800"/>
            <a:ext cx="10742498" cy="0"/>
          </a:xfrm>
          <a:prstGeom prst="line">
            <a:avLst/>
          </a:prstGeom>
          <a:noFill/>
          <a:ln w="3175">
            <a:solidFill>
              <a:srgbClr val="7030A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Content Placeholder 2"/>
          <p:cNvSpPr>
            <a:spLocks noGrp="1"/>
          </p:cNvSpPr>
          <p:nvPr>
            <p:ph idx="12" hasCustomPrompt="1"/>
          </p:nvPr>
        </p:nvSpPr>
        <p:spPr>
          <a:xfrm>
            <a:off x="812799" y="6053999"/>
            <a:ext cx="10566401" cy="270000"/>
          </a:xfrm>
          <a:prstGeom prst="rect">
            <a:avLst/>
          </a:prstGeom>
        </p:spPr>
        <p:txBody>
          <a:bodyPr/>
          <a:lstStyle>
            <a:lvl1pPr marL="0" indent="0" algn="r">
              <a:buNone/>
              <a:defRPr sz="1200"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sz="1200" dirty="0"/>
              <a:t>Source:</a:t>
            </a:r>
            <a:endParaRPr lang="en-US" altLang="zh-CN" dirty="0"/>
          </a:p>
        </p:txBody>
      </p:sp>
    </p:spTree>
    <p:extLst>
      <p:ext uri="{BB962C8B-B14F-4D97-AF65-F5344CB8AC3E}">
        <p14:creationId xmlns:p14="http://schemas.microsoft.com/office/powerpoint/2010/main" val="643445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2.1.内容幻灯片_标题和文字">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Title 1"/>
          <p:cNvSpPr>
            <a:spLocks noGrp="1"/>
          </p:cNvSpPr>
          <p:nvPr>
            <p:ph type="title"/>
          </p:nvPr>
        </p:nvSpPr>
        <p:spPr>
          <a:xfrm>
            <a:off x="766233" y="188641"/>
            <a:ext cx="10668000" cy="792088"/>
          </a:xfrm>
          <a:prstGeom prst="rect">
            <a:avLst/>
          </a:prstGeom>
        </p:spPr>
        <p:txBody>
          <a:bodyPr/>
          <a:lstStyle>
            <a:lvl1pPr>
              <a:defRPr>
                <a:latin typeface="+mj-lt"/>
              </a:defRPr>
            </a:lvl1pPr>
          </a:lstStyle>
          <a:p>
            <a:r>
              <a:rPr lang="zh-CN" altLang="en-US"/>
              <a:t>单击此处编辑母版标题样式</a:t>
            </a:r>
            <a:endParaRPr lang="zh-CN" altLang="en-US" dirty="0"/>
          </a:p>
        </p:txBody>
      </p:sp>
      <p:sp>
        <p:nvSpPr>
          <p:cNvPr id="3" name="Content Placeholder 2"/>
          <p:cNvSpPr>
            <a:spLocks noGrp="1"/>
          </p:cNvSpPr>
          <p:nvPr>
            <p:ph idx="1" hasCustomPrompt="1"/>
          </p:nvPr>
        </p:nvSpPr>
        <p:spPr>
          <a:xfrm>
            <a:off x="6242304" y="1142999"/>
            <a:ext cx="5181600" cy="5104800"/>
          </a:xfrm>
          <a:prstGeom prst="rect">
            <a:avLst/>
          </a:prstGeom>
        </p:spPr>
        <p:txBody>
          <a:bodyPr/>
          <a:lstStyle>
            <a:lvl1pPr>
              <a:defRPr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7" name="Rectangle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itchFamily="2" charset="-122"/>
              </a:defRPr>
            </a:lvl1pPr>
          </a:lstStyle>
          <a:p>
            <a:endParaRPr lang="zh-CN" altLang="en-US"/>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itchFamily="2" charset="-122"/>
              </a:defRPr>
            </a:lvl1pPr>
          </a:lstStyle>
          <a:p>
            <a:fld id="{FD7D2133-84E4-4D49-B786-7B5C0B54D116}" type="slidenum">
              <a:rPr lang="zh-CN" altLang="en-US" smtClean="0"/>
              <a:t>‹#›</a:t>
            </a:fld>
            <a:endParaRPr lang="zh-CN" altLang="en-US"/>
          </a:p>
        </p:txBody>
      </p:sp>
      <p:sp>
        <p:nvSpPr>
          <p:cNvPr id="9" name="Content Placeholder 2"/>
          <p:cNvSpPr>
            <a:spLocks noGrp="1"/>
          </p:cNvSpPr>
          <p:nvPr>
            <p:ph idx="12" hasCustomPrompt="1"/>
          </p:nvPr>
        </p:nvSpPr>
        <p:spPr>
          <a:xfrm>
            <a:off x="754161" y="1142999"/>
            <a:ext cx="5181600" cy="5104800"/>
          </a:xfrm>
          <a:prstGeom prst="rect">
            <a:avLst/>
          </a:prstGeom>
        </p:spPr>
        <p:txBody>
          <a:bodyPr/>
          <a:lstStyle>
            <a:lvl1pPr>
              <a:defRPr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11" name="Line 5"/>
          <p:cNvSpPr>
            <a:spLocks noChangeShapeType="1"/>
          </p:cNvSpPr>
          <p:nvPr/>
        </p:nvSpPr>
        <p:spPr bwMode="auto">
          <a:xfrm flipV="1">
            <a:off x="719399" y="982800"/>
            <a:ext cx="10753131" cy="0"/>
          </a:xfrm>
          <a:prstGeom prst="line">
            <a:avLst/>
          </a:prstGeom>
          <a:noFill/>
          <a:ln w="3175">
            <a:solidFill>
              <a:srgbClr val="7030A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Content Placeholder 2"/>
          <p:cNvSpPr>
            <a:spLocks noGrp="1"/>
          </p:cNvSpPr>
          <p:nvPr>
            <p:ph idx="13" hasCustomPrompt="1"/>
          </p:nvPr>
        </p:nvSpPr>
        <p:spPr>
          <a:xfrm>
            <a:off x="812799" y="6053999"/>
            <a:ext cx="10566401" cy="270000"/>
          </a:xfrm>
          <a:prstGeom prst="rect">
            <a:avLst/>
          </a:prstGeom>
        </p:spPr>
        <p:txBody>
          <a:bodyPr/>
          <a:lstStyle>
            <a:lvl1pPr marL="0" indent="0" algn="r">
              <a:buNone/>
              <a:defRPr sz="1200"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sz="1200" dirty="0"/>
              <a:t>Source:</a:t>
            </a:r>
            <a:endParaRPr lang="en-US" altLang="zh-CN" dirty="0"/>
          </a:p>
        </p:txBody>
      </p:sp>
    </p:spTree>
    <p:extLst>
      <p:ext uri="{BB962C8B-B14F-4D97-AF65-F5344CB8AC3E}">
        <p14:creationId xmlns:p14="http://schemas.microsoft.com/office/powerpoint/2010/main" val="251086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_2.1.内容幻灯片_标题和文字">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Title 1"/>
          <p:cNvSpPr>
            <a:spLocks noGrp="1"/>
          </p:cNvSpPr>
          <p:nvPr>
            <p:ph type="title"/>
          </p:nvPr>
        </p:nvSpPr>
        <p:spPr>
          <a:xfrm>
            <a:off x="766233" y="188641"/>
            <a:ext cx="10668000" cy="792088"/>
          </a:xfrm>
          <a:prstGeom prst="rect">
            <a:avLst/>
          </a:prstGeom>
        </p:spPr>
        <p:txBody>
          <a:bodyPr/>
          <a:lstStyle>
            <a:lvl1pPr>
              <a:defRPr>
                <a:latin typeface="+mj-lt"/>
              </a:defRPr>
            </a:lvl1pPr>
          </a:lstStyle>
          <a:p>
            <a:r>
              <a:rPr lang="zh-CN" altLang="en-US"/>
              <a:t>单击此处编辑母版标题样式</a:t>
            </a:r>
            <a:endParaRPr lang="zh-CN" altLang="en-US" dirty="0"/>
          </a:p>
        </p:txBody>
      </p:sp>
      <p:sp>
        <p:nvSpPr>
          <p:cNvPr id="3" name="Content Placeholder 2"/>
          <p:cNvSpPr>
            <a:spLocks noGrp="1"/>
          </p:cNvSpPr>
          <p:nvPr>
            <p:ph idx="1" hasCustomPrompt="1"/>
          </p:nvPr>
        </p:nvSpPr>
        <p:spPr>
          <a:xfrm>
            <a:off x="4514400" y="1142999"/>
            <a:ext cx="6908400" cy="5104800"/>
          </a:xfrm>
          <a:prstGeom prst="rect">
            <a:avLst/>
          </a:prstGeom>
        </p:spPr>
        <p:txBody>
          <a:bodyPr/>
          <a:lstStyle>
            <a:lvl1pPr>
              <a:defRPr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7" name="Rectangle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itchFamily="2" charset="-122"/>
              </a:defRPr>
            </a:lvl1pPr>
          </a:lstStyle>
          <a:p>
            <a:endParaRPr lang="zh-CN" altLang="en-US"/>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itchFamily="2" charset="-122"/>
              </a:defRPr>
            </a:lvl1pPr>
          </a:lstStyle>
          <a:p>
            <a:fld id="{FD7D2133-84E4-4D49-B786-7B5C0B54D116}" type="slidenum">
              <a:rPr lang="zh-CN" altLang="en-US" smtClean="0"/>
              <a:t>‹#›</a:t>
            </a:fld>
            <a:endParaRPr lang="zh-CN" altLang="en-US"/>
          </a:p>
        </p:txBody>
      </p:sp>
      <p:sp>
        <p:nvSpPr>
          <p:cNvPr id="9" name="Content Placeholder 2"/>
          <p:cNvSpPr>
            <a:spLocks noGrp="1"/>
          </p:cNvSpPr>
          <p:nvPr>
            <p:ph idx="12" hasCustomPrompt="1"/>
          </p:nvPr>
        </p:nvSpPr>
        <p:spPr>
          <a:xfrm>
            <a:off x="754161" y="1142999"/>
            <a:ext cx="3452400" cy="5104800"/>
          </a:xfrm>
          <a:prstGeom prst="rect">
            <a:avLst/>
          </a:prstGeom>
        </p:spPr>
        <p:txBody>
          <a:bodyPr/>
          <a:lstStyle>
            <a:lvl1pPr>
              <a:defRPr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11" name="Line 5"/>
          <p:cNvSpPr>
            <a:spLocks noChangeShapeType="1"/>
          </p:cNvSpPr>
          <p:nvPr/>
        </p:nvSpPr>
        <p:spPr bwMode="auto">
          <a:xfrm flipV="1">
            <a:off x="719400" y="982800"/>
            <a:ext cx="10753130" cy="0"/>
          </a:xfrm>
          <a:prstGeom prst="line">
            <a:avLst/>
          </a:prstGeom>
          <a:noFill/>
          <a:ln w="3175">
            <a:solidFill>
              <a:srgbClr val="7030A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Content Placeholder 2"/>
          <p:cNvSpPr>
            <a:spLocks noGrp="1"/>
          </p:cNvSpPr>
          <p:nvPr>
            <p:ph idx="13" hasCustomPrompt="1"/>
          </p:nvPr>
        </p:nvSpPr>
        <p:spPr>
          <a:xfrm>
            <a:off x="812799" y="6053999"/>
            <a:ext cx="10566401" cy="270000"/>
          </a:xfrm>
          <a:prstGeom prst="rect">
            <a:avLst/>
          </a:prstGeom>
        </p:spPr>
        <p:txBody>
          <a:bodyPr/>
          <a:lstStyle>
            <a:lvl1pPr marL="0" indent="0" algn="r">
              <a:buNone/>
              <a:defRPr sz="1200"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sz="1200" dirty="0"/>
              <a:t>Source:</a:t>
            </a:r>
            <a:endParaRPr lang="en-US" altLang="zh-CN" dirty="0"/>
          </a:p>
        </p:txBody>
      </p:sp>
    </p:spTree>
    <p:extLst>
      <p:ext uri="{BB962C8B-B14F-4D97-AF65-F5344CB8AC3E}">
        <p14:creationId xmlns:p14="http://schemas.microsoft.com/office/powerpoint/2010/main" val="3605263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2.1.内容幻灯片_标题和文字">
    <p:spTree>
      <p:nvGrpSpPr>
        <p:cNvPr id="1" name=""/>
        <p:cNvGrpSpPr/>
        <p:nvPr/>
      </p:nvGrpSpPr>
      <p:grpSpPr>
        <a:xfrm>
          <a:off x="0" y="0"/>
          <a:ext cx="0" cy="0"/>
          <a:chOff x="0" y="0"/>
          <a:chExt cx="0" cy="0"/>
        </a:xfrm>
      </p:grpSpPr>
      <p:sp>
        <p:nvSpPr>
          <p:cNvPr id="4" name="Line 5"/>
          <p:cNvSpPr>
            <a:spLocks noChangeShapeType="1"/>
          </p:cNvSpPr>
          <p:nvPr/>
        </p:nvSpPr>
        <p:spPr bwMode="auto">
          <a:xfrm flipV="1">
            <a:off x="812800" y="6324600"/>
            <a:ext cx="10566400" cy="0"/>
          </a:xfrm>
          <a:prstGeom prst="line">
            <a:avLst/>
          </a:prstGeom>
          <a:noFill/>
          <a:ln w="3175">
            <a:solidFill>
              <a:srgbClr val="7030A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Title 1"/>
          <p:cNvSpPr>
            <a:spLocks noGrp="1"/>
          </p:cNvSpPr>
          <p:nvPr>
            <p:ph type="title"/>
          </p:nvPr>
        </p:nvSpPr>
        <p:spPr>
          <a:xfrm>
            <a:off x="766233" y="188641"/>
            <a:ext cx="10668000" cy="792088"/>
          </a:xfrm>
          <a:prstGeom prst="rect">
            <a:avLst/>
          </a:prstGeom>
        </p:spPr>
        <p:txBody>
          <a:bodyPr/>
          <a:lstStyle>
            <a:lvl1pPr>
              <a:defRPr>
                <a:latin typeface="+mj-lt"/>
              </a:defRPr>
            </a:lvl1pPr>
          </a:lstStyle>
          <a:p>
            <a:r>
              <a:rPr lang="zh-CN" altLang="en-US"/>
              <a:t>单击此处编辑母版标题样式</a:t>
            </a:r>
            <a:endParaRPr lang="zh-CN" altLang="en-US" dirty="0"/>
          </a:p>
        </p:txBody>
      </p:sp>
      <p:sp>
        <p:nvSpPr>
          <p:cNvPr id="3" name="Content Placeholder 2"/>
          <p:cNvSpPr>
            <a:spLocks noGrp="1"/>
          </p:cNvSpPr>
          <p:nvPr>
            <p:ph idx="1" hasCustomPrompt="1"/>
          </p:nvPr>
        </p:nvSpPr>
        <p:spPr>
          <a:xfrm>
            <a:off x="7970400" y="1142999"/>
            <a:ext cx="3452400" cy="5104800"/>
          </a:xfrm>
          <a:prstGeom prst="rect">
            <a:avLst/>
          </a:prstGeom>
        </p:spPr>
        <p:txBody>
          <a:bodyPr/>
          <a:lstStyle>
            <a:lvl1pPr>
              <a:defRPr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7" name="Rectangle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itchFamily="2" charset="-122"/>
              </a:defRPr>
            </a:lvl1pPr>
          </a:lstStyle>
          <a:p>
            <a:endParaRPr lang="zh-CN" altLang="en-US"/>
          </a:p>
        </p:txBody>
      </p:sp>
      <p:sp>
        <p:nvSpPr>
          <p:cNvPr id="8" name="Rectangle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itchFamily="2" charset="-122"/>
              </a:defRPr>
            </a:lvl1pPr>
          </a:lstStyle>
          <a:p>
            <a:fld id="{FD7D2133-84E4-4D49-B786-7B5C0B54D116}" type="slidenum">
              <a:rPr lang="zh-CN" altLang="en-US" smtClean="0"/>
              <a:t>‹#›</a:t>
            </a:fld>
            <a:endParaRPr lang="zh-CN" altLang="en-US"/>
          </a:p>
        </p:txBody>
      </p:sp>
      <p:sp>
        <p:nvSpPr>
          <p:cNvPr id="9" name="Content Placeholder 2"/>
          <p:cNvSpPr>
            <a:spLocks noGrp="1"/>
          </p:cNvSpPr>
          <p:nvPr>
            <p:ph idx="12" hasCustomPrompt="1"/>
          </p:nvPr>
        </p:nvSpPr>
        <p:spPr>
          <a:xfrm>
            <a:off x="754161" y="1142999"/>
            <a:ext cx="6908400" cy="5104800"/>
          </a:xfrm>
          <a:prstGeom prst="rect">
            <a:avLst/>
          </a:prstGeom>
        </p:spPr>
        <p:txBody>
          <a:bodyPr/>
          <a:lstStyle>
            <a:lvl1pPr>
              <a:defRPr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a:t>Click to edit Master text styles</a:t>
            </a:r>
          </a:p>
          <a:p>
            <a:pPr lvl="1"/>
            <a:r>
              <a:rPr lang="en-US" altLang="zh-CN"/>
              <a:t>Second level</a:t>
            </a:r>
          </a:p>
          <a:p>
            <a:pPr lvl="2"/>
            <a:r>
              <a:rPr lang="en-US" altLang="zh-CN"/>
              <a:t>Third level</a:t>
            </a:r>
          </a:p>
        </p:txBody>
      </p:sp>
      <p:sp>
        <p:nvSpPr>
          <p:cNvPr id="11" name="Line 5"/>
          <p:cNvSpPr>
            <a:spLocks noChangeShapeType="1"/>
          </p:cNvSpPr>
          <p:nvPr/>
        </p:nvSpPr>
        <p:spPr bwMode="auto">
          <a:xfrm flipV="1">
            <a:off x="719400" y="982800"/>
            <a:ext cx="10753130" cy="0"/>
          </a:xfrm>
          <a:prstGeom prst="line">
            <a:avLst/>
          </a:prstGeom>
          <a:noFill/>
          <a:ln w="3175">
            <a:solidFill>
              <a:srgbClr val="7030A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Content Placeholder 2"/>
          <p:cNvSpPr>
            <a:spLocks noGrp="1"/>
          </p:cNvSpPr>
          <p:nvPr>
            <p:ph idx="13" hasCustomPrompt="1"/>
          </p:nvPr>
        </p:nvSpPr>
        <p:spPr>
          <a:xfrm>
            <a:off x="812799" y="6053999"/>
            <a:ext cx="10566401" cy="270000"/>
          </a:xfrm>
          <a:prstGeom prst="rect">
            <a:avLst/>
          </a:prstGeom>
        </p:spPr>
        <p:txBody>
          <a:bodyPr/>
          <a:lstStyle>
            <a:lvl1pPr marL="0" indent="0" algn="r">
              <a:buNone/>
              <a:defRPr sz="1200"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sz="1200" dirty="0"/>
              <a:t>Source:</a:t>
            </a:r>
            <a:endParaRPr lang="en-US" altLang="zh-CN" dirty="0"/>
          </a:p>
        </p:txBody>
      </p:sp>
    </p:spTree>
    <p:extLst>
      <p:ext uri="{BB962C8B-B14F-4D97-AF65-F5344CB8AC3E}">
        <p14:creationId xmlns:p14="http://schemas.microsoft.com/office/powerpoint/2010/main" val="884335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2.内容幻灯片_仅标题">
    <p:spTree>
      <p:nvGrpSpPr>
        <p:cNvPr id="1" name=""/>
        <p:cNvGrpSpPr/>
        <p:nvPr/>
      </p:nvGrpSpPr>
      <p:grpSpPr>
        <a:xfrm>
          <a:off x="0" y="0"/>
          <a:ext cx="0" cy="0"/>
          <a:chOff x="0" y="0"/>
          <a:chExt cx="0" cy="0"/>
        </a:xfrm>
      </p:grpSpPr>
      <p:sp>
        <p:nvSpPr>
          <p:cNvPr id="3" name="Line 5"/>
          <p:cNvSpPr>
            <a:spLocks noChangeShapeType="1"/>
          </p:cNvSpPr>
          <p:nvPr/>
        </p:nvSpPr>
        <p:spPr bwMode="auto">
          <a:xfrm flipV="1">
            <a:off x="812800" y="6324600"/>
            <a:ext cx="10566400" cy="0"/>
          </a:xfrm>
          <a:prstGeom prst="line">
            <a:avLst/>
          </a:prstGeom>
          <a:noFill/>
          <a:ln w="3175">
            <a:solidFill>
              <a:srgbClr val="7030A0"/>
            </a:solidFill>
            <a:round/>
            <a:headEnd/>
            <a:tailEnd/>
          </a:ln>
          <a:extLst>
            <a:ext uri="{909E8E84-426E-40DD-AFC4-6F175D3DCCD1}">
              <a14:hiddenFill xmlns:a14="http://schemas.microsoft.com/office/drawing/2010/main">
                <a:noFill/>
              </a14:hiddenFill>
            </a:ext>
          </a:extLst>
        </p:spPr>
        <p:txBody>
          <a:bodyPr/>
          <a:lstStyle/>
          <a:p>
            <a:endParaRPr lang="zh-CN" altLang="en-US" sz="1200"/>
          </a:p>
        </p:txBody>
      </p:sp>
      <p:sp>
        <p:nvSpPr>
          <p:cNvPr id="2" name="Title 1"/>
          <p:cNvSpPr>
            <a:spLocks noGrp="1"/>
          </p:cNvSpPr>
          <p:nvPr>
            <p:ph type="title"/>
          </p:nvPr>
        </p:nvSpPr>
        <p:spPr>
          <a:xfrm>
            <a:off x="766233" y="188641"/>
            <a:ext cx="10668000" cy="792088"/>
          </a:xfrm>
          <a:prstGeom prst="rect">
            <a:avLst/>
          </a:prstGeom>
        </p:spPr>
        <p:txBody>
          <a:bodyPr/>
          <a:lstStyle>
            <a:lvl1pPr>
              <a:defRPr>
                <a:latin typeface="+mj-lt"/>
              </a:defRPr>
            </a:lvl1pPr>
          </a:lstStyle>
          <a:p>
            <a:r>
              <a:rPr lang="zh-CN" altLang="en-US"/>
              <a:t>单击此处编辑母版标题样式</a:t>
            </a:r>
            <a:endParaRPr lang="zh-CN" altLang="en-US" dirty="0"/>
          </a:p>
        </p:txBody>
      </p:sp>
      <p:sp>
        <p:nvSpPr>
          <p:cNvPr id="8" name="Footer Placeholder 7"/>
          <p:cNvSpPr>
            <a:spLocks noGrp="1" noChangeArrowheads="1"/>
          </p:cNvSpPr>
          <p:nvPr>
            <p:ph type="ftr" sz="quarter" idx="10"/>
          </p:nvPr>
        </p:nvSpPr>
        <p:spPr>
          <a:xfrm>
            <a:off x="814917" y="6400800"/>
            <a:ext cx="7719483" cy="268288"/>
          </a:xfrm>
          <a:prstGeom prst="rect">
            <a:avLst/>
          </a:prstGeom>
        </p:spPr>
        <p:txBody>
          <a:bodyPr tIns="0" bIns="0"/>
          <a:lstStyle>
            <a:lvl1pPr>
              <a:defRPr sz="1200" smtClean="0">
                <a:latin typeface="+mj-lt"/>
                <a:ea typeface="黑体" pitchFamily="2" charset="-122"/>
              </a:defRPr>
            </a:lvl1pPr>
          </a:lstStyle>
          <a:p>
            <a:endParaRPr lang="zh-CN" altLang="en-US"/>
          </a:p>
        </p:txBody>
      </p:sp>
      <p:sp>
        <p:nvSpPr>
          <p:cNvPr id="9" name="Slide Number Placeholder 8"/>
          <p:cNvSpPr>
            <a:spLocks noGrp="1" noChangeArrowheads="1"/>
          </p:cNvSpPr>
          <p:nvPr>
            <p:ph type="sldNum" sz="quarter" idx="11"/>
          </p:nvPr>
        </p:nvSpPr>
        <p:spPr>
          <a:xfrm>
            <a:off x="8737600" y="6400800"/>
            <a:ext cx="2641600" cy="268288"/>
          </a:xfrm>
          <a:prstGeom prst="rect">
            <a:avLst/>
          </a:prstGeom>
        </p:spPr>
        <p:txBody>
          <a:bodyPr tIns="0" bIns="0"/>
          <a:lstStyle>
            <a:lvl1pPr algn="r">
              <a:defRPr sz="1200" smtClean="0">
                <a:latin typeface="+mj-lt"/>
                <a:ea typeface="黑体" pitchFamily="2" charset="-122"/>
              </a:defRPr>
            </a:lvl1pPr>
          </a:lstStyle>
          <a:p>
            <a:fld id="{FD7D2133-84E4-4D49-B786-7B5C0B54D116}" type="slidenum">
              <a:rPr lang="zh-CN" altLang="en-US" smtClean="0"/>
              <a:t>‹#›</a:t>
            </a:fld>
            <a:endParaRPr lang="zh-CN" altLang="en-US"/>
          </a:p>
        </p:txBody>
      </p:sp>
      <p:sp>
        <p:nvSpPr>
          <p:cNvPr id="10" name="Line 5"/>
          <p:cNvSpPr>
            <a:spLocks noChangeShapeType="1"/>
          </p:cNvSpPr>
          <p:nvPr/>
        </p:nvSpPr>
        <p:spPr bwMode="auto">
          <a:xfrm flipV="1">
            <a:off x="719400" y="982800"/>
            <a:ext cx="10753130" cy="0"/>
          </a:xfrm>
          <a:prstGeom prst="line">
            <a:avLst/>
          </a:prstGeom>
          <a:noFill/>
          <a:ln w="3175">
            <a:solidFill>
              <a:srgbClr val="7030A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Content Placeholder 2"/>
          <p:cNvSpPr>
            <a:spLocks noGrp="1"/>
          </p:cNvSpPr>
          <p:nvPr>
            <p:ph idx="12" hasCustomPrompt="1"/>
          </p:nvPr>
        </p:nvSpPr>
        <p:spPr>
          <a:xfrm>
            <a:off x="812799" y="6053999"/>
            <a:ext cx="10566401" cy="270000"/>
          </a:xfrm>
          <a:prstGeom prst="rect">
            <a:avLst/>
          </a:prstGeom>
        </p:spPr>
        <p:txBody>
          <a:bodyPr/>
          <a:lstStyle>
            <a:lvl1pPr marL="0" indent="0" algn="r">
              <a:buNone/>
              <a:defRPr sz="1200" baseline="0">
                <a:latin typeface="Arial" pitchFamily="34" charset="0"/>
              </a:defRPr>
            </a:lvl1pPr>
            <a:lvl2pPr>
              <a:defRPr baseline="0">
                <a:latin typeface="Arial" pitchFamily="34" charset="0"/>
              </a:defRPr>
            </a:lvl2pPr>
            <a:lvl3pPr>
              <a:defRPr baseline="0">
                <a:latin typeface="Arial" pitchFamily="34" charset="0"/>
              </a:defRPr>
            </a:lvl3pPr>
            <a:lvl4pPr>
              <a:defRPr baseline="0">
                <a:latin typeface="Arial" pitchFamily="34" charset="0"/>
              </a:defRPr>
            </a:lvl4pPr>
            <a:lvl5pPr>
              <a:defRPr baseline="0">
                <a:latin typeface="Arial" pitchFamily="34" charset="0"/>
              </a:defRPr>
            </a:lvl5pPr>
          </a:lstStyle>
          <a:p>
            <a:pPr lvl="0"/>
            <a:r>
              <a:rPr lang="en-US" altLang="zh-CN" sz="1200" dirty="0"/>
              <a:t>Source:</a:t>
            </a:r>
            <a:endParaRPr lang="en-US" altLang="zh-CN" dirty="0"/>
          </a:p>
        </p:txBody>
      </p:sp>
    </p:spTree>
    <p:extLst>
      <p:ext uri="{BB962C8B-B14F-4D97-AF65-F5344CB8AC3E}">
        <p14:creationId xmlns:p14="http://schemas.microsoft.com/office/powerpoint/2010/main" val="62260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54CC3F80-311A-47BA-B653-0459FD9AEAF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xmlns="" id="{E5780DFC-2C61-4B54-A868-8D6A69588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xmlns="" id="{E6529DA3-4733-4A3D-AA91-BE5B8A1F72D8}"/>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xmlns="" id="{55D2FFAE-82FE-4776-A9D2-0B707EF406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xmlns="" id="{04E97A2A-3EA4-431F-AB50-803EDE191CC2}"/>
              </a:ext>
            </a:extLst>
          </p:cNvPr>
          <p:cNvSpPr>
            <a:spLocks noGrp="1"/>
          </p:cNvSpPr>
          <p:nvPr>
            <p:ph type="sldNum" sz="quarter" idx="12"/>
          </p:nvPr>
        </p:nvSpPr>
        <p:spPr/>
        <p:txBody>
          <a:bodyPr/>
          <a:lstStyle/>
          <a:p>
            <a:fld id="{FD7D2133-84E4-4D49-B786-7B5C0B54D116}" type="slidenum">
              <a:rPr lang="zh-CN" altLang="en-US" smtClean="0"/>
              <a:t>‹#›</a:t>
            </a:fld>
            <a:endParaRPr lang="zh-CN" altLang="en-US"/>
          </a:p>
        </p:txBody>
      </p:sp>
    </p:spTree>
    <p:extLst>
      <p:ext uri="{BB962C8B-B14F-4D97-AF65-F5344CB8AC3E}">
        <p14:creationId xmlns:p14="http://schemas.microsoft.com/office/powerpoint/2010/main" val="595056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755651" y="1524000"/>
            <a:ext cx="10668000" cy="449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p:txBody>
      </p:sp>
    </p:spTree>
    <p:extLst>
      <p:ext uri="{BB962C8B-B14F-4D97-AF65-F5344CB8AC3E}">
        <p14:creationId xmlns:p14="http://schemas.microsoft.com/office/powerpoint/2010/main" val="21421250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hdr="0" ftr="0" dt="0"/>
  <p:txStyles>
    <p:titleStyle>
      <a:lvl1pPr algn="l" rtl="0" eaLnBrk="1" fontAlgn="base" hangingPunct="1">
        <a:spcBef>
          <a:spcPct val="0"/>
        </a:spcBef>
        <a:spcAft>
          <a:spcPct val="0"/>
        </a:spcAft>
        <a:defRPr sz="2800">
          <a:solidFill>
            <a:schemeClr val="tx2"/>
          </a:solidFill>
          <a:latin typeface="+mj-lt"/>
          <a:ea typeface="黑体" pitchFamily="2" charset="-122"/>
          <a:cs typeface="+mj-cs"/>
        </a:defRPr>
      </a:lvl1pPr>
      <a:lvl2pPr algn="l" rtl="0" eaLnBrk="1" fontAlgn="base" hangingPunct="1">
        <a:spcBef>
          <a:spcPct val="0"/>
        </a:spcBef>
        <a:spcAft>
          <a:spcPct val="0"/>
        </a:spcAft>
        <a:defRPr sz="3200">
          <a:solidFill>
            <a:schemeClr val="tx2"/>
          </a:solidFill>
          <a:latin typeface="Arial" charset="0"/>
          <a:ea typeface="黑体" pitchFamily="49" charset="-122"/>
        </a:defRPr>
      </a:lvl2pPr>
      <a:lvl3pPr algn="l" rtl="0" eaLnBrk="1" fontAlgn="base" hangingPunct="1">
        <a:spcBef>
          <a:spcPct val="0"/>
        </a:spcBef>
        <a:spcAft>
          <a:spcPct val="0"/>
        </a:spcAft>
        <a:defRPr sz="3200">
          <a:solidFill>
            <a:schemeClr val="tx2"/>
          </a:solidFill>
          <a:latin typeface="Arial" charset="0"/>
          <a:ea typeface="黑体" pitchFamily="49" charset="-122"/>
        </a:defRPr>
      </a:lvl3pPr>
      <a:lvl4pPr algn="l" rtl="0" eaLnBrk="1" fontAlgn="base" hangingPunct="1">
        <a:spcBef>
          <a:spcPct val="0"/>
        </a:spcBef>
        <a:spcAft>
          <a:spcPct val="0"/>
        </a:spcAft>
        <a:defRPr sz="3200">
          <a:solidFill>
            <a:schemeClr val="tx2"/>
          </a:solidFill>
          <a:latin typeface="Arial" charset="0"/>
          <a:ea typeface="黑体" pitchFamily="49" charset="-122"/>
        </a:defRPr>
      </a:lvl4pPr>
      <a:lvl5pPr algn="l" rtl="0" eaLnBrk="1" fontAlgn="base" hangingPunct="1">
        <a:spcBef>
          <a:spcPct val="0"/>
        </a:spcBef>
        <a:spcAft>
          <a:spcPct val="0"/>
        </a:spcAft>
        <a:defRPr sz="3200">
          <a:solidFill>
            <a:schemeClr val="tx2"/>
          </a:solidFill>
          <a:latin typeface="Arial" charset="0"/>
          <a:ea typeface="黑体" pitchFamily="49" charset="-122"/>
        </a:defRPr>
      </a:lvl5pPr>
      <a:lvl6pPr marL="457200" algn="l" rtl="0" eaLnBrk="1" fontAlgn="base" hangingPunct="1">
        <a:spcBef>
          <a:spcPct val="0"/>
        </a:spcBef>
        <a:spcAft>
          <a:spcPct val="0"/>
        </a:spcAft>
        <a:defRPr sz="3800">
          <a:solidFill>
            <a:schemeClr val="tx2"/>
          </a:solidFill>
          <a:latin typeface="Arial" charset="0"/>
          <a:ea typeface="宋体" pitchFamily="2" charset="-122"/>
        </a:defRPr>
      </a:lvl6pPr>
      <a:lvl7pPr marL="914400" algn="l" rtl="0" eaLnBrk="1" fontAlgn="base" hangingPunct="1">
        <a:spcBef>
          <a:spcPct val="0"/>
        </a:spcBef>
        <a:spcAft>
          <a:spcPct val="0"/>
        </a:spcAft>
        <a:defRPr sz="3800">
          <a:solidFill>
            <a:schemeClr val="tx2"/>
          </a:solidFill>
          <a:latin typeface="Arial" charset="0"/>
          <a:ea typeface="宋体" pitchFamily="2" charset="-122"/>
        </a:defRPr>
      </a:lvl7pPr>
      <a:lvl8pPr marL="1371600" algn="l" rtl="0" eaLnBrk="1" fontAlgn="base" hangingPunct="1">
        <a:spcBef>
          <a:spcPct val="0"/>
        </a:spcBef>
        <a:spcAft>
          <a:spcPct val="0"/>
        </a:spcAft>
        <a:defRPr sz="3800">
          <a:solidFill>
            <a:schemeClr val="tx2"/>
          </a:solidFill>
          <a:latin typeface="Arial" charset="0"/>
          <a:ea typeface="宋体" pitchFamily="2" charset="-122"/>
        </a:defRPr>
      </a:lvl8pPr>
      <a:lvl9pPr marL="1828800" algn="l" rtl="0" eaLnBrk="1" fontAlgn="base" hangingPunct="1">
        <a:spcBef>
          <a:spcPct val="0"/>
        </a:spcBef>
        <a:spcAft>
          <a:spcPct val="0"/>
        </a:spcAft>
        <a:defRPr sz="3800">
          <a:solidFill>
            <a:schemeClr val="tx2"/>
          </a:solidFill>
          <a:latin typeface="Arial" charset="0"/>
          <a:ea typeface="宋体" pitchFamily="2" charset="-122"/>
        </a:defRPr>
      </a:lvl9pPr>
    </p:titleStyle>
    <p:bodyStyle>
      <a:lvl1pPr marL="469900" indent="-469900" algn="l" rtl="0" eaLnBrk="1" fontAlgn="base" hangingPunct="1">
        <a:spcBef>
          <a:spcPct val="20000"/>
        </a:spcBef>
        <a:spcAft>
          <a:spcPct val="0"/>
        </a:spcAft>
        <a:buClr>
          <a:srgbClr val="7030A0"/>
        </a:buClr>
        <a:buFont typeface="Wingdings" pitchFamily="2" charset="2"/>
        <a:buChar char="o"/>
        <a:defRPr sz="2400">
          <a:solidFill>
            <a:schemeClr val="tx1"/>
          </a:solidFill>
          <a:latin typeface="+mn-lt"/>
          <a:ea typeface="黑体" pitchFamily="2" charset="-122"/>
          <a:cs typeface="+mn-cs"/>
        </a:defRPr>
      </a:lvl1pPr>
      <a:lvl2pPr marL="908050" indent="-436563" algn="l" rtl="0" eaLnBrk="1" fontAlgn="base" hangingPunct="1">
        <a:spcBef>
          <a:spcPct val="20000"/>
        </a:spcBef>
        <a:spcAft>
          <a:spcPct val="0"/>
        </a:spcAft>
        <a:buClr>
          <a:srgbClr val="7030A0"/>
        </a:buClr>
        <a:buFont typeface="Wingdings" pitchFamily="2" charset="2"/>
        <a:buChar char="n"/>
        <a:defRPr sz="2000">
          <a:solidFill>
            <a:schemeClr val="tx1"/>
          </a:solidFill>
          <a:latin typeface="+mn-lt"/>
          <a:ea typeface="黑体" pitchFamily="2" charset="-122"/>
        </a:defRPr>
      </a:lvl2pPr>
      <a:lvl3pPr marL="1304925" indent="-395288" algn="l" rtl="0" eaLnBrk="1" fontAlgn="base" hangingPunct="1">
        <a:spcBef>
          <a:spcPct val="20000"/>
        </a:spcBef>
        <a:spcAft>
          <a:spcPct val="0"/>
        </a:spcAft>
        <a:buClr>
          <a:srgbClr val="7030A0"/>
        </a:buClr>
        <a:buFont typeface="Wingdings" pitchFamily="2" charset="2"/>
        <a:buChar char="o"/>
        <a:defRPr sz="1800">
          <a:solidFill>
            <a:schemeClr val="tx1"/>
          </a:solidFill>
          <a:latin typeface="+mn-lt"/>
          <a:ea typeface="黑体" pitchFamily="2" charset="-122"/>
        </a:defRPr>
      </a:lvl3pPr>
      <a:lvl4pPr marL="1693863" indent="-387350" algn="l" rtl="0" eaLnBrk="1" fontAlgn="base" hangingPunct="1">
        <a:spcBef>
          <a:spcPct val="20000"/>
        </a:spcBef>
        <a:spcAft>
          <a:spcPct val="0"/>
        </a:spcAft>
        <a:buClr>
          <a:srgbClr val="7030A0"/>
        </a:buClr>
        <a:buFont typeface="Wingdings" pitchFamily="2" charset="2"/>
        <a:buChar char="n"/>
        <a:defRPr>
          <a:solidFill>
            <a:schemeClr val="tx1"/>
          </a:solidFill>
          <a:latin typeface="+mn-lt"/>
          <a:ea typeface="黑体" pitchFamily="2" charset="-122"/>
        </a:defRPr>
      </a:lvl4pPr>
      <a:lvl5pPr marL="2093913" indent="-398463" algn="l" rtl="0" eaLnBrk="1" fontAlgn="base" hangingPunct="1">
        <a:spcBef>
          <a:spcPct val="25000"/>
        </a:spcBef>
        <a:spcAft>
          <a:spcPct val="0"/>
        </a:spcAft>
        <a:buClr>
          <a:srgbClr val="7030A0"/>
        </a:buClr>
        <a:buFont typeface="Wingdings" pitchFamily="2" charset="2"/>
        <a:buChar char="§"/>
        <a:defRPr>
          <a:solidFill>
            <a:schemeClr val="tx1"/>
          </a:solidFill>
          <a:latin typeface="+mn-lt"/>
          <a:ea typeface="黑体" pitchFamily="2" charset="-122"/>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xmlns="" id="{D9291E72-1217-4052-A41B-B4F6FC5043EB}"/>
              </a:ext>
            </a:extLst>
          </p:cNvPr>
          <p:cNvSpPr>
            <a:spLocks noGrp="1"/>
          </p:cNvSpPr>
          <p:nvPr>
            <p:ph type="title"/>
          </p:nvPr>
        </p:nvSpPr>
        <p:spPr>
          <a:xfrm>
            <a:off x="1160658" y="1530387"/>
            <a:ext cx="9826473" cy="1467112"/>
          </a:xfrm>
        </p:spPr>
        <p:txBody>
          <a:bodyPr/>
          <a:lstStyle/>
          <a:p>
            <a:pPr algn="ctr"/>
            <a:r>
              <a:rPr lang="zh-CN" altLang="en-US" sz="3200" dirty="0"/>
              <a:t>考虑订单随机到达与取消</a:t>
            </a:r>
            <a:r>
              <a:rPr lang="zh-CN" altLang="en-US" sz="3200" dirty="0" smtClean="0"/>
              <a:t>的</a:t>
            </a:r>
            <a:r>
              <a:rPr lang="en-US" altLang="zh-CN" sz="3200" dirty="0" smtClean="0">
                <a:latin typeface="宋体" panose="02010600030101010101" pitchFamily="2" charset="-122"/>
                <a:ea typeface="宋体" panose="02010600030101010101" pitchFamily="2" charset="-122"/>
              </a:rPr>
              <a:t>××</a:t>
            </a:r>
            <a:r>
              <a:rPr lang="zh-CN" altLang="en-US" sz="3200" dirty="0" smtClean="0"/>
              <a:t>策略研究</a:t>
            </a:r>
            <a:endParaRPr lang="zh-CN" altLang="en-US" sz="3200" dirty="0"/>
          </a:p>
        </p:txBody>
      </p:sp>
      <p:sp>
        <p:nvSpPr>
          <p:cNvPr id="5" name="内容占位符 4">
            <a:extLst>
              <a:ext uri="{FF2B5EF4-FFF2-40B4-BE49-F238E27FC236}">
                <a16:creationId xmlns:a16="http://schemas.microsoft.com/office/drawing/2014/main" xmlns="" id="{978FBD4F-E805-453A-B186-60B2BD3EEC53}"/>
              </a:ext>
            </a:extLst>
          </p:cNvPr>
          <p:cNvSpPr>
            <a:spLocks noGrp="1"/>
          </p:cNvSpPr>
          <p:nvPr>
            <p:ph sz="quarter" idx="10"/>
          </p:nvPr>
        </p:nvSpPr>
        <p:spPr>
          <a:xfrm>
            <a:off x="1114359" y="3147237"/>
            <a:ext cx="10174816" cy="1951545"/>
          </a:xfrm>
        </p:spPr>
        <p:txBody>
          <a:bodyPr/>
          <a:lstStyle/>
          <a:p>
            <a:pPr algn="ctr"/>
            <a:r>
              <a:rPr lang="zh-CN" altLang="en-US" dirty="0" smtClean="0">
                <a:latin typeface="Times New Roman" panose="02020603050405020304" pitchFamily="18" charset="0"/>
              </a:rPr>
              <a:t>第</a:t>
            </a:r>
            <a:r>
              <a:rPr lang="en-US" altLang="zh-CN" dirty="0">
                <a:latin typeface="Times New Roman" panose="02020603050405020304" pitchFamily="18" charset="0"/>
              </a:rPr>
              <a:t>×</a:t>
            </a:r>
            <a:r>
              <a:rPr lang="zh-CN" altLang="en-US" dirty="0" smtClean="0">
                <a:latin typeface="Times New Roman" panose="02020603050405020304" pitchFamily="18" charset="0"/>
              </a:rPr>
              <a:t>组：</a:t>
            </a:r>
            <a:r>
              <a:rPr lang="en-US" altLang="zh-CN" dirty="0">
                <a:latin typeface="Times New Roman" panose="02020603050405020304" pitchFamily="18" charset="0"/>
              </a:rPr>
              <a:t>××× </a:t>
            </a:r>
            <a:r>
              <a:rPr lang="zh-CN" altLang="en-US" dirty="0" smtClean="0">
                <a:latin typeface="Times New Roman" panose="02020603050405020304" pitchFamily="18" charset="0"/>
              </a:rPr>
              <a:t>，</a:t>
            </a:r>
            <a:r>
              <a:rPr lang="en-US" altLang="zh-CN" dirty="0">
                <a:latin typeface="Times New Roman" panose="02020603050405020304" pitchFamily="18" charset="0"/>
              </a:rPr>
              <a:t>××× </a:t>
            </a:r>
            <a:r>
              <a:rPr lang="zh-CN" altLang="en-US" dirty="0" smtClean="0">
                <a:latin typeface="Times New Roman" panose="02020603050405020304" pitchFamily="18" charset="0"/>
              </a:rPr>
              <a:t>，</a:t>
            </a:r>
            <a:r>
              <a:rPr lang="en-US" altLang="zh-CN" dirty="0">
                <a:latin typeface="Times New Roman" panose="02020603050405020304" pitchFamily="18" charset="0"/>
              </a:rPr>
              <a:t>×××</a:t>
            </a:r>
            <a:endParaRPr lang="en-US" altLang="zh-CN" dirty="0" smtClean="0">
              <a:latin typeface="Times New Roman" panose="02020603050405020304" pitchFamily="18" charset="0"/>
            </a:endParaRPr>
          </a:p>
          <a:p>
            <a:pPr algn="ctr"/>
            <a:r>
              <a:rPr lang="zh-CN" altLang="en-US" dirty="0" smtClean="0">
                <a:latin typeface="Times New Roman" panose="02020603050405020304" pitchFamily="18" charset="0"/>
              </a:rPr>
              <a:t>指导老师：</a:t>
            </a:r>
            <a:r>
              <a:rPr lang="en-US" altLang="zh-CN" dirty="0">
                <a:latin typeface="Times New Roman" panose="02020603050405020304" pitchFamily="18" charset="0"/>
              </a:rPr>
              <a:t> </a:t>
            </a:r>
            <a:r>
              <a:rPr lang="en-US" altLang="zh-CN" dirty="0" smtClean="0">
                <a:latin typeface="Times New Roman" panose="02020603050405020304" pitchFamily="18" charset="0"/>
              </a:rPr>
              <a:t>××</a:t>
            </a:r>
            <a:r>
              <a:rPr lang="en-US" altLang="zh-CN" dirty="0">
                <a:latin typeface="Times New Roman" panose="02020603050405020304" pitchFamily="18" charset="0"/>
              </a:rPr>
              <a:t> </a:t>
            </a:r>
            <a:r>
              <a:rPr lang="en-US" altLang="zh-CN" dirty="0" smtClean="0">
                <a:latin typeface="Times New Roman" panose="02020603050405020304" pitchFamily="18" charset="0"/>
              </a:rPr>
              <a:t>×</a:t>
            </a:r>
          </a:p>
          <a:p>
            <a:pPr algn="ctr"/>
            <a:r>
              <a:rPr lang="en-US" altLang="zh-CN" dirty="0" smtClean="0">
                <a:latin typeface="Times New Roman" panose="02020603050405020304" pitchFamily="18" charset="0"/>
              </a:rPr>
              <a:t>2023</a:t>
            </a:r>
            <a:r>
              <a:rPr lang="zh-CN" altLang="en-US" dirty="0" smtClean="0">
                <a:latin typeface="Times New Roman" panose="02020603050405020304" pitchFamily="18" charset="0"/>
              </a:rPr>
              <a:t>年</a:t>
            </a:r>
            <a:r>
              <a:rPr lang="en-US" altLang="zh-CN" dirty="0">
                <a:latin typeface="Times New Roman" panose="02020603050405020304" pitchFamily="18" charset="0"/>
              </a:rPr>
              <a:t>×</a:t>
            </a:r>
            <a:r>
              <a:rPr lang="zh-CN" altLang="en-US" dirty="0" smtClean="0">
                <a:latin typeface="Times New Roman" panose="02020603050405020304" pitchFamily="18" charset="0"/>
              </a:rPr>
              <a:t>月</a:t>
            </a:r>
            <a:r>
              <a:rPr lang="en-US" altLang="zh-CN" dirty="0">
                <a:latin typeface="Times New Roman" panose="02020603050405020304" pitchFamily="18" charset="0"/>
              </a:rPr>
              <a:t>×</a:t>
            </a:r>
            <a:r>
              <a:rPr lang="zh-CN" altLang="en-US" dirty="0" smtClean="0">
                <a:latin typeface="Times New Roman" panose="02020603050405020304" pitchFamily="18" charset="0"/>
              </a:rPr>
              <a:t>日</a:t>
            </a:r>
            <a:endParaRPr lang="en-US" altLang="zh-CN" dirty="0">
              <a:latin typeface="Times New Roman" panose="02020603050405020304" pitchFamily="18" charset="0"/>
            </a:endParaRPr>
          </a:p>
        </p:txBody>
      </p:sp>
      <p:sp>
        <p:nvSpPr>
          <p:cNvPr id="6" name="TextBox 5"/>
          <p:cNvSpPr txBox="1"/>
          <p:nvPr/>
        </p:nvSpPr>
        <p:spPr>
          <a:xfrm>
            <a:off x="4790247" y="829354"/>
            <a:ext cx="6853158" cy="1015663"/>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pPr algn="just"/>
            <a:r>
              <a:rPr lang="zh-CN" altLang="en-US" sz="2000" dirty="0" smtClean="0">
                <a:solidFill>
                  <a:srgbClr val="FF0000"/>
                </a:solidFill>
                <a:latin typeface="黑体" panose="02010609060101010101" pitchFamily="49" charset="-122"/>
                <a:ea typeface="黑体" panose="02010609060101010101" pitchFamily="49" charset="-122"/>
              </a:rPr>
              <a:t>首页应包含：所选题目、小组及成员、指导老师、汇报日期</a:t>
            </a:r>
            <a:endParaRPr lang="en-US" altLang="zh-CN" sz="2000" dirty="0" smtClean="0">
              <a:solidFill>
                <a:srgbClr val="FF0000"/>
              </a:solidFill>
              <a:latin typeface="黑体" panose="02010609060101010101" pitchFamily="49" charset="-122"/>
              <a:ea typeface="黑体" panose="02010609060101010101" pitchFamily="49" charset="-122"/>
            </a:endParaRPr>
          </a:p>
          <a:p>
            <a:pPr algn="just"/>
            <a:r>
              <a:rPr lang="en-US" altLang="zh-CN" sz="2000" dirty="0" smtClean="0">
                <a:solidFill>
                  <a:srgbClr val="0000FF"/>
                </a:solidFill>
                <a:latin typeface="黑体" panose="02010609060101010101" pitchFamily="49" charset="-122"/>
                <a:ea typeface="黑体" panose="02010609060101010101" pitchFamily="49" charset="-122"/>
              </a:rPr>
              <a:t>PPT</a:t>
            </a:r>
            <a:r>
              <a:rPr lang="zh-CN" altLang="en-US" sz="2000" dirty="0" smtClean="0">
                <a:solidFill>
                  <a:srgbClr val="0000FF"/>
                </a:solidFill>
                <a:latin typeface="黑体" panose="02010609060101010101" pitchFamily="49" charset="-122"/>
                <a:ea typeface="黑体" panose="02010609060101010101" pitchFamily="49" charset="-122"/>
              </a:rPr>
              <a:t>版式及风格不限，可根据各小组喜好自由选择</a:t>
            </a:r>
            <a:endParaRPr lang="en-US" altLang="zh-CN" sz="2000" dirty="0" smtClean="0">
              <a:solidFill>
                <a:srgbClr val="0000FF"/>
              </a:solidFill>
              <a:latin typeface="黑体" panose="02010609060101010101" pitchFamily="49" charset="-122"/>
              <a:ea typeface="黑体" panose="02010609060101010101" pitchFamily="49" charset="-122"/>
            </a:endParaRPr>
          </a:p>
          <a:p>
            <a:pPr algn="just"/>
            <a:r>
              <a:rPr lang="en-US" altLang="zh-CN" sz="2000" dirty="0" smtClean="0">
                <a:solidFill>
                  <a:srgbClr val="FF0000"/>
                </a:solidFill>
                <a:latin typeface="黑体" panose="02010609060101010101" pitchFamily="49" charset="-122"/>
                <a:ea typeface="黑体" panose="02010609060101010101" pitchFamily="49" charset="-122"/>
              </a:rPr>
              <a:t>PPT</a:t>
            </a:r>
            <a:r>
              <a:rPr lang="zh-CN" altLang="en-US" sz="2000" dirty="0" smtClean="0">
                <a:solidFill>
                  <a:srgbClr val="FF0000"/>
                </a:solidFill>
                <a:latin typeface="黑体" panose="02010609060101010101" pitchFamily="49" charset="-122"/>
                <a:ea typeface="黑体" panose="02010609060101010101" pitchFamily="49" charset="-122"/>
              </a:rPr>
              <a:t>主要内容不超过</a:t>
            </a:r>
            <a:r>
              <a:rPr lang="en-US" altLang="zh-CN" sz="2000" dirty="0" smtClean="0">
                <a:solidFill>
                  <a:srgbClr val="FF0000"/>
                </a:solidFill>
                <a:latin typeface="黑体" panose="02010609060101010101" pitchFamily="49" charset="-122"/>
                <a:ea typeface="黑体" panose="02010609060101010101" pitchFamily="49" charset="-122"/>
              </a:rPr>
              <a:t>10</a:t>
            </a:r>
            <a:r>
              <a:rPr lang="zh-CN" altLang="en-US" sz="2000" dirty="0" smtClean="0">
                <a:solidFill>
                  <a:srgbClr val="FF0000"/>
                </a:solidFill>
                <a:latin typeface="黑体" panose="02010609060101010101" pitchFamily="49" charset="-122"/>
                <a:ea typeface="黑体" panose="02010609060101010101" pitchFamily="49" charset="-122"/>
              </a:rPr>
              <a:t>页</a:t>
            </a:r>
            <a:endParaRPr lang="zh-CN" altLang="en-US" sz="2000" dirty="0">
              <a:solidFill>
                <a:srgbClr val="FF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819284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xmlns="" id="{CD8FAE6F-E455-4B65-ABC2-66CF23A10F60}"/>
              </a:ext>
            </a:extLst>
          </p:cNvPr>
          <p:cNvSpPr>
            <a:spLocks noGrp="1"/>
          </p:cNvSpPr>
          <p:nvPr>
            <p:ph type="title"/>
          </p:nvPr>
        </p:nvSpPr>
        <p:spPr/>
        <p:txBody>
          <a:bodyPr/>
          <a:lstStyle/>
          <a:p>
            <a:r>
              <a:rPr lang="zh-CN" altLang="en-US" dirty="0" smtClean="0"/>
              <a:t>汇报提纲</a:t>
            </a:r>
            <a:endParaRPr lang="zh-CN" altLang="en-US" dirty="0"/>
          </a:p>
        </p:txBody>
      </p:sp>
      <p:sp>
        <p:nvSpPr>
          <p:cNvPr id="7" name="内容占位符 6">
            <a:extLst>
              <a:ext uri="{FF2B5EF4-FFF2-40B4-BE49-F238E27FC236}">
                <a16:creationId xmlns:a16="http://schemas.microsoft.com/office/drawing/2014/main" xmlns="" id="{5D4D4D60-D630-4FF8-9CE9-87991A04127A}"/>
              </a:ext>
            </a:extLst>
          </p:cNvPr>
          <p:cNvSpPr>
            <a:spLocks noGrp="1"/>
          </p:cNvSpPr>
          <p:nvPr>
            <p:ph idx="1"/>
          </p:nvPr>
        </p:nvSpPr>
        <p:spPr/>
        <p:txBody>
          <a:bodyPr/>
          <a:lstStyle/>
          <a:p>
            <a:pPr marL="540000" indent="-540000">
              <a:spcBef>
                <a:spcPts val="600"/>
              </a:spcBef>
              <a:spcAft>
                <a:spcPts val="600"/>
              </a:spcAft>
              <a:buFont typeface="+mj-lt"/>
              <a:buAutoNum type="arabicPeriod"/>
            </a:pPr>
            <a:r>
              <a:rPr lang="zh-CN" altLang="en-US" dirty="0">
                <a:latin typeface="黑体" panose="02010609060101010101" pitchFamily="49" charset="-122"/>
                <a:ea typeface="黑体" panose="02010609060101010101" pitchFamily="49" charset="-122"/>
              </a:rPr>
              <a:t>课题</a:t>
            </a:r>
            <a:r>
              <a:rPr lang="zh-CN" altLang="en-US" dirty="0" smtClean="0">
                <a:latin typeface="黑体" panose="02010609060101010101" pitchFamily="49" charset="-122"/>
                <a:ea typeface="黑体" panose="02010609060101010101" pitchFamily="49" charset="-122"/>
              </a:rPr>
              <a:t>背景</a:t>
            </a:r>
            <a:endParaRPr lang="en-US" altLang="zh-CN" dirty="0" smtClean="0">
              <a:latin typeface="黑体" panose="02010609060101010101" pitchFamily="49" charset="-122"/>
              <a:ea typeface="黑体" panose="02010609060101010101" pitchFamily="49" charset="-122"/>
            </a:endParaRPr>
          </a:p>
          <a:p>
            <a:pPr marL="540000" indent="-540000">
              <a:spcBef>
                <a:spcPts val="600"/>
              </a:spcBef>
              <a:spcAft>
                <a:spcPts val="600"/>
              </a:spcAft>
              <a:buFont typeface="+mj-lt"/>
              <a:buAutoNum type="arabicPeriod"/>
            </a:pPr>
            <a:r>
              <a:rPr lang="zh-CN" altLang="en-US" dirty="0" smtClean="0">
                <a:latin typeface="黑体" panose="02010609060101010101" pitchFamily="49" charset="-122"/>
                <a:ea typeface="黑体" panose="02010609060101010101" pitchFamily="49" charset="-122"/>
              </a:rPr>
              <a:t>研究内容</a:t>
            </a:r>
            <a:endParaRPr lang="en-US" altLang="zh-CN" dirty="0">
              <a:latin typeface="黑体" panose="02010609060101010101" pitchFamily="49" charset="-122"/>
              <a:ea typeface="黑体" panose="02010609060101010101" pitchFamily="49" charset="-122"/>
            </a:endParaRPr>
          </a:p>
          <a:p>
            <a:pPr marL="540000" indent="-540000">
              <a:spcBef>
                <a:spcPts val="600"/>
              </a:spcBef>
              <a:spcAft>
                <a:spcPts val="600"/>
              </a:spcAft>
              <a:buFont typeface="+mj-lt"/>
              <a:buAutoNum type="arabicPeriod"/>
            </a:pPr>
            <a:r>
              <a:rPr lang="zh-CN" altLang="en-US" dirty="0" smtClean="0">
                <a:latin typeface="黑体" panose="02010609060101010101" pitchFamily="49" charset="-122"/>
                <a:ea typeface="黑体" panose="02010609060101010101" pitchFamily="49" charset="-122"/>
              </a:rPr>
              <a:t>文献</a:t>
            </a:r>
            <a:r>
              <a:rPr lang="zh-CN" altLang="en-US" dirty="0">
                <a:latin typeface="黑体" panose="02010609060101010101" pitchFamily="49" charset="-122"/>
                <a:ea typeface="黑体" panose="02010609060101010101" pitchFamily="49" charset="-122"/>
              </a:rPr>
              <a:t>调研</a:t>
            </a:r>
            <a:endParaRPr lang="en-US" altLang="zh-CN" dirty="0">
              <a:latin typeface="黑体" panose="02010609060101010101" pitchFamily="49" charset="-122"/>
              <a:ea typeface="黑体" panose="02010609060101010101" pitchFamily="49" charset="-122"/>
            </a:endParaRPr>
          </a:p>
          <a:p>
            <a:pPr marL="540000" indent="-540000">
              <a:spcBef>
                <a:spcPts val="600"/>
              </a:spcBef>
              <a:spcAft>
                <a:spcPts val="600"/>
              </a:spcAft>
              <a:buFont typeface="+mj-lt"/>
              <a:buAutoNum type="arabicPeriod"/>
            </a:pPr>
            <a:r>
              <a:rPr lang="zh-CN" altLang="en-US" dirty="0" smtClean="0">
                <a:latin typeface="黑体" panose="02010609060101010101" pitchFamily="49" charset="-122"/>
                <a:ea typeface="黑体" panose="02010609060101010101" pitchFamily="49" charset="-122"/>
              </a:rPr>
              <a:t>实施方案</a:t>
            </a:r>
            <a:endParaRPr lang="en-US" altLang="zh-CN" dirty="0">
              <a:latin typeface="黑体" panose="02010609060101010101" pitchFamily="49" charset="-122"/>
              <a:ea typeface="黑体" panose="02010609060101010101" pitchFamily="49" charset="-122"/>
            </a:endParaRPr>
          </a:p>
          <a:p>
            <a:pPr marL="540000" indent="-540000">
              <a:spcBef>
                <a:spcPts val="600"/>
              </a:spcBef>
              <a:spcAft>
                <a:spcPts val="600"/>
              </a:spcAft>
              <a:buFont typeface="+mj-lt"/>
              <a:buAutoNum type="arabicPeriod"/>
            </a:pPr>
            <a:r>
              <a:rPr lang="zh-CN" altLang="en-US" dirty="0" smtClean="0">
                <a:latin typeface="黑体" panose="02010609060101010101" pitchFamily="49" charset="-122"/>
                <a:ea typeface="黑体" panose="02010609060101010101" pitchFamily="49" charset="-122"/>
              </a:rPr>
              <a:t>进度</a:t>
            </a:r>
            <a:r>
              <a:rPr lang="zh-CN" altLang="en-US" dirty="0">
                <a:latin typeface="黑体" panose="02010609060101010101" pitchFamily="49" charset="-122"/>
                <a:ea typeface="黑体" panose="02010609060101010101" pitchFamily="49" charset="-122"/>
              </a:rPr>
              <a:t>计划</a:t>
            </a:r>
            <a:endParaRPr lang="en-US" altLang="zh-CN" dirty="0">
              <a:latin typeface="黑体" panose="02010609060101010101" pitchFamily="49" charset="-122"/>
              <a:ea typeface="黑体" panose="02010609060101010101" pitchFamily="49" charset="-122"/>
            </a:endParaRPr>
          </a:p>
        </p:txBody>
      </p:sp>
      <p:sp>
        <p:nvSpPr>
          <p:cNvPr id="3" name="灯片编号占位符 2">
            <a:extLst>
              <a:ext uri="{FF2B5EF4-FFF2-40B4-BE49-F238E27FC236}">
                <a16:creationId xmlns:a16="http://schemas.microsoft.com/office/drawing/2014/main" xmlns="" id="{6E392ACB-BE31-44E4-9A27-BDE7EE1537EB}"/>
              </a:ext>
            </a:extLst>
          </p:cNvPr>
          <p:cNvSpPr>
            <a:spLocks noGrp="1"/>
          </p:cNvSpPr>
          <p:nvPr>
            <p:ph type="sldNum" sz="quarter" idx="11"/>
          </p:nvPr>
        </p:nvSpPr>
        <p:spPr/>
        <p:txBody>
          <a:bodyPr/>
          <a:lstStyle/>
          <a:p>
            <a:fld id="{FD7D2133-84E4-4D49-B786-7B5C0B54D116}" type="slidenum">
              <a:rPr lang="zh-CN" altLang="en-US" smtClean="0"/>
              <a:t>2</a:t>
            </a:fld>
            <a:endParaRPr lang="zh-CN" altLang="en-US"/>
          </a:p>
        </p:txBody>
      </p:sp>
      <p:sp>
        <p:nvSpPr>
          <p:cNvPr id="8" name="内容占位符 7">
            <a:extLst>
              <a:ext uri="{FF2B5EF4-FFF2-40B4-BE49-F238E27FC236}">
                <a16:creationId xmlns:a16="http://schemas.microsoft.com/office/drawing/2014/main" xmlns="" id="{547E1A3B-8A6A-459B-8AA3-8AED07E93582}"/>
              </a:ext>
            </a:extLst>
          </p:cNvPr>
          <p:cNvSpPr>
            <a:spLocks noGrp="1"/>
          </p:cNvSpPr>
          <p:nvPr>
            <p:ph idx="12"/>
          </p:nvPr>
        </p:nvSpPr>
        <p:spPr/>
        <p:txBody>
          <a:bodyPr/>
          <a:lstStyle/>
          <a:p>
            <a:endParaRPr lang="zh-CN" altLang="en-US"/>
          </a:p>
        </p:txBody>
      </p:sp>
      <p:sp>
        <p:nvSpPr>
          <p:cNvPr id="6" name="TextBox 5"/>
          <p:cNvSpPr txBox="1"/>
          <p:nvPr/>
        </p:nvSpPr>
        <p:spPr>
          <a:xfrm>
            <a:off x="5762027" y="1307808"/>
            <a:ext cx="5667973"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dirty="0" smtClean="0">
                <a:solidFill>
                  <a:srgbClr val="FF0000"/>
                </a:solidFill>
                <a:latin typeface="黑体" panose="02010609060101010101" pitchFamily="49" charset="-122"/>
                <a:ea typeface="黑体" panose="02010609060101010101" pitchFamily="49" charset="-122"/>
              </a:rPr>
              <a:t>本页列出开题汇报的内容提纲，大体包含这</a:t>
            </a:r>
            <a:r>
              <a:rPr lang="en-US" altLang="zh-CN" sz="2000" dirty="0" smtClean="0">
                <a:solidFill>
                  <a:srgbClr val="FF0000"/>
                </a:solidFill>
                <a:latin typeface="黑体" panose="02010609060101010101" pitchFamily="49" charset="-122"/>
                <a:ea typeface="黑体" panose="02010609060101010101" pitchFamily="49" charset="-122"/>
              </a:rPr>
              <a:t>5</a:t>
            </a:r>
            <a:r>
              <a:rPr lang="zh-CN" altLang="en-US" sz="2000" dirty="0" smtClean="0">
                <a:solidFill>
                  <a:srgbClr val="FF0000"/>
                </a:solidFill>
                <a:latin typeface="黑体" panose="02010609060101010101" pitchFamily="49" charset="-122"/>
                <a:ea typeface="黑体" panose="02010609060101010101" pitchFamily="49" charset="-122"/>
              </a:rPr>
              <a:t>部分内容，可根据所选课题及小组实际情况进行增减。</a:t>
            </a:r>
            <a:endParaRPr lang="zh-CN" altLang="en-US" sz="2000" dirty="0">
              <a:solidFill>
                <a:srgbClr val="FF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15138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91D4AC36-038A-4490-9182-6B1F8C625E48}"/>
              </a:ext>
            </a:extLst>
          </p:cNvPr>
          <p:cNvSpPr>
            <a:spLocks noGrp="1"/>
          </p:cNvSpPr>
          <p:nvPr>
            <p:ph type="title"/>
          </p:nvPr>
        </p:nvSpPr>
        <p:spPr/>
        <p:txBody>
          <a:bodyPr/>
          <a:lstStyle/>
          <a:p>
            <a:r>
              <a:rPr lang="zh-CN" altLang="en-US" dirty="0"/>
              <a:t>课题</a:t>
            </a:r>
            <a:r>
              <a:rPr lang="zh-CN" altLang="en-US" dirty="0" smtClean="0"/>
              <a:t>背景</a:t>
            </a:r>
            <a:endParaRPr lang="zh-CN" altLang="en-US" dirty="0"/>
          </a:p>
        </p:txBody>
      </p:sp>
      <p:sp>
        <p:nvSpPr>
          <p:cNvPr id="7" name="内容占位符 6">
            <a:extLst>
              <a:ext uri="{FF2B5EF4-FFF2-40B4-BE49-F238E27FC236}">
                <a16:creationId xmlns:a16="http://schemas.microsoft.com/office/drawing/2014/main" xmlns="" id="{3A02EA67-95B2-429D-9EE8-DCF3454F3777}"/>
              </a:ext>
            </a:extLst>
          </p:cNvPr>
          <p:cNvSpPr>
            <a:spLocks noGrp="1"/>
          </p:cNvSpPr>
          <p:nvPr>
            <p:ph idx="12"/>
          </p:nvPr>
        </p:nvSpPr>
        <p:spPr>
          <a:xfrm>
            <a:off x="502303" y="1215859"/>
            <a:ext cx="10948962" cy="5078615"/>
          </a:xfrm>
        </p:spPr>
        <p:txBody>
          <a:bodyPr/>
          <a:lstStyle/>
          <a:p>
            <a:pPr>
              <a:spcBef>
                <a:spcPts val="1200"/>
              </a:spcBef>
              <a:spcAft>
                <a:spcPts val="1200"/>
              </a:spcAft>
            </a:pPr>
            <a:r>
              <a:rPr lang="zh-CN" altLang="en-US" dirty="0" smtClean="0"/>
              <a:t>随着电商业务快速增长订单</a:t>
            </a:r>
            <a:r>
              <a:rPr lang="zh-CN" altLang="en-US" dirty="0"/>
              <a:t>履约受到广泛重视</a:t>
            </a:r>
            <a:endParaRPr lang="en-US" altLang="zh-CN" dirty="0"/>
          </a:p>
          <a:p>
            <a:pPr lvl="1">
              <a:spcBef>
                <a:spcPts val="600"/>
              </a:spcBef>
              <a:spcAft>
                <a:spcPts val="600"/>
              </a:spcAft>
            </a:pPr>
            <a:r>
              <a:rPr lang="en-US" altLang="zh-CN" dirty="0"/>
              <a:t>《2020</a:t>
            </a:r>
            <a:r>
              <a:rPr lang="zh-CN" altLang="en-US" dirty="0"/>
              <a:t>年邮政行业发展统计公报</a:t>
            </a:r>
            <a:r>
              <a:rPr lang="en-US" altLang="zh-CN" dirty="0"/>
              <a:t>》</a:t>
            </a:r>
            <a:r>
              <a:rPr lang="zh-CN" altLang="en-US" dirty="0"/>
              <a:t>显示，快递业务快速增长。全年快递服务企业业务量完成</a:t>
            </a:r>
            <a:r>
              <a:rPr lang="en-US" altLang="zh-CN" dirty="0"/>
              <a:t>833.6</a:t>
            </a:r>
            <a:r>
              <a:rPr lang="zh-CN" altLang="en-US" dirty="0"/>
              <a:t>亿件，同比增长</a:t>
            </a:r>
            <a:r>
              <a:rPr lang="en-US" altLang="zh-CN" dirty="0"/>
              <a:t>31.2%</a:t>
            </a:r>
            <a:r>
              <a:rPr lang="zh-CN" altLang="en-US" dirty="0"/>
              <a:t>；快递业务收入完成</a:t>
            </a:r>
            <a:r>
              <a:rPr lang="en-US" altLang="zh-CN" dirty="0"/>
              <a:t>8,795.4</a:t>
            </a:r>
            <a:r>
              <a:rPr lang="zh-CN" altLang="en-US" dirty="0"/>
              <a:t>亿元，同比增长</a:t>
            </a:r>
            <a:r>
              <a:rPr lang="en-US" altLang="zh-CN" dirty="0"/>
              <a:t>17.3%</a:t>
            </a:r>
            <a:r>
              <a:rPr lang="zh-CN" altLang="en-US" dirty="0"/>
              <a:t>。</a:t>
            </a:r>
          </a:p>
        </p:txBody>
      </p:sp>
      <p:sp>
        <p:nvSpPr>
          <p:cNvPr id="8" name="内容占位符 7">
            <a:extLst>
              <a:ext uri="{FF2B5EF4-FFF2-40B4-BE49-F238E27FC236}">
                <a16:creationId xmlns:a16="http://schemas.microsoft.com/office/drawing/2014/main" xmlns="" id="{9C8348C2-D354-4083-9D71-44AF832FFB6F}"/>
              </a:ext>
            </a:extLst>
          </p:cNvPr>
          <p:cNvSpPr>
            <a:spLocks noGrp="1"/>
          </p:cNvSpPr>
          <p:nvPr>
            <p:ph idx="13"/>
          </p:nvPr>
        </p:nvSpPr>
        <p:spPr>
          <a:xfrm>
            <a:off x="812799" y="6053999"/>
            <a:ext cx="10566401" cy="270000"/>
          </a:xfrm>
        </p:spPr>
        <p:txBody>
          <a:bodyPr/>
          <a:lstStyle/>
          <a:p>
            <a:r>
              <a:rPr lang="en-US" altLang="zh-CN" dirty="0">
                <a:ea typeface="宋体" panose="02010600030101010101" pitchFamily="2" charset="-122"/>
              </a:rPr>
              <a:t>Source:</a:t>
            </a:r>
            <a:r>
              <a:rPr lang="zh-CN" altLang="en-US" dirty="0">
                <a:ea typeface="宋体" panose="02010600030101010101" pitchFamily="2" charset="-122"/>
              </a:rPr>
              <a:t>中商产业研究院、易观分析、中国数字发展指数报告（</a:t>
            </a:r>
            <a:r>
              <a:rPr lang="en-US" altLang="zh-CN" dirty="0">
                <a:ea typeface="宋体" panose="02010600030101010101" pitchFamily="2" charset="-122"/>
              </a:rPr>
              <a:t>2021</a:t>
            </a:r>
            <a:r>
              <a:rPr lang="zh-CN" altLang="en-US" dirty="0">
                <a:ea typeface="宋体" panose="02010600030101010101" pitchFamily="2" charset="-122"/>
              </a:rPr>
              <a:t>）</a:t>
            </a:r>
          </a:p>
        </p:txBody>
      </p:sp>
      <p:sp>
        <p:nvSpPr>
          <p:cNvPr id="4" name="灯片编号占位符 3">
            <a:extLst>
              <a:ext uri="{FF2B5EF4-FFF2-40B4-BE49-F238E27FC236}">
                <a16:creationId xmlns:a16="http://schemas.microsoft.com/office/drawing/2014/main" xmlns="" id="{15C3E18E-5748-4E2C-BF01-8EE03B1D2368}"/>
              </a:ext>
            </a:extLst>
          </p:cNvPr>
          <p:cNvSpPr>
            <a:spLocks noGrp="1"/>
          </p:cNvSpPr>
          <p:nvPr>
            <p:ph type="sldNum" sz="quarter" idx="11"/>
          </p:nvPr>
        </p:nvSpPr>
        <p:spPr/>
        <p:txBody>
          <a:bodyPr/>
          <a:lstStyle/>
          <a:p>
            <a:fld id="{FD7D2133-84E4-4D49-B786-7B5C0B54D116}" type="slidenum">
              <a:rPr lang="zh-CN" altLang="en-US" smtClean="0"/>
              <a:t>3</a:t>
            </a:fld>
            <a:endParaRPr lang="zh-CN" altLang="en-US"/>
          </a:p>
        </p:txBody>
      </p:sp>
      <p:pic>
        <p:nvPicPr>
          <p:cNvPr id="9" name="Picture 2" descr="https://imagepphcloud.thepaper.cn/pph/image/131/258/55.jpg">
            <a:extLst>
              <a:ext uri="{FF2B5EF4-FFF2-40B4-BE49-F238E27FC236}">
                <a16:creationId xmlns:a16="http://schemas.microsoft.com/office/drawing/2014/main" xmlns="" id="{0AAFF3BD-57C1-4517-BAB8-16CF3F2E24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796"/>
          <a:stretch/>
        </p:blipFill>
        <p:spPr bwMode="auto">
          <a:xfrm>
            <a:off x="1500825" y="2580642"/>
            <a:ext cx="9615136" cy="308344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8371916" y="1137711"/>
            <a:ext cx="2999200" cy="4001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dirty="0" smtClean="0">
                <a:solidFill>
                  <a:srgbClr val="FF0000"/>
                </a:solidFill>
                <a:latin typeface="黑体" panose="02010609060101010101" pitchFamily="49" charset="-122"/>
                <a:ea typeface="黑体" panose="02010609060101010101" pitchFamily="49" charset="-122"/>
              </a:rPr>
              <a:t>简单</a:t>
            </a:r>
            <a:r>
              <a:rPr lang="zh-CN" altLang="en-US" sz="2000" dirty="0">
                <a:solidFill>
                  <a:srgbClr val="FF0000"/>
                </a:solidFill>
                <a:latin typeface="黑体" panose="02010609060101010101" pitchFamily="49" charset="-122"/>
                <a:ea typeface="黑体" panose="02010609060101010101" pitchFamily="49" charset="-122"/>
              </a:rPr>
              <a:t>介绍</a:t>
            </a:r>
            <a:r>
              <a:rPr lang="zh-CN" altLang="en-US" sz="2000" dirty="0" smtClean="0">
                <a:solidFill>
                  <a:srgbClr val="FF0000"/>
                </a:solidFill>
                <a:latin typeface="黑体" panose="02010609060101010101" pitchFamily="49" charset="-122"/>
                <a:ea typeface="黑体" panose="02010609060101010101" pitchFamily="49" charset="-122"/>
              </a:rPr>
              <a:t>课题的背景。</a:t>
            </a:r>
            <a:endParaRPr lang="zh-CN" altLang="en-US" sz="2000" dirty="0">
              <a:solidFill>
                <a:srgbClr val="FF0000"/>
              </a:solidFill>
              <a:latin typeface="黑体" panose="02010609060101010101" pitchFamily="49" charset="-122"/>
              <a:ea typeface="黑体" panose="02010609060101010101" pitchFamily="49" charset="-122"/>
            </a:endParaRPr>
          </a:p>
        </p:txBody>
      </p:sp>
      <p:sp>
        <p:nvSpPr>
          <p:cNvPr id="5" name="矩形 4"/>
          <p:cNvSpPr/>
          <p:nvPr/>
        </p:nvSpPr>
        <p:spPr>
          <a:xfrm>
            <a:off x="4419159" y="5755862"/>
            <a:ext cx="3775393" cy="338554"/>
          </a:xfrm>
          <a:prstGeom prst="rect">
            <a:avLst/>
          </a:prstGeom>
        </p:spPr>
        <p:txBody>
          <a:bodyPr wrap="none">
            <a:spAutoFit/>
          </a:bodyPr>
          <a:lstStyle/>
          <a:p>
            <a:r>
              <a:rPr lang="zh-CN" altLang="en-US" sz="1600" dirty="0" smtClean="0">
                <a:latin typeface="黑体" panose="02010609060101010101" pitchFamily="49" charset="-122"/>
                <a:ea typeface="黑体" panose="02010609060101010101" pitchFamily="49" charset="-122"/>
              </a:rPr>
              <a:t>图</a:t>
            </a:r>
            <a:r>
              <a:rPr lang="en-US" altLang="zh-CN" sz="1600" dirty="0" smtClean="0">
                <a:latin typeface="黑体" panose="02010609060101010101" pitchFamily="49" charset="-122"/>
                <a:ea typeface="黑体" panose="02010609060101010101" pitchFamily="49" charset="-122"/>
              </a:rPr>
              <a:t>1 2016-2020</a:t>
            </a:r>
            <a:r>
              <a:rPr lang="zh-CN" altLang="en-US" sz="1600" dirty="0" smtClean="0">
                <a:latin typeface="黑体" panose="02010609060101010101" pitchFamily="49" charset="-122"/>
                <a:ea typeface="黑体" panose="02010609060101010101" pitchFamily="49" charset="-122"/>
              </a:rPr>
              <a:t>年</a:t>
            </a:r>
            <a:r>
              <a:rPr lang="zh-CN" altLang="en-US" sz="1600" dirty="0">
                <a:latin typeface="黑体" panose="02010609060101010101" pitchFamily="49" charset="-122"/>
                <a:ea typeface="黑体" panose="02010609060101010101" pitchFamily="49" charset="-122"/>
              </a:rPr>
              <a:t>快递</a:t>
            </a:r>
            <a:r>
              <a:rPr lang="zh-CN" altLang="en-US" sz="1600" dirty="0" smtClean="0">
                <a:latin typeface="黑体" panose="02010609060101010101" pitchFamily="49" charset="-122"/>
                <a:ea typeface="黑体" panose="02010609060101010101" pitchFamily="49" charset="-122"/>
              </a:rPr>
              <a:t>行业</a:t>
            </a:r>
            <a:r>
              <a:rPr lang="zh-CN" altLang="en-US" sz="1600" dirty="0">
                <a:latin typeface="黑体" panose="02010609060101010101" pitchFamily="49" charset="-122"/>
                <a:ea typeface="黑体" panose="02010609060101010101" pitchFamily="49" charset="-122"/>
              </a:rPr>
              <a:t>业务发展情况</a:t>
            </a:r>
          </a:p>
        </p:txBody>
      </p:sp>
    </p:spTree>
    <p:extLst>
      <p:ext uri="{BB962C8B-B14F-4D97-AF65-F5344CB8AC3E}">
        <p14:creationId xmlns:p14="http://schemas.microsoft.com/office/powerpoint/2010/main" val="2430067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xmlns="" id="{8FB89285-1071-432D-9845-1C0438ABAF86}"/>
              </a:ext>
            </a:extLst>
          </p:cNvPr>
          <p:cNvSpPr>
            <a:spLocks noGrp="1"/>
          </p:cNvSpPr>
          <p:nvPr>
            <p:ph type="title"/>
          </p:nvPr>
        </p:nvSpPr>
        <p:spPr/>
        <p:txBody>
          <a:bodyPr/>
          <a:lstStyle/>
          <a:p>
            <a:r>
              <a:rPr lang="zh-CN" altLang="en-US" dirty="0" smtClean="0"/>
              <a:t>研究内容</a:t>
            </a:r>
            <a:endParaRPr lang="zh-CN" altLang="en-US" dirty="0"/>
          </a:p>
        </p:txBody>
      </p:sp>
      <p:sp>
        <p:nvSpPr>
          <p:cNvPr id="4" name="内容占位符 3">
            <a:extLst>
              <a:ext uri="{FF2B5EF4-FFF2-40B4-BE49-F238E27FC236}">
                <a16:creationId xmlns:a16="http://schemas.microsoft.com/office/drawing/2014/main" xmlns="" id="{B85DFDEF-A356-4F18-B4E1-3BA7580484A5}"/>
              </a:ext>
            </a:extLst>
          </p:cNvPr>
          <p:cNvSpPr>
            <a:spLocks noGrp="1"/>
          </p:cNvSpPr>
          <p:nvPr>
            <p:ph idx="1"/>
          </p:nvPr>
        </p:nvSpPr>
        <p:spPr/>
        <p:txBody>
          <a:bodyPr/>
          <a:lstStyle/>
          <a:p>
            <a:pPr>
              <a:spcBef>
                <a:spcPts val="1200"/>
              </a:spcBef>
              <a:spcAft>
                <a:spcPts val="1200"/>
              </a:spcAft>
            </a:pPr>
            <a:r>
              <a:rPr lang="zh-CN" altLang="en-US" kern="1200" dirty="0" smtClean="0"/>
              <a:t>研究的问题</a:t>
            </a:r>
            <a:endParaRPr lang="en-US" altLang="zh-CN" kern="1200" dirty="0"/>
          </a:p>
          <a:p>
            <a:pPr marL="0" indent="612000">
              <a:buNone/>
            </a:pPr>
            <a:r>
              <a:rPr lang="zh-CN" altLang="en-US" sz="2000" dirty="0"/>
              <a:t>某企业在全国建设了</a:t>
            </a:r>
            <a:r>
              <a:rPr lang="en-US" altLang="zh-CN" sz="2000" dirty="0"/>
              <a:t>8</a:t>
            </a:r>
            <a:r>
              <a:rPr lang="zh-CN" altLang="en-US" sz="2000" dirty="0"/>
              <a:t>个区域型配送中心和约</a:t>
            </a:r>
            <a:r>
              <a:rPr lang="en-US" altLang="zh-CN" sz="2000" dirty="0"/>
              <a:t>500</a:t>
            </a:r>
            <a:r>
              <a:rPr lang="zh-CN" altLang="en-US" sz="2000" dirty="0"/>
              <a:t>个大小仓库中储存了近千万不同种类的商品，每日配送</a:t>
            </a:r>
            <a:r>
              <a:rPr lang="en-US" altLang="zh-CN" sz="2000" dirty="0"/>
              <a:t>500</a:t>
            </a:r>
            <a:r>
              <a:rPr lang="zh-CN" altLang="en-US" sz="2000" dirty="0"/>
              <a:t>多万顾客订单，并且绝大多数订单需要满足</a:t>
            </a:r>
            <a:r>
              <a:rPr lang="en-US" altLang="zh-CN" sz="2000" dirty="0"/>
              <a:t>211</a:t>
            </a:r>
            <a:r>
              <a:rPr lang="zh-CN" altLang="en-US" sz="2000" dirty="0"/>
              <a:t>配送标准，即早上</a:t>
            </a:r>
            <a:r>
              <a:rPr lang="en-US" altLang="zh-CN" sz="2000" dirty="0"/>
              <a:t>11</a:t>
            </a:r>
            <a:r>
              <a:rPr lang="zh-CN" altLang="en-US" sz="2000" dirty="0"/>
              <a:t>点之前的订单当日送达，晚上</a:t>
            </a:r>
            <a:r>
              <a:rPr lang="en-US" altLang="zh-CN" sz="2000" dirty="0"/>
              <a:t>11</a:t>
            </a:r>
            <a:r>
              <a:rPr lang="zh-CN" altLang="en-US" sz="2000" dirty="0"/>
              <a:t>点之前的订单次日下午</a:t>
            </a:r>
            <a:r>
              <a:rPr lang="en-US" altLang="zh-CN" sz="2000" dirty="0"/>
              <a:t>3</a:t>
            </a:r>
            <a:r>
              <a:rPr lang="zh-CN" altLang="en-US" sz="2000" dirty="0"/>
              <a:t>点前送达。研究如何准确地预测各个地区的顾客对商品的需求，将顾客可能需要的货品备置在顾客附近的仓库，在保障时效的前提下，通过大数据分析和优化算法，降低运营成本。 </a:t>
            </a:r>
            <a:endParaRPr lang="en-US" altLang="zh-CN" sz="2000" dirty="0"/>
          </a:p>
          <a:p>
            <a:pPr marL="0" indent="0">
              <a:buNone/>
            </a:pPr>
            <a:endParaRPr lang="en-US" altLang="zh-CN" dirty="0"/>
          </a:p>
          <a:p>
            <a:endParaRPr lang="en-US" altLang="zh-CN" dirty="0"/>
          </a:p>
          <a:p>
            <a:pPr marL="0" indent="0">
              <a:buNone/>
            </a:pPr>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r>
              <a:rPr lang="en-US" altLang="zh-CN" dirty="0"/>
              <a:t>	</a:t>
            </a:r>
          </a:p>
          <a:p>
            <a:endParaRPr lang="zh-CN" altLang="en-US" dirty="0"/>
          </a:p>
        </p:txBody>
      </p:sp>
      <p:sp>
        <p:nvSpPr>
          <p:cNvPr id="6" name="灯片编号占位符 5">
            <a:extLst>
              <a:ext uri="{FF2B5EF4-FFF2-40B4-BE49-F238E27FC236}">
                <a16:creationId xmlns:a16="http://schemas.microsoft.com/office/drawing/2014/main" xmlns="" id="{FABEFEDD-634F-4F6D-A529-A28AC85AF840}"/>
              </a:ext>
            </a:extLst>
          </p:cNvPr>
          <p:cNvSpPr>
            <a:spLocks noGrp="1"/>
          </p:cNvSpPr>
          <p:nvPr>
            <p:ph type="sldNum" sz="quarter" idx="11"/>
          </p:nvPr>
        </p:nvSpPr>
        <p:spPr/>
        <p:txBody>
          <a:bodyPr/>
          <a:lstStyle/>
          <a:p>
            <a:fld id="{FD7D2133-84E4-4D49-B786-7B5C0B54D116}" type="slidenum">
              <a:rPr lang="zh-CN" altLang="en-US" smtClean="0"/>
              <a:t>4</a:t>
            </a:fld>
            <a:endParaRPr lang="zh-CN" altLang="en-US"/>
          </a:p>
        </p:txBody>
      </p:sp>
      <p:sp>
        <p:nvSpPr>
          <p:cNvPr id="2" name="矩形 1"/>
          <p:cNvSpPr/>
          <p:nvPr/>
        </p:nvSpPr>
        <p:spPr>
          <a:xfrm>
            <a:off x="730101" y="3513175"/>
            <a:ext cx="5277293" cy="2846933"/>
          </a:xfrm>
          <a:prstGeom prst="rect">
            <a:avLst/>
          </a:prstGeom>
        </p:spPr>
        <p:txBody>
          <a:bodyPr wrap="square">
            <a:spAutoFit/>
          </a:bodyPr>
          <a:lstStyle/>
          <a:p>
            <a:pPr marL="469900" indent="-469900" fontAlgn="base">
              <a:spcBef>
                <a:spcPts val="1200"/>
              </a:spcBef>
              <a:spcAft>
                <a:spcPts val="1200"/>
              </a:spcAft>
              <a:buClr>
                <a:srgbClr val="7030A0"/>
              </a:buClr>
              <a:buFont typeface="Wingdings" pitchFamily="2" charset="2"/>
              <a:buChar char="o"/>
            </a:pPr>
            <a:r>
              <a:rPr lang="zh-CN" altLang="en-US" sz="2400" dirty="0">
                <a:latin typeface="Arial" pitchFamily="34" charset="0"/>
                <a:ea typeface="黑体" pitchFamily="2" charset="-122"/>
              </a:rPr>
              <a:t>主要研究内容</a:t>
            </a:r>
            <a:endParaRPr lang="en-US" altLang="zh-CN" sz="2400" dirty="0">
              <a:latin typeface="Arial" pitchFamily="34" charset="0"/>
              <a:ea typeface="黑体" pitchFamily="2" charset="-122"/>
            </a:endParaRPr>
          </a:p>
          <a:p>
            <a:pPr marL="908050" lvl="1" indent="-436563" fontAlgn="base">
              <a:spcBef>
                <a:spcPts val="600"/>
              </a:spcBef>
              <a:spcAft>
                <a:spcPts val="600"/>
              </a:spcAft>
              <a:buClr>
                <a:srgbClr val="7030A0"/>
              </a:buClr>
              <a:buFont typeface="Wingdings" pitchFamily="2" charset="2"/>
              <a:buChar char="n"/>
            </a:pPr>
            <a:r>
              <a:rPr lang="zh-CN" altLang="en-US" sz="2000" dirty="0">
                <a:latin typeface="Arial" pitchFamily="34" charset="0"/>
                <a:ea typeface="黑体" pitchFamily="2" charset="-122"/>
              </a:rPr>
              <a:t>对订单履约过程进行问题</a:t>
            </a:r>
            <a:r>
              <a:rPr lang="zh-CN" altLang="en-US" sz="2000" dirty="0" smtClean="0">
                <a:latin typeface="Arial" pitchFamily="34" charset="0"/>
                <a:ea typeface="黑体" pitchFamily="2" charset="-122"/>
              </a:rPr>
              <a:t>建模；</a:t>
            </a:r>
            <a:endParaRPr lang="zh-CN" altLang="en-US" sz="2000" dirty="0">
              <a:latin typeface="Arial" pitchFamily="34" charset="0"/>
              <a:ea typeface="黑体" pitchFamily="2" charset="-122"/>
            </a:endParaRPr>
          </a:p>
          <a:p>
            <a:pPr marL="908050" lvl="1" indent="-436563" fontAlgn="base">
              <a:spcBef>
                <a:spcPts val="600"/>
              </a:spcBef>
              <a:spcAft>
                <a:spcPts val="600"/>
              </a:spcAft>
              <a:buClr>
                <a:srgbClr val="7030A0"/>
              </a:buClr>
              <a:buFont typeface="Wingdings" pitchFamily="2" charset="2"/>
              <a:buChar char="n"/>
            </a:pPr>
            <a:r>
              <a:rPr lang="zh-CN" altLang="en-US" sz="2000" dirty="0">
                <a:latin typeface="Arial" pitchFamily="34" charset="0"/>
                <a:ea typeface="黑体" pitchFamily="2" charset="-122"/>
              </a:rPr>
              <a:t>对随机动态规划进行求解</a:t>
            </a:r>
            <a:r>
              <a:rPr lang="zh-CN" altLang="en-US" sz="2000" dirty="0" smtClean="0">
                <a:latin typeface="Arial" pitchFamily="34" charset="0"/>
                <a:ea typeface="黑体" pitchFamily="2" charset="-122"/>
              </a:rPr>
              <a:t>，</a:t>
            </a:r>
            <a:r>
              <a:rPr lang="zh-CN" altLang="en-US" sz="2000" dirty="0">
                <a:latin typeface="Arial" pitchFamily="34" charset="0"/>
                <a:ea typeface="黑体" pitchFamily="2" charset="-122"/>
              </a:rPr>
              <a:t>并利用成本函数近似的方法优化</a:t>
            </a:r>
            <a:r>
              <a:rPr lang="zh-CN" altLang="en-US" sz="2000" dirty="0" smtClean="0">
                <a:latin typeface="Arial" pitchFamily="34" charset="0"/>
                <a:ea typeface="黑体" pitchFamily="2" charset="-122"/>
              </a:rPr>
              <a:t>策略；</a:t>
            </a:r>
            <a:endParaRPr lang="zh-CN" altLang="en-US" sz="2000" dirty="0">
              <a:latin typeface="Arial" pitchFamily="34" charset="0"/>
              <a:ea typeface="黑体" pitchFamily="2" charset="-122"/>
            </a:endParaRPr>
          </a:p>
          <a:p>
            <a:pPr marL="908050" lvl="1" indent="-436563" fontAlgn="base">
              <a:spcBef>
                <a:spcPts val="600"/>
              </a:spcBef>
              <a:spcAft>
                <a:spcPts val="600"/>
              </a:spcAft>
              <a:buClr>
                <a:srgbClr val="7030A0"/>
              </a:buClr>
              <a:buFont typeface="Wingdings" pitchFamily="2" charset="2"/>
              <a:buChar char="n"/>
            </a:pPr>
            <a:r>
              <a:rPr lang="zh-CN" altLang="en-US" sz="2000" dirty="0">
                <a:latin typeface="Arial" pitchFamily="34" charset="0"/>
                <a:ea typeface="黑体" pitchFamily="2" charset="-122"/>
              </a:rPr>
              <a:t>通过启发式算法对参数进行求解，比较不同启发式算法下决策的成本变化，利用敏感性分析对参数进行</a:t>
            </a:r>
            <a:r>
              <a:rPr lang="zh-CN" altLang="en-US" sz="2000" dirty="0" smtClean="0">
                <a:latin typeface="Arial" pitchFamily="34" charset="0"/>
                <a:ea typeface="黑体" pitchFamily="2" charset="-122"/>
              </a:rPr>
              <a:t>比较；</a:t>
            </a:r>
            <a:endParaRPr lang="en-US" altLang="zh-CN" sz="2000" dirty="0" smtClean="0">
              <a:latin typeface="Arial" pitchFamily="34" charset="0"/>
              <a:ea typeface="黑体" pitchFamily="2" charset="-122"/>
            </a:endParaRPr>
          </a:p>
        </p:txBody>
      </p:sp>
      <p:sp>
        <p:nvSpPr>
          <p:cNvPr id="13" name="文本框 8">
            <a:extLst>
              <a:ext uri="{FF2B5EF4-FFF2-40B4-BE49-F238E27FC236}">
                <a16:creationId xmlns:a16="http://schemas.microsoft.com/office/drawing/2014/main" xmlns="" id="{4D9B6455-AA82-42A3-AC25-F020CA819BC0}"/>
              </a:ext>
            </a:extLst>
          </p:cNvPr>
          <p:cNvSpPr txBox="1"/>
          <p:nvPr/>
        </p:nvSpPr>
        <p:spPr>
          <a:xfrm>
            <a:off x="8258500" y="5673766"/>
            <a:ext cx="1826141" cy="338554"/>
          </a:xfrm>
          <a:prstGeom prst="rect">
            <a:avLst/>
          </a:prstGeom>
        </p:spPr>
        <p:txBody>
          <a:bodyPr wrap="none">
            <a:spAutoFit/>
          </a:bodyPr>
          <a:lstStyle>
            <a:defPPr>
              <a:defRPr lang="en-US"/>
            </a:defPPr>
            <a:lvl1pPr>
              <a:defRPr sz="1600"/>
            </a:lvl1pPr>
          </a:lstStyle>
          <a:p>
            <a:r>
              <a:rPr lang="zh-CN" altLang="en-US" dirty="0" smtClean="0">
                <a:latin typeface="黑体" panose="02010609060101010101" pitchFamily="49" charset="-122"/>
                <a:ea typeface="黑体" panose="02010609060101010101" pitchFamily="49" charset="-122"/>
              </a:rPr>
              <a:t>图</a:t>
            </a:r>
            <a:r>
              <a:rPr lang="en-US" altLang="zh-CN" dirty="0" smtClean="0">
                <a:latin typeface="黑体" panose="02010609060101010101" pitchFamily="49" charset="-122"/>
                <a:ea typeface="黑体" panose="02010609060101010101" pitchFamily="49" charset="-122"/>
              </a:rPr>
              <a:t>2 </a:t>
            </a:r>
            <a:r>
              <a:rPr lang="zh-CN" altLang="en-US" dirty="0" smtClean="0">
                <a:latin typeface="黑体" panose="02010609060101010101" pitchFamily="49" charset="-122"/>
                <a:ea typeface="黑体" panose="02010609060101010101" pitchFamily="49" charset="-122"/>
              </a:rPr>
              <a:t>订单履约过程</a:t>
            </a:r>
            <a:endParaRPr lang="zh-CN" altLang="en-US" dirty="0">
              <a:latin typeface="黑体" panose="02010609060101010101" pitchFamily="49" charset="-122"/>
              <a:ea typeface="黑体" panose="02010609060101010101" pitchFamily="49" charset="-122"/>
            </a:endParaRPr>
          </a:p>
        </p:txBody>
      </p:sp>
      <p:sp>
        <p:nvSpPr>
          <p:cNvPr id="14" name="TextBox 13"/>
          <p:cNvSpPr txBox="1"/>
          <p:nvPr/>
        </p:nvSpPr>
        <p:spPr>
          <a:xfrm>
            <a:off x="3880882" y="1158955"/>
            <a:ext cx="7389643" cy="4001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dirty="0" smtClean="0">
                <a:solidFill>
                  <a:srgbClr val="FF0000"/>
                </a:solidFill>
                <a:latin typeface="黑体" panose="02010609060101010101" pitchFamily="49" charset="-122"/>
                <a:ea typeface="黑体" panose="02010609060101010101" pitchFamily="49" charset="-122"/>
              </a:rPr>
              <a:t>详细描述研究的问题，以及问题的边界和规模，主要研究内容。</a:t>
            </a:r>
            <a:endParaRPr lang="zh-CN" altLang="en-US" sz="2000" dirty="0">
              <a:solidFill>
                <a:srgbClr val="FF0000"/>
              </a:solidFill>
              <a:latin typeface="黑体" panose="02010609060101010101" pitchFamily="49" charset="-122"/>
              <a:ea typeface="黑体" panose="02010609060101010101" pitchFamily="49" charset="-122"/>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6349" y="3513175"/>
            <a:ext cx="4545307" cy="16069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82032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xmlns="" id="{8FB89285-1071-432D-9845-1C0438ABAF86}"/>
              </a:ext>
            </a:extLst>
          </p:cNvPr>
          <p:cNvSpPr>
            <a:spLocks noGrp="1"/>
          </p:cNvSpPr>
          <p:nvPr>
            <p:ph type="title"/>
          </p:nvPr>
        </p:nvSpPr>
        <p:spPr/>
        <p:txBody>
          <a:bodyPr/>
          <a:lstStyle/>
          <a:p>
            <a:r>
              <a:rPr lang="zh-CN" altLang="en-US" dirty="0" smtClean="0"/>
              <a:t>研究内容</a:t>
            </a:r>
            <a:endParaRPr lang="zh-CN" altLang="en-US" dirty="0"/>
          </a:p>
        </p:txBody>
      </p:sp>
      <p:sp>
        <p:nvSpPr>
          <p:cNvPr id="4" name="内容占位符 3">
            <a:extLst>
              <a:ext uri="{FF2B5EF4-FFF2-40B4-BE49-F238E27FC236}">
                <a16:creationId xmlns:a16="http://schemas.microsoft.com/office/drawing/2014/main" xmlns="" id="{B85DFDEF-A356-4F18-B4E1-3BA7580484A5}"/>
              </a:ext>
            </a:extLst>
          </p:cNvPr>
          <p:cNvSpPr>
            <a:spLocks noGrp="1"/>
          </p:cNvSpPr>
          <p:nvPr>
            <p:ph idx="1"/>
          </p:nvPr>
        </p:nvSpPr>
        <p:spPr/>
        <p:txBody>
          <a:bodyPr/>
          <a:lstStyle/>
          <a:p>
            <a:pPr>
              <a:spcBef>
                <a:spcPts val="1200"/>
              </a:spcBef>
              <a:spcAft>
                <a:spcPts val="1200"/>
              </a:spcAft>
            </a:pPr>
            <a:r>
              <a:rPr lang="zh-CN" altLang="en-US" dirty="0"/>
              <a:t>研究</a:t>
            </a:r>
            <a:r>
              <a:rPr lang="zh-CN" altLang="en-US" dirty="0" smtClean="0"/>
              <a:t>意义</a:t>
            </a:r>
            <a:endParaRPr lang="en-US" altLang="zh-CN" dirty="0"/>
          </a:p>
          <a:p>
            <a:pPr marL="471487" lvl="1" indent="540000">
              <a:buNone/>
            </a:pPr>
            <a:r>
              <a:rPr lang="zh-CN" altLang="en-US" dirty="0" smtClean="0"/>
              <a:t>在</a:t>
            </a:r>
            <a:r>
              <a:rPr lang="zh-CN" altLang="en-US" dirty="0"/>
              <a:t>订单取消率不断提高的今天，如何平衡订单取消带来的成本压力与提高服务水平的竞争压力是面对电商平台的一个重要问题。目前，电商平台普遍采用的履约方式是订单到达时直接将订单下单。通过策略的选择在保持服务水平的前提下降低成本是电商平台迫切的需求</a:t>
            </a:r>
            <a:r>
              <a:rPr lang="zh-CN" altLang="en-US" dirty="0" smtClean="0"/>
              <a:t>。</a:t>
            </a:r>
            <a:endParaRPr lang="en-US" altLang="zh-CN" dirty="0" smtClean="0"/>
          </a:p>
          <a:p>
            <a:pPr marL="471487" lvl="1" indent="540000">
              <a:buNone/>
            </a:pPr>
            <a:endParaRPr lang="en-US" altLang="zh-CN" dirty="0"/>
          </a:p>
          <a:p>
            <a:pPr>
              <a:spcBef>
                <a:spcPts val="1200"/>
              </a:spcBef>
              <a:spcAft>
                <a:spcPts val="1200"/>
              </a:spcAft>
            </a:pPr>
            <a:r>
              <a:rPr lang="zh-CN" altLang="en-US" kern="1200" dirty="0"/>
              <a:t>课题目标</a:t>
            </a:r>
            <a:endParaRPr lang="en-US" altLang="zh-CN" kern="1200" dirty="0"/>
          </a:p>
          <a:p>
            <a:pPr marL="471487" lvl="1" indent="540000">
              <a:buNone/>
            </a:pPr>
            <a:r>
              <a:rPr lang="zh-CN" altLang="en-US" dirty="0"/>
              <a:t>课题对某电商平台的订单履约过程进行问题描述和建模，并进行优化、求解和验证，开发订单履约优化小软件，帮助企业解决因订单取消而造成的成本上升问题。</a:t>
            </a:r>
            <a:endParaRPr lang="en-US" altLang="zh-CN" dirty="0"/>
          </a:p>
          <a:p>
            <a:pPr marL="471487" lvl="1" indent="540000">
              <a:buNone/>
            </a:pPr>
            <a:endParaRPr lang="en-US" altLang="zh-CN" dirty="0"/>
          </a:p>
          <a:p>
            <a:pPr marL="0" indent="0">
              <a:buNone/>
            </a:pPr>
            <a:endParaRPr lang="en-US" altLang="zh-CN" dirty="0"/>
          </a:p>
          <a:p>
            <a:endParaRPr lang="en-US" altLang="zh-CN" dirty="0"/>
          </a:p>
          <a:p>
            <a:pPr marL="0" indent="0">
              <a:buNone/>
            </a:pPr>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r>
              <a:rPr lang="en-US" altLang="zh-CN" dirty="0"/>
              <a:t>	</a:t>
            </a:r>
          </a:p>
          <a:p>
            <a:endParaRPr lang="zh-CN" altLang="en-US" dirty="0"/>
          </a:p>
        </p:txBody>
      </p:sp>
      <p:sp>
        <p:nvSpPr>
          <p:cNvPr id="5" name="内容占位符 4">
            <a:extLst>
              <a:ext uri="{FF2B5EF4-FFF2-40B4-BE49-F238E27FC236}">
                <a16:creationId xmlns:a16="http://schemas.microsoft.com/office/drawing/2014/main" xmlns="" id="{A7102310-2ED5-4FBA-827D-B7F6BD435693}"/>
              </a:ext>
            </a:extLst>
          </p:cNvPr>
          <p:cNvSpPr>
            <a:spLocks noGrp="1"/>
          </p:cNvSpPr>
          <p:nvPr>
            <p:ph idx="12"/>
          </p:nvPr>
        </p:nvSpPr>
        <p:spPr/>
        <p:txBody>
          <a:bodyPr/>
          <a:lstStyle/>
          <a:p>
            <a:endParaRPr lang="zh-CN" altLang="en-US" dirty="0"/>
          </a:p>
        </p:txBody>
      </p:sp>
      <p:sp>
        <p:nvSpPr>
          <p:cNvPr id="6" name="灯片编号占位符 5">
            <a:extLst>
              <a:ext uri="{FF2B5EF4-FFF2-40B4-BE49-F238E27FC236}">
                <a16:creationId xmlns:a16="http://schemas.microsoft.com/office/drawing/2014/main" xmlns="" id="{FABEFEDD-634F-4F6D-A529-A28AC85AF840}"/>
              </a:ext>
            </a:extLst>
          </p:cNvPr>
          <p:cNvSpPr>
            <a:spLocks noGrp="1"/>
          </p:cNvSpPr>
          <p:nvPr>
            <p:ph type="sldNum" sz="quarter" idx="11"/>
          </p:nvPr>
        </p:nvSpPr>
        <p:spPr/>
        <p:txBody>
          <a:bodyPr/>
          <a:lstStyle/>
          <a:p>
            <a:fld id="{FD7D2133-84E4-4D49-B786-7B5C0B54D116}" type="slidenum">
              <a:rPr lang="zh-CN" altLang="en-US" smtClean="0"/>
              <a:t>5</a:t>
            </a:fld>
            <a:endParaRPr lang="zh-CN" altLang="en-US"/>
          </a:p>
        </p:txBody>
      </p:sp>
      <p:sp>
        <p:nvSpPr>
          <p:cNvPr id="10" name="TextBox 9"/>
          <p:cNvSpPr txBox="1"/>
          <p:nvPr/>
        </p:nvSpPr>
        <p:spPr>
          <a:xfrm>
            <a:off x="6379536" y="1214090"/>
            <a:ext cx="4657058" cy="4001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dirty="0" smtClean="0">
                <a:solidFill>
                  <a:srgbClr val="FF0000"/>
                </a:solidFill>
                <a:latin typeface="黑体" panose="02010609060101010101" pitchFamily="49" charset="-122"/>
                <a:ea typeface="黑体" panose="02010609060101010101" pitchFamily="49" charset="-122"/>
              </a:rPr>
              <a:t>简单介绍课题研究的意义</a:t>
            </a:r>
            <a:r>
              <a:rPr lang="zh-CN" altLang="en-US" sz="2000" dirty="0">
                <a:solidFill>
                  <a:srgbClr val="FF0000"/>
                </a:solidFill>
                <a:latin typeface="黑体" panose="02010609060101010101" pitchFamily="49" charset="-122"/>
                <a:ea typeface="黑体" panose="02010609060101010101" pitchFamily="49" charset="-122"/>
              </a:rPr>
              <a:t>和</a:t>
            </a:r>
            <a:r>
              <a:rPr lang="zh-CN" altLang="en-US" sz="2000" dirty="0" smtClean="0">
                <a:solidFill>
                  <a:srgbClr val="FF0000"/>
                </a:solidFill>
                <a:latin typeface="黑体" panose="02010609060101010101" pitchFamily="49" charset="-122"/>
                <a:ea typeface="黑体" panose="02010609060101010101" pitchFamily="49" charset="-122"/>
              </a:rPr>
              <a:t>研究目标。</a:t>
            </a:r>
            <a:endParaRPr lang="zh-CN" altLang="en-US" sz="2000" dirty="0">
              <a:solidFill>
                <a:srgbClr val="FF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812509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xmlns="" id="{8FB89285-1071-432D-9845-1C0438ABAF86}"/>
              </a:ext>
            </a:extLst>
          </p:cNvPr>
          <p:cNvSpPr>
            <a:spLocks noGrp="1"/>
          </p:cNvSpPr>
          <p:nvPr>
            <p:ph type="title"/>
          </p:nvPr>
        </p:nvSpPr>
        <p:spPr/>
        <p:txBody>
          <a:bodyPr/>
          <a:lstStyle/>
          <a:p>
            <a:r>
              <a:rPr lang="zh-CN" altLang="en-US" dirty="0" smtClean="0"/>
              <a:t>文献调研</a:t>
            </a:r>
            <a:endParaRPr lang="zh-CN" altLang="en-US" dirty="0"/>
          </a:p>
        </p:txBody>
      </p:sp>
      <p:sp>
        <p:nvSpPr>
          <p:cNvPr id="4" name="内容占位符 3">
            <a:extLst>
              <a:ext uri="{FF2B5EF4-FFF2-40B4-BE49-F238E27FC236}">
                <a16:creationId xmlns:a16="http://schemas.microsoft.com/office/drawing/2014/main" xmlns="" id="{B85DFDEF-A356-4F18-B4E1-3BA7580484A5}"/>
              </a:ext>
            </a:extLst>
          </p:cNvPr>
          <p:cNvSpPr>
            <a:spLocks noGrp="1"/>
          </p:cNvSpPr>
          <p:nvPr>
            <p:ph idx="1"/>
          </p:nvPr>
        </p:nvSpPr>
        <p:spPr/>
        <p:txBody>
          <a:bodyPr/>
          <a:lstStyle/>
          <a:p>
            <a:pPr>
              <a:spcBef>
                <a:spcPts val="1200"/>
              </a:spcBef>
              <a:spcAft>
                <a:spcPts val="1200"/>
              </a:spcAft>
            </a:pPr>
            <a:r>
              <a:rPr lang="zh-CN" altLang="en-US" dirty="0"/>
              <a:t>随机优化问题模型</a:t>
            </a:r>
            <a:endParaRPr lang="en-US" altLang="zh-CN" dirty="0"/>
          </a:p>
          <a:p>
            <a:pPr lvl="1"/>
            <a:r>
              <a:rPr lang="en-US" altLang="zh-CN" dirty="0"/>
              <a:t>Powell</a:t>
            </a:r>
            <a:r>
              <a:rPr lang="zh-CN" altLang="en-US" dirty="0"/>
              <a:t>（</a:t>
            </a:r>
            <a:r>
              <a:rPr lang="en-US" altLang="zh-CN" dirty="0"/>
              <a:t>2019</a:t>
            </a:r>
            <a:r>
              <a:rPr lang="zh-CN" altLang="en-US" dirty="0"/>
              <a:t>）在论文中总结了随机优化的常见模型及描述方式，适应的问题以及常见的求解方法。本问题中，我们将主要使用马尔可夫决策过程的方式建立模型，并利用成本函数近似的方式优化策略。</a:t>
            </a:r>
            <a:endParaRPr lang="en-US" altLang="zh-CN" dirty="0"/>
          </a:p>
          <a:p>
            <a:pPr lvl="1"/>
            <a:r>
              <a:rPr lang="en-US" altLang="zh-CN" dirty="0"/>
              <a:t>Bellman</a:t>
            </a:r>
            <a:r>
              <a:rPr lang="zh-CN" altLang="en-US" dirty="0"/>
              <a:t>（</a:t>
            </a:r>
            <a:r>
              <a:rPr lang="en-US" altLang="zh-CN" dirty="0"/>
              <a:t>1957</a:t>
            </a:r>
            <a:r>
              <a:rPr lang="zh-CN" altLang="en-US" dirty="0"/>
              <a:t>）提出了马尔可夫决策过程，</a:t>
            </a:r>
            <a:r>
              <a:rPr lang="en-US" altLang="zh-CN" dirty="0"/>
              <a:t>Howard</a:t>
            </a:r>
            <a:r>
              <a:rPr lang="zh-CN" altLang="en-US" dirty="0"/>
              <a:t>（</a:t>
            </a:r>
            <a:r>
              <a:rPr lang="en-US" altLang="zh-CN" dirty="0"/>
              <a:t>1960</a:t>
            </a:r>
            <a:r>
              <a:rPr lang="zh-CN" altLang="en-US" dirty="0"/>
              <a:t>）继续了这一工作，</a:t>
            </a:r>
            <a:r>
              <a:rPr lang="en-US" altLang="zh-CN" dirty="0"/>
              <a:t> </a:t>
            </a:r>
            <a:r>
              <a:rPr lang="en-US" altLang="zh-CN" dirty="0" err="1"/>
              <a:t>Puterman</a:t>
            </a:r>
            <a:r>
              <a:rPr lang="zh-CN" altLang="en-US" dirty="0"/>
              <a:t>（</a:t>
            </a:r>
            <a:r>
              <a:rPr lang="en-US" altLang="zh-CN" dirty="0"/>
              <a:t>2005</a:t>
            </a:r>
            <a:r>
              <a:rPr lang="zh-CN" altLang="en-US" dirty="0"/>
              <a:t>）关于马尔可夫决策过程的书籍在之后被广泛引用。</a:t>
            </a:r>
            <a:endParaRPr lang="en-US" altLang="zh-CN" dirty="0"/>
          </a:p>
          <a:p>
            <a:pPr>
              <a:spcBef>
                <a:spcPts val="1200"/>
              </a:spcBef>
              <a:spcAft>
                <a:spcPts val="1200"/>
              </a:spcAft>
            </a:pPr>
            <a:r>
              <a:rPr lang="zh-CN" altLang="en-US" dirty="0"/>
              <a:t>成本函数近似</a:t>
            </a:r>
            <a:endParaRPr lang="en-US" altLang="zh-CN" dirty="0"/>
          </a:p>
          <a:p>
            <a:pPr marL="781050" lvl="1" indent="-342900"/>
            <a:r>
              <a:rPr lang="en-US" altLang="zh-CN" dirty="0"/>
              <a:t>Powell (2019) </a:t>
            </a:r>
            <a:r>
              <a:rPr lang="zh-CN" altLang="en-US" dirty="0"/>
              <a:t>的论文中总结了成本函数近似（</a:t>
            </a:r>
            <a:r>
              <a:rPr lang="en-US" altLang="zh-CN" dirty="0"/>
              <a:t>Cost function approximation, CFA</a:t>
            </a:r>
            <a:r>
              <a:rPr lang="zh-CN" altLang="en-US" dirty="0"/>
              <a:t>）、值函数近似（</a:t>
            </a:r>
            <a:r>
              <a:rPr lang="en-US" altLang="zh-CN" dirty="0"/>
              <a:t>Value function approximations, VFA</a:t>
            </a:r>
            <a:r>
              <a:rPr lang="zh-CN" altLang="en-US" dirty="0"/>
              <a:t>）、策略函数近似（</a:t>
            </a:r>
            <a:r>
              <a:rPr lang="en-US" altLang="zh-CN" dirty="0"/>
              <a:t>Policy function approximations, PLA</a:t>
            </a:r>
            <a:r>
              <a:rPr lang="zh-CN" altLang="en-US" dirty="0"/>
              <a:t>）</a:t>
            </a:r>
            <a:r>
              <a:rPr lang="en-US" altLang="zh-CN" dirty="0"/>
              <a:t> </a:t>
            </a:r>
            <a:r>
              <a:rPr lang="zh-CN" altLang="en-US" dirty="0"/>
              <a:t>和直接前瞻近似（</a:t>
            </a:r>
            <a:r>
              <a:rPr lang="en-US" altLang="zh-CN" dirty="0"/>
              <a:t>Direct lookahead, DLA</a:t>
            </a:r>
            <a:r>
              <a:rPr lang="zh-CN" altLang="en-US" dirty="0"/>
              <a:t>）的方法。</a:t>
            </a:r>
            <a:endParaRPr lang="en-US" altLang="zh-CN" dirty="0"/>
          </a:p>
          <a:p>
            <a:pPr marL="781050" lvl="1" indent="-342900"/>
            <a:r>
              <a:rPr lang="zh-CN" altLang="en-US" dirty="0"/>
              <a:t>在面对非确定性的问题时，</a:t>
            </a:r>
            <a:r>
              <a:rPr lang="en-US" altLang="zh-CN" dirty="0"/>
              <a:t>Perkins </a:t>
            </a:r>
            <a:r>
              <a:rPr lang="zh-CN" altLang="en-US" dirty="0"/>
              <a:t>和 </a:t>
            </a:r>
            <a:r>
              <a:rPr lang="en-US" altLang="zh-CN" dirty="0"/>
              <a:t>Powell </a:t>
            </a:r>
            <a:r>
              <a:rPr lang="zh-CN" altLang="en-US" dirty="0"/>
              <a:t>（</a:t>
            </a:r>
            <a:r>
              <a:rPr lang="en-US" altLang="zh-CN" dirty="0"/>
              <a:t>2017</a:t>
            </a:r>
            <a:r>
              <a:rPr lang="zh-CN" altLang="en-US" dirty="0"/>
              <a:t>）提出了成本函数近似的方法。分别介绍了成本函数近似的具体内容，适用模型以及求解方法。提出了梯度下降等求解方法</a:t>
            </a:r>
            <a:r>
              <a:rPr lang="zh-CN" altLang="en-US" dirty="0" smtClean="0"/>
              <a:t>。</a:t>
            </a:r>
            <a:endParaRPr lang="en-US" altLang="zh-CN" dirty="0"/>
          </a:p>
          <a:p>
            <a:pPr marL="0" indent="0">
              <a:buNone/>
            </a:pPr>
            <a:endParaRPr lang="en-US" altLang="zh-CN" dirty="0"/>
          </a:p>
          <a:p>
            <a:endParaRPr lang="en-US" altLang="zh-CN" dirty="0"/>
          </a:p>
          <a:p>
            <a:pPr marL="0" indent="0">
              <a:buNone/>
            </a:pPr>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r>
              <a:rPr lang="en-US" altLang="zh-CN" dirty="0"/>
              <a:t>	</a:t>
            </a:r>
          </a:p>
          <a:p>
            <a:endParaRPr lang="zh-CN" altLang="en-US" dirty="0"/>
          </a:p>
        </p:txBody>
      </p:sp>
      <p:sp>
        <p:nvSpPr>
          <p:cNvPr id="5" name="内容占位符 4">
            <a:extLst>
              <a:ext uri="{FF2B5EF4-FFF2-40B4-BE49-F238E27FC236}">
                <a16:creationId xmlns:a16="http://schemas.microsoft.com/office/drawing/2014/main" xmlns="" id="{A7102310-2ED5-4FBA-827D-B7F6BD435693}"/>
              </a:ext>
            </a:extLst>
          </p:cNvPr>
          <p:cNvSpPr>
            <a:spLocks noGrp="1"/>
          </p:cNvSpPr>
          <p:nvPr>
            <p:ph idx="12"/>
          </p:nvPr>
        </p:nvSpPr>
        <p:spPr/>
        <p:txBody>
          <a:bodyPr/>
          <a:lstStyle/>
          <a:p>
            <a:endParaRPr lang="zh-CN" altLang="en-US" dirty="0"/>
          </a:p>
        </p:txBody>
      </p:sp>
      <p:sp>
        <p:nvSpPr>
          <p:cNvPr id="6" name="灯片编号占位符 5">
            <a:extLst>
              <a:ext uri="{FF2B5EF4-FFF2-40B4-BE49-F238E27FC236}">
                <a16:creationId xmlns:a16="http://schemas.microsoft.com/office/drawing/2014/main" xmlns="" id="{2D9CA344-95AA-4060-94A7-F32D7F7FC382}"/>
              </a:ext>
            </a:extLst>
          </p:cNvPr>
          <p:cNvSpPr>
            <a:spLocks noGrp="1"/>
          </p:cNvSpPr>
          <p:nvPr>
            <p:ph type="sldNum" sz="quarter" idx="11"/>
          </p:nvPr>
        </p:nvSpPr>
        <p:spPr/>
        <p:txBody>
          <a:bodyPr/>
          <a:lstStyle/>
          <a:p>
            <a:fld id="{FD7D2133-84E4-4D49-B786-7B5C0B54D116}" type="slidenum">
              <a:rPr lang="zh-CN" altLang="en-US" smtClean="0"/>
              <a:t>6</a:t>
            </a:fld>
            <a:endParaRPr lang="zh-CN" altLang="en-US" dirty="0"/>
          </a:p>
        </p:txBody>
      </p:sp>
      <p:sp>
        <p:nvSpPr>
          <p:cNvPr id="7" name="TextBox 6"/>
          <p:cNvSpPr txBox="1"/>
          <p:nvPr/>
        </p:nvSpPr>
        <p:spPr>
          <a:xfrm>
            <a:off x="5400519" y="1063262"/>
            <a:ext cx="5838095"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dirty="0">
                <a:solidFill>
                  <a:srgbClr val="FF0000"/>
                </a:solidFill>
                <a:latin typeface="黑体" panose="02010609060101010101" pitchFamily="49" charset="-122"/>
                <a:ea typeface="黑体" panose="02010609060101010101" pitchFamily="49" charset="-122"/>
              </a:rPr>
              <a:t>围绕研究课题</a:t>
            </a:r>
            <a:r>
              <a:rPr lang="zh-CN" altLang="en-US" sz="2000" dirty="0" smtClean="0">
                <a:solidFill>
                  <a:srgbClr val="FF0000"/>
                </a:solidFill>
                <a:latin typeface="黑体" panose="02010609060101010101" pitchFamily="49" charset="-122"/>
                <a:ea typeface="黑体" panose="02010609060101010101" pitchFamily="49" charset="-122"/>
              </a:rPr>
              <a:t>，查阅</a:t>
            </a:r>
            <a:r>
              <a:rPr lang="zh-CN" altLang="en-US" sz="2000" dirty="0">
                <a:solidFill>
                  <a:srgbClr val="FF0000"/>
                </a:solidFill>
                <a:latin typeface="黑体" panose="02010609060101010101" pitchFamily="49" charset="-122"/>
                <a:ea typeface="黑体" panose="02010609060101010101" pitchFamily="49" charset="-122"/>
              </a:rPr>
              <a:t>文献资料，总结与课题相关的现有知识、</a:t>
            </a:r>
            <a:r>
              <a:rPr lang="zh-CN" altLang="en-US" sz="2000" dirty="0" smtClean="0">
                <a:solidFill>
                  <a:srgbClr val="FF0000"/>
                </a:solidFill>
                <a:latin typeface="黑体" panose="02010609060101010101" pitchFamily="49" charset="-122"/>
                <a:ea typeface="黑体" panose="02010609060101010101" pitchFamily="49" charset="-122"/>
              </a:rPr>
              <a:t>技术、方法，以及对研究问题的帮助。</a:t>
            </a:r>
            <a:endParaRPr lang="zh-CN" altLang="en-US" sz="2000" dirty="0">
              <a:solidFill>
                <a:srgbClr val="FF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0249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xmlns="" id="{8FB89285-1071-432D-9845-1C0438ABAF86}"/>
              </a:ext>
            </a:extLst>
          </p:cNvPr>
          <p:cNvSpPr>
            <a:spLocks noGrp="1"/>
          </p:cNvSpPr>
          <p:nvPr>
            <p:ph type="title"/>
          </p:nvPr>
        </p:nvSpPr>
        <p:spPr/>
        <p:txBody>
          <a:bodyPr/>
          <a:lstStyle/>
          <a:p>
            <a:r>
              <a:rPr lang="zh-CN" altLang="en-US" dirty="0"/>
              <a:t>实施方案</a:t>
            </a:r>
          </a:p>
        </p:txBody>
      </p:sp>
      <p:sp>
        <p:nvSpPr>
          <p:cNvPr id="14" name="内容占位符 13">
            <a:extLst>
              <a:ext uri="{FF2B5EF4-FFF2-40B4-BE49-F238E27FC236}">
                <a16:creationId xmlns:a16="http://schemas.microsoft.com/office/drawing/2014/main" xmlns="" id="{D6A975D6-4176-473C-8EC9-7D8966EB3607}"/>
              </a:ext>
            </a:extLst>
          </p:cNvPr>
          <p:cNvSpPr>
            <a:spLocks noGrp="1"/>
          </p:cNvSpPr>
          <p:nvPr>
            <p:ph idx="13"/>
          </p:nvPr>
        </p:nvSpPr>
        <p:spPr/>
        <p:txBody>
          <a:bodyPr/>
          <a:lstStyle/>
          <a:p>
            <a:endParaRPr lang="zh-CN" altLang="en-US" dirty="0"/>
          </a:p>
        </p:txBody>
      </p:sp>
      <p:sp>
        <p:nvSpPr>
          <p:cNvPr id="16" name="灯片编号占位符 15">
            <a:extLst>
              <a:ext uri="{FF2B5EF4-FFF2-40B4-BE49-F238E27FC236}">
                <a16:creationId xmlns:a16="http://schemas.microsoft.com/office/drawing/2014/main" xmlns="" id="{E3598304-98D9-40AF-8B32-D327F3D1F633}"/>
              </a:ext>
            </a:extLst>
          </p:cNvPr>
          <p:cNvSpPr>
            <a:spLocks noGrp="1"/>
          </p:cNvSpPr>
          <p:nvPr>
            <p:ph type="sldNum" sz="quarter" idx="11"/>
          </p:nvPr>
        </p:nvSpPr>
        <p:spPr/>
        <p:txBody>
          <a:bodyPr/>
          <a:lstStyle/>
          <a:p>
            <a:fld id="{FD7D2133-84E4-4D49-B786-7B5C0B54D116}" type="slidenum">
              <a:rPr lang="zh-CN" altLang="en-US" smtClean="0"/>
              <a:t>7</a:t>
            </a:fld>
            <a:endParaRPr lang="zh-CN" altLang="en-US"/>
          </a:p>
        </p:txBody>
      </p:sp>
      <p:sp>
        <p:nvSpPr>
          <p:cNvPr id="11" name="内容占位符 3">
            <a:extLst>
              <a:ext uri="{FF2B5EF4-FFF2-40B4-BE49-F238E27FC236}">
                <a16:creationId xmlns:a16="http://schemas.microsoft.com/office/drawing/2014/main" xmlns="" id="{B85DFDEF-A356-4F18-B4E1-3BA7580484A5}"/>
              </a:ext>
            </a:extLst>
          </p:cNvPr>
          <p:cNvSpPr>
            <a:spLocks noGrp="1"/>
          </p:cNvSpPr>
          <p:nvPr>
            <p:ph idx="1"/>
          </p:nvPr>
        </p:nvSpPr>
        <p:spPr>
          <a:xfrm>
            <a:off x="755651" y="1143000"/>
            <a:ext cx="10668000" cy="5104800"/>
          </a:xfrm>
        </p:spPr>
        <p:txBody>
          <a:bodyPr/>
          <a:lstStyle/>
          <a:p>
            <a:r>
              <a:rPr lang="zh-CN" altLang="en-US" dirty="0" smtClean="0"/>
              <a:t>项目实施技术方案</a:t>
            </a:r>
            <a:endParaRPr lang="en-US" altLang="zh-CN" dirty="0"/>
          </a:p>
          <a:p>
            <a:pPr lvl="1"/>
            <a:endParaRPr lang="en-US" altLang="zh-CN" dirty="0"/>
          </a:p>
          <a:p>
            <a:pPr marL="471487" lvl="1" indent="0">
              <a:buNone/>
            </a:pPr>
            <a:endParaRPr lang="en-US" altLang="zh-CN" dirty="0"/>
          </a:p>
          <a:p>
            <a:pPr marL="0" indent="0">
              <a:buNone/>
            </a:pPr>
            <a:endParaRPr lang="en-US" altLang="zh-CN" dirty="0"/>
          </a:p>
          <a:p>
            <a:endParaRPr lang="en-US" altLang="zh-CN" dirty="0"/>
          </a:p>
          <a:p>
            <a:pPr marL="0" indent="0">
              <a:buNone/>
            </a:pPr>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r>
              <a:rPr lang="en-US" altLang="zh-CN" dirty="0"/>
              <a:t>	</a:t>
            </a:r>
          </a:p>
          <a:p>
            <a:endParaRPr lang="zh-CN" altLang="en-US" dirty="0"/>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074" y="2385792"/>
            <a:ext cx="10582829" cy="2447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a:off x="4536501" y="1190874"/>
            <a:ext cx="6595787" cy="4001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dirty="0" smtClean="0">
                <a:solidFill>
                  <a:srgbClr val="FF0000"/>
                </a:solidFill>
                <a:latin typeface="黑体" panose="02010609060101010101" pitchFamily="49" charset="-122"/>
                <a:ea typeface="黑体" panose="02010609060101010101" pitchFamily="49" charset="-122"/>
              </a:rPr>
              <a:t>梳理课题的研究</a:t>
            </a:r>
            <a:r>
              <a:rPr lang="zh-CN" altLang="en-US" sz="2000" dirty="0">
                <a:solidFill>
                  <a:srgbClr val="FF0000"/>
                </a:solidFill>
                <a:latin typeface="黑体" panose="02010609060101010101" pitchFamily="49" charset="-122"/>
                <a:ea typeface="黑体" panose="02010609060101010101" pitchFamily="49" charset="-122"/>
              </a:rPr>
              <a:t>路线</a:t>
            </a:r>
            <a:r>
              <a:rPr lang="zh-CN" altLang="en-US" sz="2000" dirty="0" smtClean="0">
                <a:solidFill>
                  <a:srgbClr val="FF0000"/>
                </a:solidFill>
                <a:latin typeface="黑体" panose="02010609060101010101" pitchFamily="49" charset="-122"/>
                <a:ea typeface="黑体" panose="02010609060101010101" pitchFamily="49" charset="-122"/>
              </a:rPr>
              <a:t>，项目实施技术方案，以及技术</a:t>
            </a:r>
            <a:r>
              <a:rPr lang="zh-CN" altLang="en-US" sz="2000" dirty="0">
                <a:solidFill>
                  <a:srgbClr val="FF0000"/>
                </a:solidFill>
                <a:latin typeface="黑体" panose="02010609060101010101" pitchFamily="49" charset="-122"/>
                <a:ea typeface="黑体" panose="02010609060101010101" pitchFamily="49" charset="-122"/>
              </a:rPr>
              <a:t>难点。</a:t>
            </a:r>
            <a:endParaRPr lang="en-US" altLang="zh-CN" sz="2000" dirty="0" smtClean="0">
              <a:solidFill>
                <a:srgbClr val="FF0000"/>
              </a:solidFill>
              <a:latin typeface="黑体" panose="02010609060101010101" pitchFamily="49" charset="-122"/>
              <a:ea typeface="黑体" panose="02010609060101010101" pitchFamily="49" charset="-122"/>
            </a:endParaRPr>
          </a:p>
        </p:txBody>
      </p:sp>
      <p:sp>
        <p:nvSpPr>
          <p:cNvPr id="17" name="矩形 16"/>
          <p:cNvSpPr/>
          <p:nvPr/>
        </p:nvSpPr>
        <p:spPr>
          <a:xfrm>
            <a:off x="5046480" y="5238514"/>
            <a:ext cx="2236510" cy="338554"/>
          </a:xfrm>
          <a:prstGeom prst="rect">
            <a:avLst/>
          </a:prstGeom>
        </p:spPr>
        <p:txBody>
          <a:bodyPr wrap="none">
            <a:spAutoFit/>
          </a:bodyPr>
          <a:lstStyle/>
          <a:p>
            <a:r>
              <a:rPr lang="zh-CN" altLang="en-US" sz="1600" dirty="0" smtClean="0">
                <a:latin typeface="黑体" panose="02010609060101010101" pitchFamily="49" charset="-122"/>
                <a:ea typeface="黑体" panose="02010609060101010101" pitchFamily="49" charset="-122"/>
              </a:rPr>
              <a:t>图</a:t>
            </a:r>
            <a:r>
              <a:rPr lang="en-US" altLang="zh-CN" sz="1600" dirty="0" smtClean="0">
                <a:latin typeface="黑体" panose="02010609060101010101" pitchFamily="49" charset="-122"/>
                <a:ea typeface="黑体" panose="02010609060101010101" pitchFamily="49" charset="-122"/>
              </a:rPr>
              <a:t>3 </a:t>
            </a:r>
            <a:r>
              <a:rPr lang="zh-CN" altLang="en-US" sz="1600" dirty="0" smtClean="0">
                <a:latin typeface="黑体" panose="02010609060101010101" pitchFamily="49" charset="-122"/>
                <a:ea typeface="黑体" panose="02010609060101010101" pitchFamily="49" charset="-122"/>
              </a:rPr>
              <a:t>项目实施技术方案</a:t>
            </a:r>
            <a:endParaRPr lang="zh-CN" altLang="en-US" sz="16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085496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xmlns="" id="{8FB89285-1071-432D-9845-1C0438ABAF86}"/>
              </a:ext>
            </a:extLst>
          </p:cNvPr>
          <p:cNvSpPr>
            <a:spLocks noGrp="1"/>
          </p:cNvSpPr>
          <p:nvPr>
            <p:ph type="title"/>
          </p:nvPr>
        </p:nvSpPr>
        <p:spPr/>
        <p:txBody>
          <a:bodyPr/>
          <a:lstStyle/>
          <a:p>
            <a:r>
              <a:rPr lang="zh-CN" altLang="en-US" dirty="0"/>
              <a:t>实施方案</a:t>
            </a:r>
          </a:p>
        </p:txBody>
      </p:sp>
      <p:sp>
        <p:nvSpPr>
          <p:cNvPr id="4" name="内容占位符 3">
            <a:extLst>
              <a:ext uri="{FF2B5EF4-FFF2-40B4-BE49-F238E27FC236}">
                <a16:creationId xmlns:a16="http://schemas.microsoft.com/office/drawing/2014/main" xmlns="" id="{B85DFDEF-A356-4F18-B4E1-3BA7580484A5}"/>
              </a:ext>
            </a:extLst>
          </p:cNvPr>
          <p:cNvSpPr>
            <a:spLocks noGrp="1"/>
          </p:cNvSpPr>
          <p:nvPr>
            <p:ph idx="1"/>
          </p:nvPr>
        </p:nvSpPr>
        <p:spPr/>
        <p:txBody>
          <a:bodyPr/>
          <a:lstStyle/>
          <a:p>
            <a:pPr>
              <a:spcBef>
                <a:spcPts val="1200"/>
              </a:spcBef>
              <a:spcAft>
                <a:spcPts val="1200"/>
              </a:spcAft>
            </a:pPr>
            <a:r>
              <a:rPr lang="zh-CN" altLang="en-US" dirty="0"/>
              <a:t>实施</a:t>
            </a:r>
            <a:r>
              <a:rPr lang="zh-CN" altLang="en-US" dirty="0" smtClean="0"/>
              <a:t>方案详细内容</a:t>
            </a:r>
            <a:endParaRPr lang="en-US" altLang="zh-CN" dirty="0"/>
          </a:p>
          <a:p>
            <a:pPr lvl="1">
              <a:spcBef>
                <a:spcPts val="600"/>
              </a:spcBef>
              <a:spcAft>
                <a:spcPts val="600"/>
              </a:spcAft>
            </a:pPr>
            <a:r>
              <a:rPr lang="zh-CN" altLang="en-US" dirty="0"/>
              <a:t>文献</a:t>
            </a:r>
            <a:r>
              <a:rPr lang="zh-CN" altLang="en-US" dirty="0" smtClean="0"/>
              <a:t>研究</a:t>
            </a:r>
            <a:endParaRPr lang="en-US" altLang="zh-CN" dirty="0" smtClean="0"/>
          </a:p>
          <a:p>
            <a:pPr marL="471487" lvl="1" indent="457200">
              <a:spcBef>
                <a:spcPts val="600"/>
              </a:spcBef>
              <a:spcAft>
                <a:spcPts val="600"/>
              </a:spcAft>
              <a:buNone/>
            </a:pPr>
            <a:r>
              <a:rPr lang="zh-CN" altLang="en-US" dirty="0" smtClean="0">
                <a:latin typeface="宋体" panose="02010600030101010101" pitchFamily="2" charset="-122"/>
                <a:ea typeface="宋体" panose="02010600030101010101" pitchFamily="2" charset="-122"/>
              </a:rPr>
              <a:t>研究从文献研究开始，归纳学习订单履约问题的多种模型和求解方法，利用马尔可夫决策过程分析并总结问题的状态变量、决策变量、外生信息、转移函数及目标函数。</a:t>
            </a:r>
            <a:endParaRPr lang="en-US" altLang="zh-CN" dirty="0" smtClean="0">
              <a:latin typeface="宋体" panose="02010600030101010101" pitchFamily="2" charset="-122"/>
              <a:ea typeface="宋体" panose="02010600030101010101" pitchFamily="2" charset="-122"/>
            </a:endParaRPr>
          </a:p>
          <a:p>
            <a:pPr lvl="1">
              <a:spcBef>
                <a:spcPts val="600"/>
              </a:spcBef>
              <a:spcAft>
                <a:spcPts val="600"/>
              </a:spcAft>
            </a:pPr>
            <a:r>
              <a:rPr lang="zh-CN" altLang="en-US" dirty="0"/>
              <a:t>优化</a:t>
            </a:r>
            <a:r>
              <a:rPr lang="zh-CN" altLang="en-US" dirty="0" smtClean="0"/>
              <a:t>策略</a:t>
            </a:r>
            <a:endParaRPr lang="en-US" altLang="zh-CN" dirty="0" smtClean="0"/>
          </a:p>
          <a:p>
            <a:pPr marL="471487" lvl="1" indent="457200">
              <a:spcBef>
                <a:spcPts val="600"/>
              </a:spcBef>
              <a:spcAft>
                <a:spcPts val="600"/>
              </a:spcAft>
              <a:buNone/>
            </a:pPr>
            <a:r>
              <a:rPr lang="zh-CN" altLang="en-US" dirty="0">
                <a:latin typeface="宋体" panose="02010600030101010101" pitchFamily="2" charset="-122"/>
                <a:ea typeface="宋体" panose="02010600030101010101" pitchFamily="2" charset="-122"/>
              </a:rPr>
              <a:t>利用成本函数近似的方法优化策略，并利用</a:t>
            </a:r>
            <a:r>
              <a:rPr lang="en-US" altLang="zh-CN" dirty="0">
                <a:latin typeface="宋体" panose="02010600030101010101" pitchFamily="2" charset="-122"/>
                <a:ea typeface="宋体" panose="02010600030101010101" pitchFamily="2" charset="-122"/>
              </a:rPr>
              <a:t>OCBA </a:t>
            </a:r>
            <a:r>
              <a:rPr lang="zh-CN" altLang="en-US" dirty="0">
                <a:latin typeface="宋体" panose="02010600030101010101" pitchFamily="2" charset="-122"/>
                <a:ea typeface="宋体" panose="02010600030101010101" pitchFamily="2" charset="-122"/>
              </a:rPr>
              <a:t>等方法进行调参。并将结果与目前的策略进行对比，观察在优化后成本有无明显的下降。</a:t>
            </a:r>
          </a:p>
          <a:p>
            <a:pPr lvl="1">
              <a:spcBef>
                <a:spcPts val="600"/>
              </a:spcBef>
              <a:spcAft>
                <a:spcPts val="600"/>
              </a:spcAft>
            </a:pPr>
            <a:r>
              <a:rPr lang="zh-CN" altLang="en-US" dirty="0" smtClean="0"/>
              <a:t>算例</a:t>
            </a:r>
            <a:r>
              <a:rPr lang="zh-CN" altLang="en-US" dirty="0"/>
              <a:t>构建</a:t>
            </a:r>
          </a:p>
          <a:p>
            <a:pPr marL="471487" lvl="1" indent="457200">
              <a:spcBef>
                <a:spcPts val="600"/>
              </a:spcBef>
              <a:spcAft>
                <a:spcPts val="600"/>
              </a:spcAft>
              <a:buNone/>
            </a:pPr>
            <a:r>
              <a:rPr lang="zh-CN" altLang="en-US" dirty="0">
                <a:latin typeface="宋体" panose="02010600030101010101" pitchFamily="2" charset="-122"/>
                <a:ea typeface="宋体" panose="02010600030101010101" pitchFamily="2" charset="-122"/>
              </a:rPr>
              <a:t>从现实出发，构建算例，比较在同一算例下不同方法的成本大小。并对结果进行敏感性分析</a:t>
            </a:r>
            <a:r>
              <a:rPr lang="zh-CN" altLang="en-US" dirty="0" smtClean="0">
                <a:latin typeface="宋体" panose="02010600030101010101" pitchFamily="2" charset="-122"/>
                <a:ea typeface="宋体" panose="02010600030101010101" pitchFamily="2" charset="-122"/>
              </a:rPr>
              <a:t>。</a:t>
            </a:r>
            <a:endParaRPr lang="en-US" altLang="zh-CN" dirty="0" smtClean="0">
              <a:latin typeface="宋体" panose="02010600030101010101" pitchFamily="2" charset="-122"/>
              <a:ea typeface="宋体" panose="02010600030101010101" pitchFamily="2" charset="-122"/>
            </a:endParaRPr>
          </a:p>
          <a:p>
            <a:pPr marL="471487" lvl="1" indent="457200">
              <a:spcBef>
                <a:spcPts val="600"/>
              </a:spcBef>
              <a:spcAft>
                <a:spcPts val="600"/>
              </a:spcAft>
              <a:buNone/>
            </a:pPr>
            <a:r>
              <a:rPr lang="en-US" altLang="zh-CN" dirty="0" smtClean="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marL="471487" lvl="1" indent="0">
              <a:buNone/>
            </a:pPr>
            <a:endParaRPr lang="en-US" altLang="zh-CN" dirty="0"/>
          </a:p>
          <a:p>
            <a:pPr marL="0" indent="0">
              <a:buNone/>
            </a:pPr>
            <a:endParaRPr lang="en-US" altLang="zh-CN" dirty="0"/>
          </a:p>
          <a:p>
            <a:endParaRPr lang="en-US" altLang="zh-CN" dirty="0"/>
          </a:p>
          <a:p>
            <a:pPr marL="0" indent="0">
              <a:buNone/>
            </a:pPr>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r>
              <a:rPr lang="en-US" altLang="zh-CN" dirty="0"/>
              <a:t>	</a:t>
            </a:r>
          </a:p>
          <a:p>
            <a:endParaRPr lang="zh-CN" altLang="en-US" dirty="0"/>
          </a:p>
        </p:txBody>
      </p:sp>
      <p:sp>
        <p:nvSpPr>
          <p:cNvPr id="5" name="内容占位符 4">
            <a:extLst>
              <a:ext uri="{FF2B5EF4-FFF2-40B4-BE49-F238E27FC236}">
                <a16:creationId xmlns:a16="http://schemas.microsoft.com/office/drawing/2014/main" xmlns="" id="{A7102310-2ED5-4FBA-827D-B7F6BD435693}"/>
              </a:ext>
            </a:extLst>
          </p:cNvPr>
          <p:cNvSpPr>
            <a:spLocks noGrp="1"/>
          </p:cNvSpPr>
          <p:nvPr>
            <p:ph idx="12"/>
          </p:nvPr>
        </p:nvSpPr>
        <p:spPr/>
        <p:txBody>
          <a:bodyPr/>
          <a:lstStyle/>
          <a:p>
            <a:endParaRPr lang="zh-CN" altLang="en-US"/>
          </a:p>
        </p:txBody>
      </p:sp>
      <p:sp>
        <p:nvSpPr>
          <p:cNvPr id="6" name="灯片编号占位符 5">
            <a:extLst>
              <a:ext uri="{FF2B5EF4-FFF2-40B4-BE49-F238E27FC236}">
                <a16:creationId xmlns:a16="http://schemas.microsoft.com/office/drawing/2014/main" xmlns="" id="{FABEFEDD-634F-4F6D-A529-A28AC85AF840}"/>
              </a:ext>
            </a:extLst>
          </p:cNvPr>
          <p:cNvSpPr>
            <a:spLocks noGrp="1"/>
          </p:cNvSpPr>
          <p:nvPr>
            <p:ph type="sldNum" sz="quarter" idx="11"/>
          </p:nvPr>
        </p:nvSpPr>
        <p:spPr/>
        <p:txBody>
          <a:bodyPr/>
          <a:lstStyle/>
          <a:p>
            <a:fld id="{FD7D2133-84E4-4D49-B786-7B5C0B54D116}" type="slidenum">
              <a:rPr lang="zh-CN" altLang="en-US" smtClean="0"/>
              <a:t>8</a:t>
            </a:fld>
            <a:endParaRPr lang="zh-CN" altLang="en-US"/>
          </a:p>
        </p:txBody>
      </p:sp>
      <p:sp>
        <p:nvSpPr>
          <p:cNvPr id="9" name="TextBox 8"/>
          <p:cNvSpPr txBox="1"/>
          <p:nvPr/>
        </p:nvSpPr>
        <p:spPr>
          <a:xfrm>
            <a:off x="6836736" y="1265281"/>
            <a:ext cx="4529470" cy="4001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dirty="0" smtClean="0">
                <a:solidFill>
                  <a:srgbClr val="FF0000"/>
                </a:solidFill>
                <a:latin typeface="黑体" panose="02010609060101010101" pitchFamily="49" charset="-122"/>
                <a:ea typeface="黑体" panose="02010609060101010101" pitchFamily="49" charset="-122"/>
              </a:rPr>
              <a:t>给出项目实施方案中各部分的具体内容。</a:t>
            </a:r>
            <a:endParaRPr lang="zh-CN" altLang="en-US" sz="2000" dirty="0">
              <a:solidFill>
                <a:srgbClr val="FF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607167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25E408-0681-4220-98B0-D6D4ED05766F}"/>
              </a:ext>
            </a:extLst>
          </p:cNvPr>
          <p:cNvSpPr>
            <a:spLocks noGrp="1"/>
          </p:cNvSpPr>
          <p:nvPr>
            <p:ph type="title"/>
          </p:nvPr>
        </p:nvSpPr>
        <p:spPr/>
        <p:txBody>
          <a:bodyPr/>
          <a:lstStyle/>
          <a:p>
            <a:r>
              <a:rPr lang="zh-CN" altLang="en-US" dirty="0" smtClean="0"/>
              <a:t>进度计划</a:t>
            </a:r>
            <a:endParaRPr lang="zh-CN" altLang="en-US" dirty="0"/>
          </a:p>
        </p:txBody>
      </p:sp>
      <p:graphicFrame>
        <p:nvGraphicFramePr>
          <p:cNvPr id="3" name="内容占位符 2"/>
          <p:cNvGraphicFramePr>
            <a:graphicFrameLocks noGrp="1"/>
          </p:cNvGraphicFramePr>
          <p:nvPr>
            <p:ph idx="12"/>
            <p:extLst>
              <p:ext uri="{D42A27DB-BD31-4B8C-83A1-F6EECF244321}">
                <p14:modId xmlns:p14="http://schemas.microsoft.com/office/powerpoint/2010/main" val="2250686079"/>
              </p:ext>
            </p:extLst>
          </p:nvPr>
        </p:nvGraphicFramePr>
        <p:xfrm>
          <a:off x="882504" y="1935124"/>
          <a:ext cx="10483703" cy="4128000"/>
        </p:xfrm>
        <a:graphic>
          <a:graphicData uri="http://schemas.openxmlformats.org/drawingml/2006/table">
            <a:tbl>
              <a:tblPr firstRow="1" firstCol="1" bandRow="1">
                <a:tableStyleId>{0505E3EF-67EA-436B-97B2-0124C06EBD24}</a:tableStyleId>
              </a:tblPr>
              <a:tblGrid>
                <a:gridCol w="2051967"/>
                <a:gridCol w="6209529"/>
                <a:gridCol w="2222207"/>
              </a:tblGrid>
              <a:tr h="576798">
                <a:tc>
                  <a:txBody>
                    <a:bodyPr/>
                    <a:lstStyle/>
                    <a:p>
                      <a:pPr algn="ctr">
                        <a:lnSpc>
                          <a:spcPct val="150000"/>
                        </a:lnSpc>
                        <a:spcAft>
                          <a:spcPts val="0"/>
                        </a:spcAft>
                      </a:pPr>
                      <a:r>
                        <a:rPr lang="zh-CN" sz="1800" kern="100" dirty="0">
                          <a:effectLst/>
                          <a:latin typeface="黑体" panose="02010609060101010101" pitchFamily="49" charset="-122"/>
                          <a:ea typeface="黑体" panose="02010609060101010101" pitchFamily="49" charset="-122"/>
                        </a:rPr>
                        <a:t>时间节点</a:t>
                      </a: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zh-CN" sz="1800" kern="100" dirty="0" smtClean="0">
                          <a:effectLst/>
                          <a:latin typeface="黑体" panose="02010609060101010101" pitchFamily="49" charset="-122"/>
                          <a:ea typeface="黑体" panose="02010609060101010101" pitchFamily="49" charset="-122"/>
                        </a:rPr>
                        <a:t>工作</a:t>
                      </a:r>
                      <a:r>
                        <a:rPr lang="zh-CN" altLang="en-US" sz="1800" kern="100" dirty="0" smtClean="0">
                          <a:effectLst/>
                          <a:latin typeface="黑体" panose="02010609060101010101" pitchFamily="49" charset="-122"/>
                          <a:ea typeface="黑体" panose="02010609060101010101" pitchFamily="49" charset="-122"/>
                        </a:rPr>
                        <a:t>任务</a:t>
                      </a:r>
                      <a:endParaRPr lang="zh-CN" sz="1800" kern="100" dirty="0">
                        <a:effectLst/>
                        <a:latin typeface="黑体" panose="02010609060101010101" pitchFamily="49" charset="-122"/>
                        <a:ea typeface="黑体" panose="02010609060101010101" pitchFamily="49"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Aft>
                          <a:spcPts val="0"/>
                        </a:spcAft>
                      </a:pPr>
                      <a:r>
                        <a:rPr lang="zh-CN" altLang="en-US" sz="1800" kern="100" dirty="0" smtClean="0">
                          <a:effectLst/>
                          <a:latin typeface="黑体" panose="02010609060101010101" pitchFamily="49" charset="-122"/>
                          <a:ea typeface="黑体" panose="02010609060101010101" pitchFamily="49" charset="-122"/>
                        </a:rPr>
                        <a:t>完成人</a:t>
                      </a:r>
                      <a:endParaRPr lang="zh-CN" sz="1800" kern="100" dirty="0">
                        <a:effectLst/>
                        <a:latin typeface="黑体" panose="02010609060101010101" pitchFamily="49" charset="-122"/>
                        <a:ea typeface="黑体" panose="02010609060101010101" pitchFamily="49" charset="-122"/>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67212">
                <a:tc>
                  <a:txBody>
                    <a:bodyPr/>
                    <a:lstStyle/>
                    <a:p>
                      <a:pPr marL="72000" algn="l">
                        <a:lnSpc>
                          <a:spcPct val="150000"/>
                        </a:lnSpc>
                        <a:spcBef>
                          <a:spcPts val="0"/>
                        </a:spcBef>
                        <a:spcAft>
                          <a:spcPts val="0"/>
                        </a:spcAft>
                      </a:pPr>
                      <a:r>
                        <a:rPr lang="zh-CN" altLang="en-US" sz="1800" b="0" kern="100" dirty="0" smtClean="0">
                          <a:effectLst/>
                        </a:rPr>
                        <a:t>第</a:t>
                      </a:r>
                      <a:r>
                        <a:rPr lang="en-US" sz="1800" b="0" kern="100" dirty="0" smtClean="0">
                          <a:effectLst/>
                        </a:rPr>
                        <a:t>1-2</a:t>
                      </a:r>
                      <a:r>
                        <a:rPr lang="zh-CN" sz="1800" b="0" kern="100" dirty="0">
                          <a:effectLst/>
                        </a:rPr>
                        <a:t>周</a:t>
                      </a:r>
                      <a:endParaRPr lang="zh-CN" sz="1800" b="0" kern="100" dirty="0">
                        <a:effectLst/>
                        <a:latin typeface="Times New Roman"/>
                        <a:ea typeface="宋体"/>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2000" algn="l">
                        <a:lnSpc>
                          <a:spcPts val="2000"/>
                        </a:lnSpc>
                        <a:spcBef>
                          <a:spcPts val="0"/>
                        </a:spcBef>
                        <a:spcAft>
                          <a:spcPts val="600"/>
                        </a:spcAft>
                      </a:pPr>
                      <a:r>
                        <a:rPr lang="zh-CN" sz="1800" kern="100" dirty="0" smtClean="0">
                          <a:effectLst/>
                        </a:rPr>
                        <a:t>文献</a:t>
                      </a:r>
                      <a:r>
                        <a:rPr lang="zh-CN" sz="1800" kern="100" dirty="0">
                          <a:effectLst/>
                        </a:rPr>
                        <a:t>的调研</a:t>
                      </a:r>
                      <a:r>
                        <a:rPr lang="zh-CN" sz="1800" kern="100" dirty="0" smtClean="0">
                          <a:effectLst/>
                        </a:rPr>
                        <a:t>，</a:t>
                      </a:r>
                      <a:r>
                        <a:rPr lang="zh-CN" altLang="en-US" sz="1800" kern="100" dirty="0" smtClean="0">
                          <a:effectLst/>
                        </a:rPr>
                        <a:t>研究</a:t>
                      </a:r>
                      <a:r>
                        <a:rPr lang="zh-CN" sz="1800" kern="100" dirty="0" smtClean="0">
                          <a:effectLst/>
                        </a:rPr>
                        <a:t>现有</a:t>
                      </a:r>
                      <a:r>
                        <a:rPr lang="zh-CN" sz="1800" kern="100" dirty="0">
                          <a:effectLst/>
                        </a:rPr>
                        <a:t>文献中的模型及研究</a:t>
                      </a:r>
                      <a:r>
                        <a:rPr lang="zh-CN" sz="1800" kern="100" dirty="0" smtClean="0">
                          <a:effectLst/>
                        </a:rPr>
                        <a:t>方法</a:t>
                      </a:r>
                      <a:r>
                        <a:rPr lang="zh-CN" altLang="en-US" sz="1800" kern="100" dirty="0" smtClean="0">
                          <a:effectLst/>
                        </a:rPr>
                        <a:t>；</a:t>
                      </a:r>
                      <a:r>
                        <a:rPr lang="zh-CN" sz="1800" kern="100" dirty="0" smtClean="0">
                          <a:effectLst/>
                        </a:rPr>
                        <a:t>数据收集</a:t>
                      </a:r>
                      <a:r>
                        <a:rPr lang="zh-CN" altLang="en-US" sz="1800" kern="100" dirty="0" smtClean="0">
                          <a:effectLst/>
                        </a:rPr>
                        <a:t>和初步处理。</a:t>
                      </a:r>
                      <a:endParaRPr lang="zh-CN" sz="1800" kern="100" dirty="0">
                        <a:effectLst/>
                        <a:latin typeface="Times New Roman"/>
                        <a:ea typeface="宋体"/>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2000" algn="l">
                        <a:lnSpc>
                          <a:spcPts val="2000"/>
                        </a:lnSpc>
                        <a:spcBef>
                          <a:spcPts val="0"/>
                        </a:spcBef>
                        <a:spcAft>
                          <a:spcPts val="0"/>
                        </a:spcAft>
                      </a:pPr>
                      <a:r>
                        <a:rPr lang="zh-CN" altLang="en-US" sz="1800" kern="100" dirty="0" smtClean="0">
                          <a:effectLst/>
                          <a:latin typeface="Times New Roman"/>
                          <a:ea typeface="+mn-ea"/>
                        </a:rPr>
                        <a:t>王</a:t>
                      </a:r>
                      <a:r>
                        <a:rPr lang="en-US" altLang="zh-CN" sz="1800" kern="100" dirty="0" smtClean="0">
                          <a:effectLst/>
                          <a:latin typeface="Times New Roman"/>
                          <a:ea typeface="+mn-ea"/>
                        </a:rPr>
                        <a:t>×× </a:t>
                      </a:r>
                      <a:r>
                        <a:rPr lang="zh-CN" altLang="en-US" sz="1800" kern="100" dirty="0" smtClean="0">
                          <a:effectLst/>
                          <a:latin typeface="Times New Roman"/>
                          <a:ea typeface="+mn-ea"/>
                        </a:rPr>
                        <a:t>，张</a:t>
                      </a:r>
                      <a:r>
                        <a:rPr lang="en-US" altLang="zh-CN" sz="1800" kern="100" dirty="0" smtClean="0">
                          <a:effectLst/>
                          <a:latin typeface="Times New Roman"/>
                          <a:ea typeface="+mn-ea"/>
                        </a:rPr>
                        <a:t>×× </a:t>
                      </a:r>
                      <a:r>
                        <a:rPr lang="zh-CN" altLang="en-US" sz="1800" kern="100" dirty="0" smtClean="0">
                          <a:effectLst/>
                          <a:latin typeface="Times New Roman"/>
                          <a:ea typeface="+mn-ea"/>
                        </a:rPr>
                        <a:t>，李</a:t>
                      </a:r>
                      <a:r>
                        <a:rPr lang="en-US" altLang="zh-CN" sz="1800" kern="100" dirty="0" smtClean="0">
                          <a:effectLst/>
                          <a:latin typeface="Times New Roman"/>
                          <a:ea typeface="+mn-ea"/>
                        </a:rPr>
                        <a:t>××</a:t>
                      </a:r>
                      <a:endParaRPr lang="zh-CN" sz="1800" kern="100" dirty="0">
                        <a:effectLst/>
                        <a:latin typeface="Times New Roman"/>
                        <a:ea typeface="宋体"/>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76798">
                <a:tc>
                  <a:txBody>
                    <a:bodyPr/>
                    <a:lstStyle/>
                    <a:p>
                      <a:pPr marL="72000" algn="l">
                        <a:lnSpc>
                          <a:spcPct val="150000"/>
                        </a:lnSpc>
                        <a:spcBef>
                          <a:spcPts val="0"/>
                        </a:spcBef>
                        <a:spcAft>
                          <a:spcPts val="0"/>
                        </a:spcAft>
                      </a:pPr>
                      <a:r>
                        <a:rPr lang="zh-CN" altLang="en-US" sz="1800" b="0" kern="100" dirty="0" smtClean="0">
                          <a:effectLst/>
                        </a:rPr>
                        <a:t>第</a:t>
                      </a:r>
                      <a:r>
                        <a:rPr lang="en-US" sz="1800" b="0" kern="100" dirty="0" smtClean="0">
                          <a:effectLst/>
                        </a:rPr>
                        <a:t>3</a:t>
                      </a:r>
                      <a:r>
                        <a:rPr lang="zh-CN" sz="1800" b="0" kern="100" dirty="0">
                          <a:effectLst/>
                        </a:rPr>
                        <a:t>周</a:t>
                      </a:r>
                      <a:endParaRPr lang="zh-CN" sz="1800" b="0" kern="100" dirty="0">
                        <a:effectLst/>
                        <a:latin typeface="Times New Roman"/>
                        <a:ea typeface="宋体"/>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2000" algn="l">
                        <a:lnSpc>
                          <a:spcPts val="2000"/>
                        </a:lnSpc>
                        <a:spcBef>
                          <a:spcPts val="0"/>
                        </a:spcBef>
                        <a:spcAft>
                          <a:spcPts val="600"/>
                        </a:spcAft>
                      </a:pPr>
                      <a:r>
                        <a:rPr lang="zh-CN" sz="1800" kern="100" dirty="0">
                          <a:effectLst/>
                        </a:rPr>
                        <a:t>完成数据的</a:t>
                      </a:r>
                      <a:r>
                        <a:rPr lang="zh-CN" sz="1800" kern="100" dirty="0" smtClean="0">
                          <a:effectLst/>
                        </a:rPr>
                        <a:t>收集</a:t>
                      </a:r>
                      <a:r>
                        <a:rPr lang="zh-CN" altLang="en-US" sz="1800" kern="100" dirty="0" smtClean="0">
                          <a:effectLst/>
                        </a:rPr>
                        <a:t>、处理和初步分析</a:t>
                      </a:r>
                      <a:r>
                        <a:rPr lang="zh-CN" sz="1800" kern="100" dirty="0" smtClean="0">
                          <a:effectLst/>
                        </a:rPr>
                        <a:t>工作</a:t>
                      </a:r>
                      <a:r>
                        <a:rPr lang="zh-CN" altLang="en-US" sz="1800" kern="100" dirty="0" smtClean="0">
                          <a:effectLst/>
                        </a:rPr>
                        <a:t>；完成软件开发平台的搭建工作。</a:t>
                      </a:r>
                      <a:endParaRPr lang="zh-CN" sz="1800" kern="100" dirty="0">
                        <a:effectLst/>
                        <a:latin typeface="Times New Roman"/>
                        <a:ea typeface="宋体"/>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2000" marR="0" indent="0" algn="l" defTabSz="914400" rtl="0" eaLnBrk="1" fontAlgn="auto" latinLnBrk="0" hangingPunct="1">
                        <a:lnSpc>
                          <a:spcPts val="2000"/>
                        </a:lnSpc>
                        <a:spcBef>
                          <a:spcPts val="0"/>
                        </a:spcBef>
                        <a:spcAft>
                          <a:spcPts val="0"/>
                        </a:spcAft>
                        <a:buClrTx/>
                        <a:buSzTx/>
                        <a:buFontTx/>
                        <a:buNone/>
                        <a:tabLst/>
                        <a:defRPr/>
                      </a:pPr>
                      <a:r>
                        <a:rPr lang="zh-CN" altLang="en-US" sz="1800" kern="100" dirty="0" smtClean="0">
                          <a:effectLst/>
                          <a:latin typeface="Times New Roman"/>
                          <a:ea typeface="+mn-ea"/>
                        </a:rPr>
                        <a:t>王</a:t>
                      </a:r>
                      <a:r>
                        <a:rPr lang="en-US" altLang="zh-CN" sz="1800" kern="100" dirty="0" smtClean="0">
                          <a:effectLst/>
                          <a:latin typeface="Times New Roman"/>
                          <a:ea typeface="+mn-ea"/>
                        </a:rPr>
                        <a:t>×× </a:t>
                      </a:r>
                      <a:r>
                        <a:rPr lang="zh-CN" altLang="en-US" sz="1800" kern="100" dirty="0" smtClean="0">
                          <a:effectLst/>
                          <a:latin typeface="Times New Roman"/>
                          <a:ea typeface="+mn-ea"/>
                        </a:rPr>
                        <a:t>，张</a:t>
                      </a:r>
                      <a:r>
                        <a:rPr lang="en-US" altLang="zh-CN" sz="1800" kern="100" dirty="0" smtClean="0">
                          <a:effectLst/>
                          <a:latin typeface="Times New Roman"/>
                          <a:ea typeface="+mn-ea"/>
                        </a:rPr>
                        <a:t>×× </a:t>
                      </a:r>
                      <a:endParaRPr lang="zh-CN" altLang="zh-CN" sz="1800" kern="100" dirty="0" smtClean="0">
                        <a:effectLst/>
                        <a:latin typeface="Times New Roman"/>
                        <a:ea typeface="+mn-ea"/>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76798">
                <a:tc>
                  <a:txBody>
                    <a:bodyPr/>
                    <a:lstStyle/>
                    <a:p>
                      <a:pPr marL="72000" algn="l">
                        <a:lnSpc>
                          <a:spcPct val="150000"/>
                        </a:lnSpc>
                        <a:spcBef>
                          <a:spcPts val="0"/>
                        </a:spcBef>
                        <a:spcAft>
                          <a:spcPts val="0"/>
                        </a:spcAft>
                      </a:pPr>
                      <a:r>
                        <a:rPr lang="zh-CN" altLang="en-US" sz="1800" b="0" kern="100" dirty="0" smtClean="0">
                          <a:effectLst/>
                        </a:rPr>
                        <a:t>第</a:t>
                      </a:r>
                      <a:r>
                        <a:rPr lang="en-US" sz="1800" b="0" kern="100" dirty="0" smtClean="0">
                          <a:effectLst/>
                        </a:rPr>
                        <a:t>4-5</a:t>
                      </a:r>
                      <a:r>
                        <a:rPr lang="zh-CN" sz="1800" b="0" kern="100" dirty="0">
                          <a:effectLst/>
                        </a:rPr>
                        <a:t>周</a:t>
                      </a:r>
                      <a:endParaRPr lang="zh-CN" sz="1800" b="0" kern="100" dirty="0">
                        <a:effectLst/>
                        <a:latin typeface="Times New Roman"/>
                        <a:ea typeface="宋体"/>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2000" algn="l">
                        <a:lnSpc>
                          <a:spcPts val="2000"/>
                        </a:lnSpc>
                        <a:spcBef>
                          <a:spcPts val="0"/>
                        </a:spcBef>
                        <a:spcAft>
                          <a:spcPts val="600"/>
                        </a:spcAft>
                      </a:pPr>
                      <a:r>
                        <a:rPr lang="zh-CN" sz="1800" kern="100" dirty="0">
                          <a:effectLst/>
                        </a:rPr>
                        <a:t>完成第</a:t>
                      </a:r>
                      <a:r>
                        <a:rPr lang="zh-CN" sz="1800" kern="100" dirty="0" smtClean="0">
                          <a:effectLst/>
                        </a:rPr>
                        <a:t>一部分</a:t>
                      </a:r>
                      <a:r>
                        <a:rPr lang="zh-CN" altLang="en-US" sz="1800" kern="100" dirty="0" smtClean="0">
                          <a:effectLst/>
                        </a:rPr>
                        <a:t>的</a:t>
                      </a:r>
                      <a:r>
                        <a:rPr lang="zh-CN" sz="1800" kern="100" dirty="0" smtClean="0">
                          <a:effectLst/>
                        </a:rPr>
                        <a:t>模型</a:t>
                      </a:r>
                      <a:r>
                        <a:rPr lang="zh-CN" sz="1800" kern="100" dirty="0">
                          <a:effectLst/>
                        </a:rPr>
                        <a:t>建立</a:t>
                      </a:r>
                      <a:r>
                        <a:rPr lang="zh-CN" sz="1800" kern="100" dirty="0" smtClean="0">
                          <a:effectLst/>
                        </a:rPr>
                        <a:t>，基本数据分析</a:t>
                      </a:r>
                      <a:r>
                        <a:rPr lang="zh-CN" altLang="en-US" sz="1800" kern="100" dirty="0" smtClean="0">
                          <a:effectLst/>
                        </a:rPr>
                        <a:t>，算法开发，构建相应的算例。</a:t>
                      </a:r>
                      <a:endParaRPr lang="zh-CN" sz="1800" kern="100" dirty="0">
                        <a:effectLst/>
                        <a:latin typeface="Times New Roman"/>
                        <a:ea typeface="宋体"/>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2000" marR="0" indent="0" algn="l" defTabSz="914400" rtl="0" eaLnBrk="1" fontAlgn="auto" latinLnBrk="0" hangingPunct="1">
                        <a:lnSpc>
                          <a:spcPts val="2000"/>
                        </a:lnSpc>
                        <a:spcBef>
                          <a:spcPts val="0"/>
                        </a:spcBef>
                        <a:spcAft>
                          <a:spcPts val="0"/>
                        </a:spcAft>
                        <a:buClrTx/>
                        <a:buSzTx/>
                        <a:buFontTx/>
                        <a:buNone/>
                        <a:tabLst/>
                        <a:defRPr/>
                      </a:pPr>
                      <a:r>
                        <a:rPr lang="zh-CN" altLang="en-US" sz="1800" kern="100" dirty="0" smtClean="0">
                          <a:effectLst/>
                          <a:latin typeface="Times New Roman"/>
                          <a:ea typeface="+mn-ea"/>
                        </a:rPr>
                        <a:t>张</a:t>
                      </a:r>
                      <a:r>
                        <a:rPr lang="en-US" altLang="zh-CN" sz="1800" kern="100" dirty="0" smtClean="0">
                          <a:effectLst/>
                          <a:latin typeface="Times New Roman"/>
                          <a:ea typeface="+mn-ea"/>
                        </a:rPr>
                        <a:t>×× </a:t>
                      </a:r>
                      <a:r>
                        <a:rPr lang="zh-CN" altLang="en-US" sz="1800" kern="100" dirty="0" smtClean="0">
                          <a:effectLst/>
                          <a:latin typeface="Times New Roman"/>
                          <a:ea typeface="+mn-ea"/>
                        </a:rPr>
                        <a:t>，李</a:t>
                      </a:r>
                      <a:r>
                        <a:rPr lang="en-US" altLang="zh-CN" sz="1800" kern="100" dirty="0" smtClean="0">
                          <a:effectLst/>
                          <a:latin typeface="Times New Roman"/>
                          <a:ea typeface="+mn-ea"/>
                        </a:rPr>
                        <a:t>××</a:t>
                      </a:r>
                      <a:endParaRPr lang="zh-CN" altLang="zh-CN" sz="1800" kern="100" dirty="0" smtClean="0">
                        <a:effectLst/>
                        <a:latin typeface="Times New Roman"/>
                        <a:ea typeface="+mn-ea"/>
                      </a:endParaRPr>
                    </a:p>
                    <a:p>
                      <a:pPr marL="72000" algn="l">
                        <a:lnSpc>
                          <a:spcPts val="2000"/>
                        </a:lnSpc>
                        <a:spcBef>
                          <a:spcPts val="0"/>
                        </a:spcBef>
                        <a:spcAft>
                          <a:spcPts val="0"/>
                        </a:spcAft>
                      </a:pPr>
                      <a:endParaRPr lang="zh-CN" sz="1800" kern="100" dirty="0">
                        <a:effectLst/>
                        <a:latin typeface="Times New Roman"/>
                        <a:ea typeface="宋体"/>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76798">
                <a:tc>
                  <a:txBody>
                    <a:bodyPr/>
                    <a:lstStyle/>
                    <a:p>
                      <a:pPr marL="72000" algn="l">
                        <a:lnSpc>
                          <a:spcPct val="150000"/>
                        </a:lnSpc>
                        <a:spcBef>
                          <a:spcPts val="0"/>
                        </a:spcBef>
                        <a:spcAft>
                          <a:spcPts val="0"/>
                        </a:spcAft>
                      </a:pPr>
                      <a:r>
                        <a:rPr lang="zh-CN" altLang="en-US" sz="1800" b="0" kern="100" dirty="0" smtClean="0">
                          <a:effectLst/>
                        </a:rPr>
                        <a:t>第</a:t>
                      </a:r>
                      <a:r>
                        <a:rPr lang="en-US" sz="1800" b="0" kern="100" dirty="0" smtClean="0">
                          <a:effectLst/>
                        </a:rPr>
                        <a:t>6-9</a:t>
                      </a:r>
                      <a:r>
                        <a:rPr lang="zh-CN" sz="1800" b="0" kern="100" dirty="0">
                          <a:effectLst/>
                        </a:rPr>
                        <a:t>周</a:t>
                      </a:r>
                      <a:endParaRPr lang="zh-CN" sz="1800" b="0" kern="100" dirty="0">
                        <a:effectLst/>
                        <a:latin typeface="Times New Roman"/>
                        <a:ea typeface="宋体"/>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2000" algn="l">
                        <a:lnSpc>
                          <a:spcPts val="2000"/>
                        </a:lnSpc>
                        <a:spcBef>
                          <a:spcPts val="0"/>
                        </a:spcBef>
                        <a:spcAft>
                          <a:spcPts val="600"/>
                        </a:spcAft>
                      </a:pPr>
                      <a:r>
                        <a:rPr lang="zh-CN" altLang="en-US" sz="1800" kern="100" dirty="0" smtClean="0">
                          <a:effectLst/>
                        </a:rPr>
                        <a:t>完成</a:t>
                      </a:r>
                      <a:r>
                        <a:rPr lang="zh-CN" sz="1800" kern="100" dirty="0" smtClean="0">
                          <a:effectLst/>
                        </a:rPr>
                        <a:t>第二</a:t>
                      </a:r>
                      <a:r>
                        <a:rPr lang="zh-CN" sz="1800" kern="100" dirty="0">
                          <a:effectLst/>
                        </a:rPr>
                        <a:t>部分的</a:t>
                      </a:r>
                      <a:r>
                        <a:rPr lang="zh-CN" sz="1800" kern="100" dirty="0" smtClean="0">
                          <a:effectLst/>
                        </a:rPr>
                        <a:t>模型建立</a:t>
                      </a:r>
                      <a:r>
                        <a:rPr lang="zh-CN" altLang="en-US" sz="1800" kern="100" dirty="0" smtClean="0">
                          <a:effectLst/>
                        </a:rPr>
                        <a:t>，基本数据分析，算法开发，构建心相映的算例。</a:t>
                      </a:r>
                      <a:endParaRPr lang="zh-CN" sz="1800" kern="100" dirty="0">
                        <a:effectLst/>
                        <a:latin typeface="Times New Roman"/>
                        <a:ea typeface="宋体"/>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2000" marR="0" indent="0" algn="l" defTabSz="914400" rtl="0" eaLnBrk="1" fontAlgn="auto" latinLnBrk="0" hangingPunct="1">
                        <a:lnSpc>
                          <a:spcPts val="2000"/>
                        </a:lnSpc>
                        <a:spcBef>
                          <a:spcPts val="0"/>
                        </a:spcBef>
                        <a:spcAft>
                          <a:spcPts val="0"/>
                        </a:spcAft>
                        <a:buClrTx/>
                        <a:buSzTx/>
                        <a:buFontTx/>
                        <a:buNone/>
                        <a:tabLst/>
                        <a:defRPr/>
                      </a:pPr>
                      <a:r>
                        <a:rPr lang="zh-CN" altLang="en-US" sz="1800" kern="100" dirty="0" smtClean="0">
                          <a:effectLst/>
                          <a:latin typeface="Times New Roman"/>
                          <a:ea typeface="+mn-ea"/>
                        </a:rPr>
                        <a:t>王</a:t>
                      </a:r>
                      <a:r>
                        <a:rPr lang="en-US" altLang="zh-CN" sz="1800" kern="100" dirty="0" smtClean="0">
                          <a:effectLst/>
                          <a:latin typeface="Times New Roman"/>
                          <a:ea typeface="+mn-ea"/>
                        </a:rPr>
                        <a:t>×× </a:t>
                      </a:r>
                      <a:r>
                        <a:rPr lang="zh-CN" altLang="en-US" sz="1800" kern="100" dirty="0" smtClean="0">
                          <a:effectLst/>
                          <a:latin typeface="Times New Roman"/>
                          <a:ea typeface="+mn-ea"/>
                        </a:rPr>
                        <a:t>，李</a:t>
                      </a:r>
                      <a:r>
                        <a:rPr lang="en-US" altLang="zh-CN" sz="1800" kern="100" dirty="0" smtClean="0">
                          <a:effectLst/>
                          <a:latin typeface="Times New Roman"/>
                          <a:ea typeface="+mn-ea"/>
                        </a:rPr>
                        <a:t>××</a:t>
                      </a:r>
                      <a:endParaRPr lang="zh-CN" altLang="zh-CN" sz="1800" kern="100" dirty="0" smtClean="0">
                        <a:effectLst/>
                        <a:latin typeface="Times New Roman"/>
                        <a:ea typeface="+mn-ea"/>
                      </a:endParaRPr>
                    </a:p>
                    <a:p>
                      <a:pPr marL="72000" algn="l">
                        <a:lnSpc>
                          <a:spcPts val="2000"/>
                        </a:lnSpc>
                        <a:spcBef>
                          <a:spcPts val="0"/>
                        </a:spcBef>
                        <a:spcAft>
                          <a:spcPts val="0"/>
                        </a:spcAft>
                      </a:pPr>
                      <a:endParaRPr lang="zh-CN" sz="1800" kern="100" dirty="0">
                        <a:effectLst/>
                        <a:latin typeface="Times New Roman"/>
                        <a:ea typeface="宋体"/>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76798">
                <a:tc>
                  <a:txBody>
                    <a:bodyPr/>
                    <a:lstStyle/>
                    <a:p>
                      <a:pPr marL="72000" algn="l">
                        <a:lnSpc>
                          <a:spcPct val="150000"/>
                        </a:lnSpc>
                        <a:spcBef>
                          <a:spcPts val="0"/>
                        </a:spcBef>
                        <a:spcAft>
                          <a:spcPts val="0"/>
                        </a:spcAft>
                      </a:pPr>
                      <a:r>
                        <a:rPr lang="zh-CN" altLang="en-US" sz="1800" b="0" kern="100" dirty="0" smtClean="0">
                          <a:effectLst/>
                        </a:rPr>
                        <a:t>第</a:t>
                      </a:r>
                      <a:r>
                        <a:rPr lang="en-US" sz="1800" b="0" kern="100" dirty="0" smtClean="0">
                          <a:effectLst/>
                        </a:rPr>
                        <a:t>10-13</a:t>
                      </a:r>
                      <a:r>
                        <a:rPr lang="zh-CN" sz="1800" b="0" kern="100" dirty="0">
                          <a:effectLst/>
                        </a:rPr>
                        <a:t>周</a:t>
                      </a:r>
                      <a:endParaRPr lang="zh-CN" sz="1800" b="0" kern="100" dirty="0">
                        <a:effectLst/>
                        <a:latin typeface="Times New Roman"/>
                        <a:ea typeface="宋体"/>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2000" algn="l">
                        <a:lnSpc>
                          <a:spcPts val="2000"/>
                        </a:lnSpc>
                        <a:spcBef>
                          <a:spcPts val="0"/>
                        </a:spcBef>
                        <a:spcAft>
                          <a:spcPts val="600"/>
                        </a:spcAft>
                      </a:pPr>
                      <a:r>
                        <a:rPr lang="zh-CN" sz="1800" kern="100" dirty="0" smtClean="0">
                          <a:effectLst/>
                        </a:rPr>
                        <a:t>完成</a:t>
                      </a:r>
                      <a:r>
                        <a:rPr lang="zh-CN" altLang="en-US" sz="1800" kern="100" dirty="0" smtClean="0">
                          <a:effectLst/>
                        </a:rPr>
                        <a:t>模型的对比分析、优化策略的选择和灵敏度分析</a:t>
                      </a:r>
                      <a:r>
                        <a:rPr lang="zh-CN" sz="1800" kern="100" dirty="0" smtClean="0">
                          <a:effectLst/>
                        </a:rPr>
                        <a:t>，</a:t>
                      </a:r>
                      <a:r>
                        <a:rPr lang="zh-CN" sz="1800" kern="100" dirty="0">
                          <a:effectLst/>
                        </a:rPr>
                        <a:t>并得出最后</a:t>
                      </a:r>
                      <a:r>
                        <a:rPr lang="zh-CN" sz="1800" kern="100" dirty="0" smtClean="0">
                          <a:effectLst/>
                        </a:rPr>
                        <a:t>结论</a:t>
                      </a:r>
                      <a:r>
                        <a:rPr lang="zh-CN" altLang="en-US" sz="1800" kern="100" dirty="0" smtClean="0">
                          <a:effectLst/>
                        </a:rPr>
                        <a:t>；开发软件</a:t>
                      </a:r>
                      <a:r>
                        <a:rPr lang="en-US" altLang="zh-CN" sz="1800" kern="100" dirty="0" smtClean="0">
                          <a:effectLst/>
                        </a:rPr>
                        <a:t>GUI</a:t>
                      </a:r>
                      <a:r>
                        <a:rPr lang="zh-CN" altLang="en-US" sz="1800" kern="100" dirty="0" smtClean="0">
                          <a:effectLst/>
                        </a:rPr>
                        <a:t>。</a:t>
                      </a:r>
                      <a:endParaRPr lang="zh-CN" sz="1800" kern="100" dirty="0">
                        <a:effectLst/>
                        <a:latin typeface="Times New Roman"/>
                        <a:ea typeface="宋体"/>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2000" marR="0" indent="0" algn="l" defTabSz="914400" rtl="0" eaLnBrk="1" fontAlgn="auto" latinLnBrk="0" hangingPunct="1">
                        <a:lnSpc>
                          <a:spcPts val="2000"/>
                        </a:lnSpc>
                        <a:spcBef>
                          <a:spcPts val="0"/>
                        </a:spcBef>
                        <a:spcAft>
                          <a:spcPts val="0"/>
                        </a:spcAft>
                        <a:buClrTx/>
                        <a:buSzTx/>
                        <a:buFontTx/>
                        <a:buNone/>
                        <a:tabLst/>
                        <a:defRPr/>
                      </a:pPr>
                      <a:r>
                        <a:rPr lang="zh-CN" altLang="en-US" sz="1800" kern="100" dirty="0" smtClean="0">
                          <a:effectLst/>
                          <a:latin typeface="Times New Roman"/>
                          <a:ea typeface="+mn-ea"/>
                        </a:rPr>
                        <a:t>王</a:t>
                      </a:r>
                      <a:r>
                        <a:rPr lang="en-US" altLang="zh-CN" sz="1800" kern="100" dirty="0" smtClean="0">
                          <a:effectLst/>
                          <a:latin typeface="Times New Roman"/>
                          <a:ea typeface="+mn-ea"/>
                        </a:rPr>
                        <a:t>×× </a:t>
                      </a:r>
                      <a:r>
                        <a:rPr lang="zh-CN" altLang="en-US" sz="1800" kern="100" dirty="0" smtClean="0">
                          <a:effectLst/>
                          <a:latin typeface="Times New Roman"/>
                          <a:ea typeface="+mn-ea"/>
                        </a:rPr>
                        <a:t>，张</a:t>
                      </a:r>
                      <a:r>
                        <a:rPr lang="en-US" altLang="zh-CN" sz="1800" kern="100" dirty="0" smtClean="0">
                          <a:effectLst/>
                          <a:latin typeface="Times New Roman"/>
                          <a:ea typeface="+mn-ea"/>
                        </a:rPr>
                        <a:t>×× </a:t>
                      </a:r>
                      <a:r>
                        <a:rPr lang="zh-CN" altLang="en-US" sz="1800" kern="100" dirty="0" smtClean="0">
                          <a:effectLst/>
                          <a:latin typeface="Times New Roman"/>
                          <a:ea typeface="+mn-ea"/>
                        </a:rPr>
                        <a:t>，李</a:t>
                      </a:r>
                      <a:r>
                        <a:rPr lang="en-US" altLang="zh-CN" sz="1800" kern="100" dirty="0" smtClean="0">
                          <a:effectLst/>
                          <a:latin typeface="Times New Roman"/>
                          <a:ea typeface="+mn-ea"/>
                        </a:rPr>
                        <a:t>××</a:t>
                      </a:r>
                      <a:endParaRPr lang="zh-CN" altLang="zh-CN" sz="1800" kern="100" dirty="0" smtClean="0">
                        <a:effectLst/>
                        <a:latin typeface="Times New Roman"/>
                        <a:ea typeface="+mn-ea"/>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76798">
                <a:tc>
                  <a:txBody>
                    <a:bodyPr/>
                    <a:lstStyle/>
                    <a:p>
                      <a:pPr marL="72000" algn="l">
                        <a:lnSpc>
                          <a:spcPct val="150000"/>
                        </a:lnSpc>
                        <a:spcBef>
                          <a:spcPts val="0"/>
                        </a:spcBef>
                        <a:spcAft>
                          <a:spcPts val="0"/>
                        </a:spcAft>
                      </a:pPr>
                      <a:r>
                        <a:rPr lang="zh-CN" altLang="en-US" sz="1800" b="0" kern="100" dirty="0" smtClean="0">
                          <a:effectLst/>
                        </a:rPr>
                        <a:t>第</a:t>
                      </a:r>
                      <a:r>
                        <a:rPr lang="en-US" sz="1800" b="0" kern="100" dirty="0" smtClean="0">
                          <a:effectLst/>
                        </a:rPr>
                        <a:t>14-16</a:t>
                      </a:r>
                      <a:r>
                        <a:rPr lang="zh-CN" sz="1800" b="0" kern="100" dirty="0">
                          <a:effectLst/>
                        </a:rPr>
                        <a:t>周</a:t>
                      </a:r>
                      <a:endParaRPr lang="zh-CN" sz="1800" b="0" kern="100" dirty="0">
                        <a:effectLst/>
                        <a:latin typeface="Times New Roman"/>
                        <a:ea typeface="宋体"/>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2000" algn="l">
                        <a:lnSpc>
                          <a:spcPts val="2000"/>
                        </a:lnSpc>
                        <a:spcBef>
                          <a:spcPts val="0"/>
                        </a:spcBef>
                        <a:spcAft>
                          <a:spcPts val="600"/>
                        </a:spcAft>
                      </a:pPr>
                      <a:r>
                        <a:rPr lang="zh-CN" altLang="en-US" sz="1800" kern="100" dirty="0" smtClean="0">
                          <a:effectLst/>
                        </a:rPr>
                        <a:t>软件系统测试，</a:t>
                      </a:r>
                      <a:r>
                        <a:rPr lang="zh-CN" sz="1800" kern="100" dirty="0" smtClean="0">
                          <a:effectLst/>
                        </a:rPr>
                        <a:t>总结</a:t>
                      </a:r>
                      <a:r>
                        <a:rPr lang="zh-CN" altLang="en-US" sz="1800" kern="100" dirty="0" smtClean="0">
                          <a:effectLst/>
                        </a:rPr>
                        <a:t>项目，</a:t>
                      </a:r>
                      <a:r>
                        <a:rPr lang="zh-CN" sz="1800" kern="100" dirty="0" smtClean="0">
                          <a:effectLst/>
                        </a:rPr>
                        <a:t>并</a:t>
                      </a:r>
                      <a:r>
                        <a:rPr lang="zh-CN" sz="1800" kern="100" dirty="0">
                          <a:effectLst/>
                        </a:rPr>
                        <a:t>完成</a:t>
                      </a:r>
                      <a:r>
                        <a:rPr lang="zh-CN" sz="1800" kern="100" dirty="0" smtClean="0">
                          <a:effectLst/>
                        </a:rPr>
                        <a:t>报告</a:t>
                      </a:r>
                      <a:r>
                        <a:rPr lang="zh-CN" altLang="en-US" sz="1800" kern="100" dirty="0" smtClean="0">
                          <a:effectLst/>
                        </a:rPr>
                        <a:t>。</a:t>
                      </a:r>
                      <a:endParaRPr lang="zh-CN" sz="1800" kern="100" dirty="0">
                        <a:effectLst/>
                        <a:latin typeface="Times New Roman"/>
                        <a:ea typeface="宋体"/>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72000" marR="0" indent="0" algn="l" defTabSz="914400" rtl="0" eaLnBrk="1" fontAlgn="auto" latinLnBrk="0" hangingPunct="1">
                        <a:lnSpc>
                          <a:spcPts val="2000"/>
                        </a:lnSpc>
                        <a:spcBef>
                          <a:spcPts val="0"/>
                        </a:spcBef>
                        <a:spcAft>
                          <a:spcPts val="0"/>
                        </a:spcAft>
                        <a:buClrTx/>
                        <a:buSzTx/>
                        <a:buFontTx/>
                        <a:buNone/>
                        <a:tabLst/>
                        <a:defRPr/>
                      </a:pPr>
                      <a:r>
                        <a:rPr lang="zh-CN" altLang="en-US" sz="1800" kern="100" dirty="0" smtClean="0">
                          <a:effectLst/>
                          <a:latin typeface="Times New Roman"/>
                          <a:ea typeface="+mn-ea"/>
                        </a:rPr>
                        <a:t>王</a:t>
                      </a:r>
                      <a:r>
                        <a:rPr lang="en-US" altLang="zh-CN" sz="1800" kern="100" dirty="0" smtClean="0">
                          <a:effectLst/>
                          <a:latin typeface="Times New Roman"/>
                          <a:ea typeface="+mn-ea"/>
                        </a:rPr>
                        <a:t>×× </a:t>
                      </a:r>
                      <a:r>
                        <a:rPr lang="zh-CN" altLang="en-US" sz="1800" kern="100" dirty="0" smtClean="0">
                          <a:effectLst/>
                          <a:latin typeface="Times New Roman"/>
                          <a:ea typeface="+mn-ea"/>
                        </a:rPr>
                        <a:t>，张</a:t>
                      </a:r>
                      <a:r>
                        <a:rPr lang="en-US" altLang="zh-CN" sz="1800" kern="100" dirty="0" smtClean="0">
                          <a:effectLst/>
                          <a:latin typeface="Times New Roman"/>
                          <a:ea typeface="+mn-ea"/>
                        </a:rPr>
                        <a:t>×× </a:t>
                      </a:r>
                      <a:r>
                        <a:rPr lang="zh-CN" altLang="en-US" sz="1800" kern="100" dirty="0" smtClean="0">
                          <a:effectLst/>
                          <a:latin typeface="Times New Roman"/>
                          <a:ea typeface="+mn-ea"/>
                        </a:rPr>
                        <a:t>，李</a:t>
                      </a:r>
                      <a:r>
                        <a:rPr lang="en-US" altLang="zh-CN" sz="1800" kern="100" dirty="0" smtClean="0">
                          <a:effectLst/>
                          <a:latin typeface="Times New Roman"/>
                          <a:ea typeface="+mn-ea"/>
                        </a:rPr>
                        <a:t>××</a:t>
                      </a:r>
                      <a:endParaRPr lang="zh-CN" altLang="zh-CN" sz="1800" kern="100" dirty="0" smtClean="0">
                        <a:effectLst/>
                        <a:latin typeface="Times New Roman"/>
                        <a:ea typeface="+mn-ea"/>
                      </a:endParaRPr>
                    </a:p>
                  </a:txBody>
                  <a:tcPr marL="7287" marR="7287"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灯片编号占位符 5">
            <a:extLst>
              <a:ext uri="{FF2B5EF4-FFF2-40B4-BE49-F238E27FC236}">
                <a16:creationId xmlns:a16="http://schemas.microsoft.com/office/drawing/2014/main" xmlns="" id="{29B06694-317F-4094-AD4F-373F58B6550C}"/>
              </a:ext>
            </a:extLst>
          </p:cNvPr>
          <p:cNvSpPr>
            <a:spLocks noGrp="1"/>
          </p:cNvSpPr>
          <p:nvPr>
            <p:ph type="sldNum" sz="quarter" idx="11"/>
          </p:nvPr>
        </p:nvSpPr>
        <p:spPr/>
        <p:txBody>
          <a:bodyPr/>
          <a:lstStyle/>
          <a:p>
            <a:fld id="{FD7D2133-84E4-4D49-B786-7B5C0B54D116}" type="slidenum">
              <a:rPr lang="zh-CN" altLang="en-US" smtClean="0"/>
              <a:t>9</a:t>
            </a:fld>
            <a:endParaRPr lang="zh-CN" altLang="en-US"/>
          </a:p>
        </p:txBody>
      </p:sp>
      <p:sp>
        <p:nvSpPr>
          <p:cNvPr id="7" name="TextBox 6"/>
          <p:cNvSpPr txBox="1"/>
          <p:nvPr/>
        </p:nvSpPr>
        <p:spPr>
          <a:xfrm>
            <a:off x="4412512" y="1158955"/>
            <a:ext cx="6826102" cy="4001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dirty="0" smtClean="0">
                <a:solidFill>
                  <a:srgbClr val="FF0000"/>
                </a:solidFill>
                <a:latin typeface="黑体" panose="02010609060101010101" pitchFamily="49" charset="-122"/>
                <a:ea typeface="黑体" panose="02010609060101010101" pitchFamily="49" charset="-122"/>
              </a:rPr>
              <a:t>列出课题组成员分工及进度计划，具体到小组中的每个人。</a:t>
            </a:r>
            <a:endParaRPr lang="zh-CN" altLang="en-US" sz="2000" dirty="0">
              <a:solidFill>
                <a:srgbClr val="FF0000"/>
              </a:solidFill>
              <a:latin typeface="黑体" panose="02010609060101010101" pitchFamily="49" charset="-122"/>
              <a:ea typeface="黑体" panose="02010609060101010101" pitchFamily="49" charset="-122"/>
            </a:endParaRPr>
          </a:p>
        </p:txBody>
      </p:sp>
      <p:sp>
        <p:nvSpPr>
          <p:cNvPr id="10" name="内容占位符 3">
            <a:extLst>
              <a:ext uri="{FF2B5EF4-FFF2-40B4-BE49-F238E27FC236}">
                <a16:creationId xmlns:a16="http://schemas.microsoft.com/office/drawing/2014/main" xmlns="" id="{B85DFDEF-A356-4F18-B4E1-3BA7580484A5}"/>
              </a:ext>
            </a:extLst>
          </p:cNvPr>
          <p:cNvSpPr>
            <a:spLocks noGrp="1"/>
          </p:cNvSpPr>
          <p:nvPr>
            <p:ph idx="1"/>
          </p:nvPr>
        </p:nvSpPr>
        <p:spPr>
          <a:xfrm>
            <a:off x="755651" y="1143000"/>
            <a:ext cx="10668000" cy="5104800"/>
          </a:xfrm>
        </p:spPr>
        <p:txBody>
          <a:bodyPr/>
          <a:lstStyle/>
          <a:p>
            <a:r>
              <a:rPr lang="zh-CN" altLang="en-US" dirty="0" smtClean="0"/>
              <a:t>进度计划与</a:t>
            </a:r>
            <a:r>
              <a:rPr lang="zh-CN" altLang="en-US" dirty="0"/>
              <a:t>成员</a:t>
            </a:r>
            <a:r>
              <a:rPr lang="zh-CN" altLang="en-US" dirty="0" smtClean="0"/>
              <a:t>分工</a:t>
            </a:r>
            <a:endParaRPr lang="en-US" altLang="zh-CN" dirty="0"/>
          </a:p>
        </p:txBody>
      </p:sp>
    </p:spTree>
    <p:extLst>
      <p:ext uri="{BB962C8B-B14F-4D97-AF65-F5344CB8AC3E}">
        <p14:creationId xmlns:p14="http://schemas.microsoft.com/office/powerpoint/2010/main" val="1145272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BDFDFA65-46F1-42E7-8DE0-22E9305AFBEF}"/>
              </a:ext>
            </a:extLst>
          </p:cNvPr>
          <p:cNvSpPr>
            <a:spLocks noGrp="1"/>
          </p:cNvSpPr>
          <p:nvPr>
            <p:ph type="title"/>
          </p:nvPr>
        </p:nvSpPr>
        <p:spPr/>
        <p:txBody>
          <a:bodyPr/>
          <a:lstStyle/>
          <a:p>
            <a:r>
              <a:rPr lang="zh-CN" altLang="en-US" dirty="0"/>
              <a:t>参考文献</a:t>
            </a:r>
          </a:p>
        </p:txBody>
      </p:sp>
      <p:sp>
        <p:nvSpPr>
          <p:cNvPr id="3" name="内容占位符 2">
            <a:extLst>
              <a:ext uri="{FF2B5EF4-FFF2-40B4-BE49-F238E27FC236}">
                <a16:creationId xmlns:a16="http://schemas.microsoft.com/office/drawing/2014/main" xmlns="" id="{A6AAAB7E-B896-44D6-A7B2-2FC352718B87}"/>
              </a:ext>
            </a:extLst>
          </p:cNvPr>
          <p:cNvSpPr>
            <a:spLocks noGrp="1"/>
          </p:cNvSpPr>
          <p:nvPr>
            <p:ph idx="1"/>
          </p:nvPr>
        </p:nvSpPr>
        <p:spPr/>
        <p:txBody>
          <a:bodyPr/>
          <a:lstStyle/>
          <a:p>
            <a:pPr>
              <a:spcBef>
                <a:spcPts val="600"/>
              </a:spcBef>
              <a:spcAft>
                <a:spcPts val="600"/>
              </a:spcAft>
            </a:pPr>
            <a:endParaRPr lang="en-US" altLang="zh-CN" sz="1800" dirty="0" smtClean="0"/>
          </a:p>
          <a:p>
            <a:pPr marL="0" indent="0">
              <a:spcBef>
                <a:spcPts val="600"/>
              </a:spcBef>
              <a:spcAft>
                <a:spcPts val="600"/>
              </a:spcAft>
              <a:buNone/>
            </a:pPr>
            <a:endParaRPr lang="en-US" altLang="zh-CN" sz="1800" dirty="0" smtClean="0"/>
          </a:p>
          <a:p>
            <a:pPr marL="360000" indent="-457200">
              <a:spcBef>
                <a:spcPts val="600"/>
              </a:spcBef>
              <a:spcAft>
                <a:spcPts val="600"/>
              </a:spcAft>
              <a:buNone/>
            </a:pPr>
            <a:r>
              <a:rPr lang="en-US" altLang="zh-CN" sz="1800" dirty="0" smtClean="0"/>
              <a:t>[1] Martin </a:t>
            </a:r>
            <a:r>
              <a:rPr lang="en-US" altLang="zh-CN" sz="1800" dirty="0"/>
              <a:t>I Reiman and </a:t>
            </a:r>
            <a:r>
              <a:rPr lang="en-US" altLang="zh-CN" sz="1800" dirty="0" err="1"/>
              <a:t>Qiong</a:t>
            </a:r>
            <a:r>
              <a:rPr lang="en-US" altLang="zh-CN" sz="1800" dirty="0"/>
              <a:t> Wang. An asymptotically optimal policy for a </a:t>
            </a:r>
            <a:r>
              <a:rPr lang="en-US" altLang="zh-CN" sz="1800" dirty="0" err="1"/>
              <a:t>quantity­based</a:t>
            </a:r>
            <a:r>
              <a:rPr lang="en-US" altLang="zh-CN" sz="1800" dirty="0"/>
              <a:t> network revenue management problem. Mathematics of Operations Research, 33(2):257–282, 2008. </a:t>
            </a:r>
          </a:p>
          <a:p>
            <a:pPr marL="360000" indent="-457200">
              <a:spcBef>
                <a:spcPts val="600"/>
              </a:spcBef>
              <a:spcAft>
                <a:spcPts val="600"/>
              </a:spcAft>
              <a:buNone/>
            </a:pPr>
            <a:r>
              <a:rPr lang="en-US" altLang="zh-CN" sz="1800" dirty="0"/>
              <a:t>[2] </a:t>
            </a:r>
            <a:r>
              <a:rPr lang="en-US" altLang="zh-CN" sz="1800" dirty="0" err="1"/>
              <a:t>Stefanus</a:t>
            </a:r>
            <a:r>
              <a:rPr lang="en-US" altLang="zh-CN" sz="1800" dirty="0"/>
              <a:t> </a:t>
            </a:r>
            <a:r>
              <a:rPr lang="en-US" altLang="zh-CN" sz="1800" dirty="0" err="1"/>
              <a:t>Jasin</a:t>
            </a:r>
            <a:r>
              <a:rPr lang="en-US" altLang="zh-CN" sz="1800" dirty="0"/>
              <a:t> and Sunil Kumar. A re­solving heuristic with bounded revenue loss for network revenue management with customer choice. Mathematics of Operations Research, 37(2):313– 345, 2012.</a:t>
            </a:r>
          </a:p>
          <a:p>
            <a:pPr marL="360000" indent="-457200">
              <a:spcBef>
                <a:spcPts val="600"/>
              </a:spcBef>
              <a:spcAft>
                <a:spcPts val="600"/>
              </a:spcAft>
              <a:buNone/>
            </a:pPr>
            <a:r>
              <a:rPr lang="en-US" altLang="zh-CN" sz="1800" dirty="0" smtClean="0"/>
              <a:t>[3] </a:t>
            </a:r>
            <a:r>
              <a:rPr lang="en-US" altLang="zh-CN" sz="1800" dirty="0" err="1" smtClean="0"/>
              <a:t>Stefanus</a:t>
            </a:r>
            <a:r>
              <a:rPr lang="en-US" altLang="zh-CN" sz="1800" dirty="0" smtClean="0"/>
              <a:t> </a:t>
            </a:r>
            <a:r>
              <a:rPr lang="en-US" altLang="zh-CN" sz="1800" dirty="0" err="1"/>
              <a:t>Jasin</a:t>
            </a:r>
            <a:r>
              <a:rPr lang="en-US" altLang="zh-CN" sz="1800" dirty="0"/>
              <a:t> and Sunil Kumar. Analysis of deterministic </a:t>
            </a:r>
            <a:r>
              <a:rPr lang="en-US" altLang="zh-CN" sz="1800" dirty="0" err="1"/>
              <a:t>lp­based</a:t>
            </a:r>
            <a:r>
              <a:rPr lang="en-US" altLang="zh-CN" sz="1800" dirty="0"/>
              <a:t> booking limit and bid price controls for revenue management. Operations Research, 61(6):1312–1320, 2013. </a:t>
            </a:r>
          </a:p>
          <a:p>
            <a:pPr marL="360000" indent="-457200">
              <a:spcBef>
                <a:spcPts val="600"/>
              </a:spcBef>
              <a:spcAft>
                <a:spcPts val="600"/>
              </a:spcAft>
              <a:buNone/>
            </a:pPr>
            <a:r>
              <a:rPr lang="en-US" altLang="zh-CN" sz="1800" dirty="0" smtClean="0"/>
              <a:t>[4] Jason </a:t>
            </a:r>
            <a:r>
              <a:rPr lang="en-US" altLang="zh-CN" sz="1800" dirty="0" err="1"/>
              <a:t>Acimovic</a:t>
            </a:r>
            <a:r>
              <a:rPr lang="en-US" altLang="zh-CN" sz="1800" dirty="0"/>
              <a:t> and Stephen C Graves. Making better fulfillment decisions on the fly in an online</a:t>
            </a:r>
          </a:p>
        </p:txBody>
      </p:sp>
      <p:sp>
        <p:nvSpPr>
          <p:cNvPr id="4" name="灯片编号占位符 3">
            <a:extLst>
              <a:ext uri="{FF2B5EF4-FFF2-40B4-BE49-F238E27FC236}">
                <a16:creationId xmlns:a16="http://schemas.microsoft.com/office/drawing/2014/main" xmlns="" id="{443DBD81-30A9-4FEF-A800-0DB6E36EEA70}"/>
              </a:ext>
            </a:extLst>
          </p:cNvPr>
          <p:cNvSpPr>
            <a:spLocks noGrp="1"/>
          </p:cNvSpPr>
          <p:nvPr>
            <p:ph type="sldNum" sz="quarter" idx="11"/>
          </p:nvPr>
        </p:nvSpPr>
        <p:spPr/>
        <p:txBody>
          <a:bodyPr/>
          <a:lstStyle/>
          <a:p>
            <a:fld id="{FD7D2133-84E4-4D49-B786-7B5C0B54D116}" type="slidenum">
              <a:rPr lang="zh-CN" altLang="en-US" smtClean="0"/>
              <a:t>10</a:t>
            </a:fld>
            <a:endParaRPr lang="zh-CN" altLang="en-US"/>
          </a:p>
        </p:txBody>
      </p:sp>
      <p:sp>
        <p:nvSpPr>
          <p:cNvPr id="5" name="内容占位符 4">
            <a:extLst>
              <a:ext uri="{FF2B5EF4-FFF2-40B4-BE49-F238E27FC236}">
                <a16:creationId xmlns:a16="http://schemas.microsoft.com/office/drawing/2014/main" xmlns="" id="{29B034C5-49EE-4E57-AFB3-A9AD5AC23738}"/>
              </a:ext>
            </a:extLst>
          </p:cNvPr>
          <p:cNvSpPr>
            <a:spLocks noGrp="1"/>
          </p:cNvSpPr>
          <p:nvPr>
            <p:ph idx="12"/>
          </p:nvPr>
        </p:nvSpPr>
        <p:spPr/>
        <p:txBody>
          <a:bodyPr/>
          <a:lstStyle/>
          <a:p>
            <a:endParaRPr lang="zh-CN" altLang="en-US"/>
          </a:p>
        </p:txBody>
      </p:sp>
      <p:sp>
        <p:nvSpPr>
          <p:cNvPr id="6" name="TextBox 5"/>
          <p:cNvSpPr txBox="1"/>
          <p:nvPr/>
        </p:nvSpPr>
        <p:spPr>
          <a:xfrm>
            <a:off x="6815470" y="1244035"/>
            <a:ext cx="4242390" cy="4001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000" dirty="0" smtClean="0">
                <a:solidFill>
                  <a:srgbClr val="FF0000"/>
                </a:solidFill>
                <a:latin typeface="黑体" panose="02010609060101010101" pitchFamily="49" charset="-122"/>
                <a:ea typeface="黑体" panose="02010609060101010101" pitchFamily="49" charset="-122"/>
              </a:rPr>
              <a:t>列出开题阶段查阅的主要参考文献。</a:t>
            </a:r>
            <a:endParaRPr lang="zh-CN" altLang="en-US" sz="2000" dirty="0">
              <a:solidFill>
                <a:srgbClr val="FF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910385132"/>
      </p:ext>
    </p:extLst>
  </p:cSld>
  <p:clrMapOvr>
    <a:masterClrMapping/>
  </p:clrMapOvr>
</p:sld>
</file>

<file path=ppt/theme/theme1.xml><?xml version="1.0" encoding="utf-8"?>
<a:theme xmlns:a="http://schemas.openxmlformats.org/drawingml/2006/main" name="tops-seminar-wid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tops-seminar-wide" id="{E91D8D9C-60F0-4E7C-AD84-B783DDBF4347}" vid="{F4578D97-1C8E-4BC2-BCCF-DA84510A716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tops-seminar-wide_20190817_1900(1)</Template>
  <TotalTime>27463</TotalTime>
  <Words>1242</Words>
  <Application>Microsoft Office PowerPoint</Application>
  <PresentationFormat>自定义</PresentationFormat>
  <Paragraphs>159</Paragraphs>
  <Slides>10</Slides>
  <Notes>9</Notes>
  <HiddenSlides>0</HiddenSlides>
  <MMClips>0</MMClips>
  <ScaleCrop>false</ScaleCrop>
  <HeadingPairs>
    <vt:vector size="4" baseType="variant">
      <vt:variant>
        <vt:lpstr>主题</vt:lpstr>
      </vt:variant>
      <vt:variant>
        <vt:i4>1</vt:i4>
      </vt:variant>
      <vt:variant>
        <vt:lpstr>幻灯片标题</vt:lpstr>
      </vt:variant>
      <vt:variant>
        <vt:i4>10</vt:i4>
      </vt:variant>
    </vt:vector>
  </HeadingPairs>
  <TitlesOfParts>
    <vt:vector size="11" baseType="lpstr">
      <vt:lpstr>tops-seminar-wide</vt:lpstr>
      <vt:lpstr>考虑订单随机到达与取消的××策略研究</vt:lpstr>
      <vt:lpstr>汇报提纲</vt:lpstr>
      <vt:lpstr>课题背景</vt:lpstr>
      <vt:lpstr>研究内容</vt:lpstr>
      <vt:lpstr>研究内容</vt:lpstr>
      <vt:lpstr>文献调研</vt:lpstr>
      <vt:lpstr>实施方案</vt:lpstr>
      <vt:lpstr>实施方案</vt:lpstr>
      <vt:lpstr>进度计划</vt:lpstr>
      <vt:lpstr>参考文献</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jiaqi wang</dc:creator>
  <cp:lastModifiedBy>zhcl</cp:lastModifiedBy>
  <cp:revision>573</cp:revision>
  <dcterms:created xsi:type="dcterms:W3CDTF">2021-11-06T05:43:23Z</dcterms:created>
  <dcterms:modified xsi:type="dcterms:W3CDTF">2023-09-10T16:30:28Z</dcterms:modified>
</cp:coreProperties>
</file>