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07" r:id="rId3"/>
    <p:sldId id="320" r:id="rId4"/>
    <p:sldId id="317" r:id="rId5"/>
    <p:sldId id="321" r:id="rId6"/>
    <p:sldId id="322" r:id="rId7"/>
    <p:sldId id="2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873C4"/>
    <a:srgbClr val="C6D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8" autoAdjust="0"/>
    <p:restoredTop sz="82236" autoAdjust="0"/>
  </p:normalViewPr>
  <p:slideViewPr>
    <p:cSldViewPr snapToGrid="0">
      <p:cViewPr varScale="1">
        <p:scale>
          <a:sx n="91" d="100"/>
          <a:sy n="91" d="100"/>
        </p:scale>
        <p:origin x="92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09130-27B2-45F0-AA09-284A50887054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02B64-FC5E-4859-ACC5-5828DA2ED3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20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999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67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C63B-0141-FCCE-57CB-E2512191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3459B6-0546-8F2B-3FD4-9F9C7C9A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109AA5-8C85-DF41-9306-1A0F6CED9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3207ED-7129-C3BA-10F0-1A919D97B8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6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05EB-3AD9-EAD9-2D3A-76DFF01D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9265E4-D78A-24CA-693A-5D5C0F7A4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AC67B6-B087-3D58-E774-DB5686D9A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89BE20-47A0-E3F0-B501-223B8107B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200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17EAF-EA4B-D0E8-6C58-778DE02A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685575-3037-B86A-1560-27E11146F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EA34BE-EB24-6176-73E4-249AA3195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0E37E4-D1A4-695C-EE33-8C58CAB4C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832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3B1F-68BE-A01F-6118-95239133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CD5785-63AD-09FE-EFA3-8673B9A76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2D25A4-5772-BB56-96A9-8DEA323CD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0130A-C118-E89B-EB47-312EC2744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56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02B64-FC5E-4859-ACC5-5828DA2ED3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646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C:\Documents and Settings\user\My Documents\Downloads\lita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600" y="3358800"/>
            <a:ext cx="428625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1103445" y="2420888"/>
            <a:ext cx="10174155" cy="819944"/>
          </a:xfrm>
          <a:prstGeom prst="rect">
            <a:avLst/>
          </a:prstGeom>
        </p:spPr>
        <p:txBody>
          <a:bodyPr/>
          <a:lstStyle>
            <a:lvl1pPr algn="l">
              <a:defRPr baseline="0">
                <a:latin typeface="Arial" pitchFamily="34" charset="0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1102784" y="3888000"/>
            <a:ext cx="10174816" cy="1620000"/>
          </a:xfrm>
        </p:spPr>
        <p:txBody>
          <a:bodyPr/>
          <a:lstStyle>
            <a:lvl1pPr marL="0" indent="0">
              <a:buNone/>
              <a:defRPr sz="2400" baseline="0">
                <a:latin typeface="+mn-lt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7D6E2894-B7F1-49BB-BD99-EAE79193D3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91" y="5601392"/>
            <a:ext cx="1068916" cy="1073361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FCBF9182-9B1A-4110-8D2B-6491C830DB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3669" y="5845684"/>
            <a:ext cx="8161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en-US" sz="1800" b="0" dirty="0">
                <a:latin typeface="黑体" panose="02010609060101010101" pitchFamily="49" charset="-122"/>
                <a:ea typeface="黑体" panose="02010609060101010101" pitchFamily="49" charset="-122"/>
              </a:rPr>
              <a:t>工业工程系课程设计开题汇报</a:t>
            </a:r>
            <a:endParaRPr lang="en-US" altLang="zh-CN" sz="1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4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.节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19403" y="4581128"/>
            <a:ext cx="10668000" cy="819944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dirty="0">
              <a:ea typeface="黑体" pitchFamily="49" charset="-122"/>
            </a:endParaRPr>
          </a:p>
        </p:txBody>
      </p:sp>
      <p:pic>
        <p:nvPicPr>
          <p:cNvPr id="14" name="Picture 1" descr="D:\work\research\tops lab\design\TOpS_logo设计_060909_ws\TOpS_logo_color copy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200" y="260350"/>
            <a:ext cx="700088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296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5651" y="1143000"/>
            <a:ext cx="106680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 flipV="1">
            <a:off x="719400" y="982800"/>
            <a:ext cx="10742498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344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42304" y="1142999"/>
            <a:ext cx="51816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54161" y="1142999"/>
            <a:ext cx="51816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19399" y="982800"/>
            <a:ext cx="10753131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08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14400" y="1142999"/>
            <a:ext cx="6908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54161" y="1142999"/>
            <a:ext cx="3452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19400" y="982800"/>
            <a:ext cx="1075313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526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2.1.内容幻灯片_标题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970400" y="1142999"/>
            <a:ext cx="3452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54161" y="1142999"/>
            <a:ext cx="6908400" cy="51048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V="1">
            <a:off x="719400" y="982800"/>
            <a:ext cx="1075313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4335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2.内容幻灯片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188641"/>
            <a:ext cx="10668000" cy="7920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0"/>
          </p:nvPr>
        </p:nvSpPr>
        <p:spPr>
          <a:xfrm>
            <a:off x="814917" y="6400800"/>
            <a:ext cx="7719483" cy="268288"/>
          </a:xfrm>
          <a:prstGeom prst="rect">
            <a:avLst/>
          </a:prstGeom>
        </p:spPr>
        <p:txBody>
          <a:bodyPr tIns="0" bIns="0"/>
          <a:lstStyle>
            <a:lvl1pPr>
              <a:defRPr sz="1200" smtClean="0">
                <a:latin typeface="+mj-lt"/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400800"/>
            <a:ext cx="2641600" cy="268288"/>
          </a:xfrm>
          <a:prstGeom prst="rect">
            <a:avLst/>
          </a:prstGeom>
        </p:spPr>
        <p:txBody>
          <a:bodyPr tIns="0" bIns="0"/>
          <a:lstStyle>
            <a:lvl1pPr algn="r">
              <a:defRPr sz="1200" smtClean="0">
                <a:latin typeface="+mj-lt"/>
                <a:ea typeface="黑体" pitchFamily="2" charset="-122"/>
              </a:defRPr>
            </a:lvl1pPr>
          </a:lstStyle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719400" y="982800"/>
            <a:ext cx="10753130" cy="0"/>
          </a:xfrm>
          <a:prstGeom prst="line">
            <a:avLst/>
          </a:prstGeom>
          <a:noFill/>
          <a:ln w="31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12799" y="6053999"/>
            <a:ext cx="10566401" cy="270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aseline="0">
                <a:latin typeface="Arial" pitchFamily="34" charset="0"/>
              </a:defRPr>
            </a:lvl1pPr>
            <a:lvl2pPr>
              <a:defRPr baseline="0">
                <a:latin typeface="Arial" pitchFamily="34" charset="0"/>
              </a:defRPr>
            </a:lvl2pPr>
            <a:lvl3pPr>
              <a:defRPr baseline="0">
                <a:latin typeface="Arial" pitchFamily="34" charset="0"/>
              </a:defRPr>
            </a:lvl3pPr>
            <a:lvl4pPr>
              <a:defRPr baseline="0">
                <a:latin typeface="Arial" pitchFamily="34" charset="0"/>
              </a:defRPr>
            </a:lvl4pPr>
            <a:lvl5pPr>
              <a:defRPr baseline="0">
                <a:latin typeface="Arial" pitchFamily="34" charset="0"/>
              </a:defRPr>
            </a:lvl5pPr>
          </a:lstStyle>
          <a:p>
            <a:pPr lvl="0"/>
            <a:r>
              <a:rPr lang="en-US" altLang="zh-CN" sz="1200" dirty="0"/>
              <a:t>Source: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226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C3F80-311A-47BA-B653-0459FD9AE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780DFC-2C61-4B54-A868-8D6A69588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529DA3-4733-4A3D-AA91-BE5B8A1F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D2FFAE-82FE-4776-A9D2-0B707EF4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97A2A-3EA4-431F-AB50-803EDE19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05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524000"/>
            <a:ext cx="10668000" cy="449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4212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itchFamily="2" charset="2"/>
        <a:buChar char="o"/>
        <a:defRPr sz="2400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黑体" pitchFamily="2" charset="-122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itchFamily="2" charset="2"/>
        <a:buChar char="o"/>
        <a:defRPr sz="1800">
          <a:solidFill>
            <a:schemeClr val="tx1"/>
          </a:solidFill>
          <a:latin typeface="+mn-lt"/>
          <a:ea typeface="黑体" pitchFamily="2" charset="-122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Font typeface="Wingdings" pitchFamily="2" charset="2"/>
        <a:buChar char="n"/>
        <a:defRPr>
          <a:solidFill>
            <a:schemeClr val="tx1"/>
          </a:solidFill>
          <a:latin typeface="+mn-lt"/>
          <a:ea typeface="黑体" pitchFamily="2" charset="-122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7030A0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黑体" pitchFamily="2" charset="-122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9291E72-1217-4052-A41B-B4F6FC50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658" y="1530387"/>
            <a:ext cx="9826473" cy="1467112"/>
          </a:xfrm>
        </p:spPr>
        <p:txBody>
          <a:bodyPr/>
          <a:lstStyle/>
          <a:p>
            <a:pPr algn="ctr"/>
            <a:r>
              <a:rPr lang="zh-CN" altLang="en-US" sz="3200" dirty="0"/>
              <a:t>考虑订单随机到达与取消的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××</a:t>
            </a:r>
            <a:r>
              <a:rPr lang="zh-CN" altLang="en-US" sz="3200" dirty="0"/>
              <a:t>策略研究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8FBD4F-E805-453A-B186-60B2BD3EEC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14359" y="3147237"/>
            <a:ext cx="10174816" cy="1951545"/>
          </a:xfrm>
        </p:spPr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组：</a:t>
            </a:r>
            <a:r>
              <a:rPr lang="en-US" altLang="zh-CN" dirty="0">
                <a:latin typeface="Times New Roman" panose="02020603050405020304" pitchFamily="18" charset="0"/>
              </a:rPr>
              <a:t>×××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×××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×××</a:t>
            </a:r>
          </a:p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指导老师：</a:t>
            </a:r>
            <a:r>
              <a:rPr lang="en-US" altLang="zh-CN" dirty="0">
                <a:latin typeface="Times New Roman" panose="02020603050405020304" pitchFamily="18" charset="0"/>
              </a:rPr>
              <a:t> ×× ×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</a:rPr>
              <a:t>2025</a:t>
            </a:r>
            <a:r>
              <a:rPr lang="zh-CN" altLang="en-US" dirty="0">
                <a:latin typeface="Times New Roman" panose="02020603050405020304" pitchFamily="18" charset="0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月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日 第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zh-CN" altLang="en-US" dirty="0">
                <a:latin typeface="Times New Roman" panose="02020603050405020304" pitchFamily="18" charset="0"/>
              </a:rPr>
              <a:t>周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90247" y="829354"/>
            <a:ext cx="685315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首页应包含：所选题目、小组及成员、指导老师、汇报日期</a:t>
            </a:r>
            <a:endParaRPr lang="en-US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版式及风格不限，可根据各小组喜好自由选择</a:t>
            </a:r>
            <a:endParaRPr lang="en-US" altLang="zh-CN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928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D8FAE6F-E455-4B65-ABC2-66CF23A1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392ACB-BE31-44E4-9A27-BDE7EE1537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CB583BD-800D-4F95-5AA1-693AA916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、上周工作回顾（</a:t>
            </a:r>
            <a:r>
              <a:rPr lang="en-US" altLang="zh-CN" dirty="0"/>
              <a:t>1</a:t>
            </a:r>
            <a:r>
              <a:rPr lang="zh-CN" altLang="en-US" dirty="0"/>
              <a:t>页）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、本周工作介绍（进展、难点、进度分析等）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、下周工作安排（</a:t>
            </a:r>
            <a:r>
              <a:rPr lang="en-US" altLang="zh-CN" dirty="0"/>
              <a:t>1</a:t>
            </a:r>
            <a:r>
              <a:rPr lang="zh-CN" altLang="en-US" dirty="0"/>
              <a:t>页）</a:t>
            </a:r>
          </a:p>
        </p:txBody>
      </p:sp>
    </p:spTree>
    <p:extLst>
      <p:ext uri="{BB962C8B-B14F-4D97-AF65-F5344CB8AC3E}">
        <p14:creationId xmlns:p14="http://schemas.microsoft.com/office/powerpoint/2010/main" val="21513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6338-3122-E942-692F-D1B6353C3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BBFC98E-0198-9EC5-301D-FD662067C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上周工作回顾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610523-645F-6BA5-5C6B-F07CFDC49A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3</a:t>
            </a:fld>
            <a:endParaRPr lang="zh-CN" altLang="en-US"/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027D5451-5B4B-EF9C-E6CF-30A135150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437285"/>
              </p:ext>
            </p:extLst>
          </p:nvPr>
        </p:nvGraphicFramePr>
        <p:xfrm>
          <a:off x="1953615" y="1316533"/>
          <a:ext cx="8284769" cy="4505740"/>
        </p:xfrm>
        <a:graphic>
          <a:graphicData uri="http://schemas.openxmlformats.org/drawingml/2006/table">
            <a:tbl>
              <a:tblPr firstRow="1" firstCol="1" bandRow="1"/>
              <a:tblGrid>
                <a:gridCol w="1346302">
                  <a:extLst>
                    <a:ext uri="{9D8B030D-6E8A-4147-A177-3AD203B41FA5}">
                      <a16:colId xmlns:a16="http://schemas.microsoft.com/office/drawing/2014/main" val="2518394112"/>
                    </a:ext>
                  </a:extLst>
                </a:gridCol>
                <a:gridCol w="6938467">
                  <a:extLst>
                    <a:ext uri="{9D8B030D-6E8A-4147-A177-3AD203B41FA5}">
                      <a16:colId xmlns:a16="http://schemas.microsoft.com/office/drawing/2014/main" val="3224554863"/>
                    </a:ext>
                  </a:extLst>
                </a:gridCol>
              </a:tblGrid>
              <a:tr h="7509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上周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工作内容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130192"/>
                  </a:ext>
                </a:extLst>
              </a:tr>
              <a:tr h="150191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张三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）通过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OCBA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对参数进行优化并进行数据分析；</a:t>
                      </a: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）在已知订单数据下，利用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gurobi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对单期问题进行优化；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719740"/>
                  </a:ext>
                </a:extLst>
              </a:tr>
              <a:tr h="150191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李四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）敏感度分析：延迟下发成本敏感性分析；</a:t>
                      </a: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232448"/>
                  </a:ext>
                </a:extLst>
              </a:tr>
              <a:tr h="7509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24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84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EB4B-B2DD-A7E4-A754-FD329252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129B4-9A00-3E6E-AF0E-8B0F1D5F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本周工作介绍</a:t>
            </a:r>
            <a:r>
              <a:rPr lang="en-US" altLang="zh-CN" dirty="0"/>
              <a:t> — </a:t>
            </a:r>
            <a:r>
              <a:rPr lang="zh-CN" altLang="en-US" dirty="0"/>
              <a:t>进展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6CA18D8-482F-28E0-7BE7-8445CB0962E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02303" y="1215859"/>
            <a:ext cx="10948962" cy="5078615"/>
          </a:xfrm>
        </p:spPr>
        <p:txBody>
          <a:bodyPr/>
          <a:lstStyle/>
          <a:p>
            <a:r>
              <a:rPr lang="zh-CN" altLang="zh-CN" dirty="0"/>
              <a:t>通过</a:t>
            </a:r>
            <a:r>
              <a:rPr lang="en-US" altLang="zh-CN" dirty="0"/>
              <a:t>OCBA</a:t>
            </a:r>
            <a:r>
              <a:rPr lang="zh-CN" altLang="zh-CN" dirty="0"/>
              <a:t>对参数进行优化并进行数据分析</a:t>
            </a:r>
            <a:endParaRPr lang="en-US" altLang="zh-CN" dirty="0"/>
          </a:p>
          <a:p>
            <a:pPr lvl="1"/>
            <a:r>
              <a:rPr lang="zh-CN" altLang="zh-CN" dirty="0"/>
              <a:t>在成本函数近似中，引入了二维数组</a:t>
            </a:r>
            <a:r>
              <a:rPr lang="en-US" altLang="zh-CN" dirty="0"/>
              <a:t>𝜃 = (𝜃1, 𝜃2)</a:t>
            </a:r>
            <a:r>
              <a:rPr lang="zh-CN" altLang="zh-CN" dirty="0"/>
              <a:t>，分别限制等待时间过长和取消订单的概率。为了寻找最优参数，使用最优计算量分配法（</a:t>
            </a:r>
            <a:r>
              <a:rPr lang="en-US" altLang="zh-CN" dirty="0"/>
              <a:t>OCBA</a:t>
            </a:r>
            <a:r>
              <a:rPr lang="zh-CN" altLang="zh-CN" dirty="0"/>
              <a:t>）进行仿真次数分配。在最优计算量分配法（</a:t>
            </a:r>
            <a:r>
              <a:rPr lang="en-US" altLang="zh-CN" dirty="0"/>
              <a:t>OCBA</a:t>
            </a:r>
            <a:r>
              <a:rPr lang="zh-CN" altLang="zh-CN" dirty="0"/>
              <a:t>）中，正确选择最优参数的概率为</a:t>
            </a:r>
            <a:r>
              <a:rPr lang="en-US" altLang="zh-CN" dirty="0"/>
              <a:t>𝑃 {𝐶 𝑆}</a:t>
            </a:r>
            <a:r>
              <a:rPr lang="zh-CN" altLang="zh-CN" dirty="0"/>
              <a:t>。有两种方式，第一种是</a:t>
            </a:r>
            <a:r>
              <a:rPr lang="en-US" altLang="zh-CN" dirty="0"/>
              <a:t>…</a:t>
            </a:r>
            <a:r>
              <a:rPr lang="zh-CN" altLang="zh-CN" dirty="0"/>
              <a:t>，最大化</a:t>
            </a:r>
            <a:r>
              <a:rPr lang="en-US" altLang="zh-CN" dirty="0"/>
              <a:t>𝑃 {𝐶 𝑆}</a:t>
            </a:r>
            <a:r>
              <a:rPr lang="zh-CN" altLang="zh-CN" dirty="0"/>
              <a:t>；第二种</a:t>
            </a:r>
            <a:r>
              <a:rPr lang="en-US" altLang="zh-CN" dirty="0"/>
              <a:t>…</a:t>
            </a:r>
            <a:r>
              <a:rPr lang="zh-CN" altLang="zh-CN" dirty="0"/>
              <a:t>。</a:t>
            </a:r>
          </a:p>
          <a:p>
            <a:pPr lvl="1"/>
            <a:r>
              <a:rPr lang="zh-CN" altLang="zh-CN" dirty="0"/>
              <a:t>在最优计算量分配法中，使用履约周期内的成本之和作为单次仿真的成本。根据排序分配仿真次数，通过仿真次数的最大值进行仿真。算法伪代码如下：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B18BF-CF71-FA43-E899-1C00401EC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B2833-200E-CF01-BF01-9937B9408645}"/>
              </a:ext>
            </a:extLst>
          </p:cNvPr>
          <p:cNvSpPr txBox="1"/>
          <p:nvPr/>
        </p:nvSpPr>
        <p:spPr>
          <a:xfrm>
            <a:off x="8371916" y="1137711"/>
            <a:ext cx="29992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详细描述工作内容和成果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F0EB3A-0BA1-72D1-F7A2-A2EAF48178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4" r="-48"/>
          <a:stretch/>
        </p:blipFill>
        <p:spPr bwMode="auto">
          <a:xfrm>
            <a:off x="3899897" y="3531704"/>
            <a:ext cx="4153774" cy="28690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227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3D38-48DC-B073-EEBC-2C40AB58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0455C-0DE3-486B-F0EE-F8E27404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本周工作介绍</a:t>
            </a:r>
            <a:r>
              <a:rPr lang="en-US" altLang="zh-CN" dirty="0"/>
              <a:t> — </a:t>
            </a:r>
            <a:r>
              <a:rPr lang="zh-CN" altLang="en-US" dirty="0"/>
              <a:t>难点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381FE-EB9F-DAF0-7953-991C0A7D5E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00A9D-6B8C-CD39-6242-45ACDE3FB958}"/>
              </a:ext>
            </a:extLst>
          </p:cNvPr>
          <p:cNvSpPr txBox="1"/>
          <p:nvPr/>
        </p:nvSpPr>
        <p:spPr>
          <a:xfrm>
            <a:off x="8371916" y="1137711"/>
            <a:ext cx="2495781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当前工作遇到的困难</a:t>
            </a:r>
          </a:p>
        </p:txBody>
      </p:sp>
      <p:sp>
        <p:nvSpPr>
          <p:cNvPr id="6" name="内容占位符 6">
            <a:extLst>
              <a:ext uri="{FF2B5EF4-FFF2-40B4-BE49-F238E27FC236}">
                <a16:creationId xmlns:a16="http://schemas.microsoft.com/office/drawing/2014/main" id="{5EF4A3AE-FE07-AEC1-229F-BC49D126737B}"/>
              </a:ext>
            </a:extLst>
          </p:cNvPr>
          <p:cNvSpPr txBox="1">
            <a:spLocks/>
          </p:cNvSpPr>
          <p:nvPr/>
        </p:nvSpPr>
        <p:spPr bwMode="auto">
          <a:xfrm>
            <a:off x="502303" y="1215859"/>
            <a:ext cx="10948962" cy="507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o"/>
              <a:defRPr sz="2400" baseline="0">
                <a:solidFill>
                  <a:schemeClr val="tx1"/>
                </a:solidFill>
                <a:latin typeface="Arial" pitchFamily="34" charset="0"/>
                <a:ea typeface="黑体" pitchFamily="2" charset="-122"/>
                <a:cs typeface="+mn-cs"/>
              </a:defRPr>
            </a:lvl1pPr>
            <a:lvl2pPr marL="908050" indent="-436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n"/>
              <a:defRPr sz="2000" baseline="0">
                <a:solidFill>
                  <a:schemeClr val="tx1"/>
                </a:solidFill>
                <a:latin typeface="Arial" pitchFamily="34" charset="0"/>
                <a:ea typeface="黑体" pitchFamily="2" charset="-122"/>
              </a:defRPr>
            </a:lvl2pPr>
            <a:lvl3pPr marL="1304925" indent="-3952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o"/>
              <a:defRPr sz="1800" baseline="0">
                <a:solidFill>
                  <a:schemeClr val="tx1"/>
                </a:solidFill>
                <a:latin typeface="Arial" pitchFamily="34" charset="0"/>
                <a:ea typeface="黑体" pitchFamily="2" charset="-122"/>
              </a:defRPr>
            </a:lvl3pPr>
            <a:lvl4pPr marL="1693863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n"/>
              <a:defRPr baseline="0">
                <a:solidFill>
                  <a:schemeClr val="tx1"/>
                </a:solidFill>
                <a:latin typeface="Arial" pitchFamily="34" charset="0"/>
                <a:ea typeface="黑体" pitchFamily="2" charset="-122"/>
              </a:defRPr>
            </a:lvl4pPr>
            <a:lvl5pPr marL="20939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7030A0"/>
              </a:buClr>
              <a:buFont typeface="Wingdings" pitchFamily="2" charset="2"/>
              <a:buChar char="§"/>
              <a:defRPr baseline="0">
                <a:solidFill>
                  <a:schemeClr val="tx1"/>
                </a:solidFill>
                <a:latin typeface="Arial" pitchFamily="34" charset="0"/>
                <a:ea typeface="黑体" pitchFamily="2" charset="-122"/>
              </a:defRPr>
            </a:lvl5pPr>
            <a:lvl6pPr marL="25511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数据清洗、模型构建、算法设计与实现等遇到的困难</a:t>
            </a:r>
            <a:r>
              <a:rPr lang="en-US" altLang="zh-CN" kern="0" dirty="0"/>
              <a:t>…</a:t>
            </a:r>
            <a:endParaRPr lang="zh-CN" altLang="zh-CN" kern="0" dirty="0"/>
          </a:p>
        </p:txBody>
      </p:sp>
    </p:spTree>
    <p:extLst>
      <p:ext uri="{BB962C8B-B14F-4D97-AF65-F5344CB8AC3E}">
        <p14:creationId xmlns:p14="http://schemas.microsoft.com/office/powerpoint/2010/main" val="218028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D05C-EA96-A142-9F08-4769A119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04864-3E3A-1CBF-3675-D330A75F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本周工作介绍</a:t>
            </a:r>
            <a:r>
              <a:rPr lang="en-US" altLang="zh-CN" dirty="0"/>
              <a:t> — </a:t>
            </a:r>
            <a:r>
              <a:rPr lang="zh-CN" altLang="en-US" dirty="0"/>
              <a:t>进度分析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89B29D-6688-0C8D-B02E-EFEEE208F2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8C4C17-66F6-CD35-876B-0FA916619F06}"/>
              </a:ext>
            </a:extLst>
          </p:cNvPr>
          <p:cNvSpPr txBox="1"/>
          <p:nvPr/>
        </p:nvSpPr>
        <p:spPr>
          <a:xfrm>
            <a:off x="9598123" y="748521"/>
            <a:ext cx="178107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工作进度分析</a:t>
            </a:r>
          </a:p>
        </p:txBody>
      </p:sp>
      <p:graphicFrame>
        <p:nvGraphicFramePr>
          <p:cNvPr id="3" name="内容占位符 8">
            <a:extLst>
              <a:ext uri="{FF2B5EF4-FFF2-40B4-BE49-F238E27FC236}">
                <a16:creationId xmlns:a16="http://schemas.microsoft.com/office/drawing/2014/main" id="{33946F35-C4A3-E51C-05A3-C18FCFDBBC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027891"/>
              </p:ext>
            </p:extLst>
          </p:nvPr>
        </p:nvGraphicFramePr>
        <p:xfrm>
          <a:off x="441436" y="1274493"/>
          <a:ext cx="10835897" cy="4505740"/>
        </p:xfrm>
        <a:graphic>
          <a:graphicData uri="http://schemas.openxmlformats.org/drawingml/2006/table">
            <a:tbl>
              <a:tblPr firstRow="1" firstCol="1" bandRow="1"/>
              <a:tblGrid>
                <a:gridCol w="7122160">
                  <a:extLst>
                    <a:ext uri="{9D8B030D-6E8A-4147-A177-3AD203B41FA5}">
                      <a16:colId xmlns:a16="http://schemas.microsoft.com/office/drawing/2014/main" val="2518394112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3224554863"/>
                    </a:ext>
                  </a:extLst>
                </a:gridCol>
                <a:gridCol w="1798577">
                  <a:extLst>
                    <a:ext uri="{9D8B030D-6E8A-4147-A177-3AD203B41FA5}">
                      <a16:colId xmlns:a16="http://schemas.microsoft.com/office/drawing/2014/main" val="4289712231"/>
                    </a:ext>
                  </a:extLst>
                </a:gridCol>
              </a:tblGrid>
              <a:tr h="7509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工作内容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计划完成时间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是否已完成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130192"/>
                  </a:ext>
                </a:extLst>
              </a:tr>
              <a:tr h="150191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）通过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OCBA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对参数进行优化并进行数据分析；</a:t>
                      </a: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）在已知订单数据下，利用</a:t>
                      </a:r>
                      <a:r>
                        <a:rPr lang="en-US" sz="2000" kern="100" dirty="0" err="1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gurobi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对单期问题进行优化；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2025.10.8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是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719740"/>
                  </a:ext>
                </a:extLst>
              </a:tr>
              <a:tr h="150191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）敏感度分析：延迟下发成本敏感性分析；</a:t>
                      </a: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2025.11.6</a:t>
                      </a:r>
                      <a:endParaRPr lang="zh-CN" alt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部分完成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232448"/>
                  </a:ext>
                </a:extLst>
              </a:tr>
              <a:tr h="7509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24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76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FB89285-1071-432D-9845-1C0438AB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下周工作安排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7102310-2ED5-4FBA-827D-B7F6BD43569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EFEDD-634F-4F6D-A529-A28AC85AF8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7D2133-84E4-4D49-B786-7B5C0B54D116}" type="slidenum">
              <a:rPr lang="zh-CN" altLang="en-US" smtClean="0"/>
              <a:t>7</a:t>
            </a:fld>
            <a:endParaRPr lang="zh-CN" altLang="en-US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C69E46C3-EECB-9C99-D112-9E610402E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7255613"/>
              </p:ext>
            </p:extLst>
          </p:nvPr>
        </p:nvGraphicFramePr>
        <p:xfrm>
          <a:off x="990599" y="1984920"/>
          <a:ext cx="10210800" cy="3286132"/>
        </p:xfrm>
        <a:graphic>
          <a:graphicData uri="http://schemas.openxmlformats.org/drawingml/2006/table">
            <a:tbl>
              <a:tblPr firstRow="1" firstCol="1" bandRow="1"/>
              <a:tblGrid>
                <a:gridCol w="1458673">
                  <a:extLst>
                    <a:ext uri="{9D8B030D-6E8A-4147-A177-3AD203B41FA5}">
                      <a16:colId xmlns:a16="http://schemas.microsoft.com/office/drawing/2014/main" val="3120104586"/>
                    </a:ext>
                  </a:extLst>
                </a:gridCol>
                <a:gridCol w="8752127">
                  <a:extLst>
                    <a:ext uri="{9D8B030D-6E8A-4147-A177-3AD203B41FA5}">
                      <a16:colId xmlns:a16="http://schemas.microsoft.com/office/drawing/2014/main" val="1713122193"/>
                    </a:ext>
                  </a:extLst>
                </a:gridCol>
              </a:tblGrid>
              <a:tr h="365126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下阶段工作内容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432073"/>
                  </a:ext>
                </a:extLst>
              </a:tr>
              <a:tr h="109537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张三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）使用其他参数优化方式，如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）完成××算法设计，设计算例，编写代码，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）处理数据，构建算例，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409189"/>
                  </a:ext>
                </a:extLst>
              </a:tr>
              <a:tr h="146050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李四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）使用其他参数优化方式，如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）完成××算法设计，设计算例，编写代码，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）处理数据，构建算例，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）继续写论文的××部分，</a:t>
                      </a: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18510"/>
                  </a:ext>
                </a:extLst>
              </a:tr>
              <a:tr h="365126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511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509820"/>
      </p:ext>
    </p:extLst>
  </p:cSld>
  <p:clrMapOvr>
    <a:masterClrMapping/>
  </p:clrMapOvr>
</p:sld>
</file>

<file path=ppt/theme/theme1.xml><?xml version="1.0" encoding="utf-8"?>
<a:theme xmlns:a="http://schemas.openxmlformats.org/drawingml/2006/main" name="tops-seminar-wid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ops-seminar-wide" id="{E91D8D9C-60F0-4E7C-AD84-B783DDBF4347}" vid="{F4578D97-1C8E-4BC2-BCCF-DA84510A716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tops-seminar-wide_20190817_1900(1)</Template>
  <TotalTime>27494</TotalTime>
  <Words>526</Words>
  <Application>Microsoft Office PowerPoint</Application>
  <PresentationFormat>宽屏</PresentationFormat>
  <Paragraphs>70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黑体</vt:lpstr>
      <vt:lpstr>宋体</vt:lpstr>
      <vt:lpstr>Arial</vt:lpstr>
      <vt:lpstr>Times New Roman</vt:lpstr>
      <vt:lpstr>Wingdings</vt:lpstr>
      <vt:lpstr>tops-seminar-wide</vt:lpstr>
      <vt:lpstr>考虑订单随机到达与取消的××策略研究</vt:lpstr>
      <vt:lpstr>目录</vt:lpstr>
      <vt:lpstr>上周工作回顾</vt:lpstr>
      <vt:lpstr>本周工作介绍 — 进展</vt:lpstr>
      <vt:lpstr>本周工作介绍 — 难点</vt:lpstr>
      <vt:lpstr>本周工作介绍 — 进度分析</vt:lpstr>
      <vt:lpstr>下周工作安排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jiaqi wang</dc:creator>
  <cp:lastModifiedBy>Jiaze Tang</cp:lastModifiedBy>
  <cp:revision>579</cp:revision>
  <dcterms:created xsi:type="dcterms:W3CDTF">2021-11-06T05:43:23Z</dcterms:created>
  <dcterms:modified xsi:type="dcterms:W3CDTF">2025-09-17T07:01:41Z</dcterms:modified>
</cp:coreProperties>
</file>